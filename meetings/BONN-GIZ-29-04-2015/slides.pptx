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  <p:sldMasterId id="2147483674" r:id="rId3"/>
  </p:sldMasterIdLst>
  <p:notesMasterIdLst>
    <p:notesMasterId r:id="rId22"/>
  </p:notesMasterIdLst>
  <p:sldIdLst>
    <p:sldId id="256" r:id="rId4"/>
    <p:sldId id="478" r:id="rId5"/>
    <p:sldId id="586" r:id="rId6"/>
    <p:sldId id="441" r:id="rId7"/>
    <p:sldId id="522" r:id="rId8"/>
    <p:sldId id="525" r:id="rId9"/>
    <p:sldId id="581" r:id="rId10"/>
    <p:sldId id="582" r:id="rId11"/>
    <p:sldId id="515" r:id="rId12"/>
    <p:sldId id="577" r:id="rId13"/>
    <p:sldId id="598" r:id="rId14"/>
    <p:sldId id="608" r:id="rId15"/>
    <p:sldId id="600" r:id="rId16"/>
    <p:sldId id="609" r:id="rId17"/>
    <p:sldId id="607" r:id="rId18"/>
    <p:sldId id="611" r:id="rId19"/>
    <p:sldId id="318" r:id="rId20"/>
    <p:sldId id="584" r:id="rId21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1E1E"/>
    <a:srgbClr val="F2F0EE"/>
    <a:srgbClr val="DE8942"/>
    <a:srgbClr val="92501A"/>
    <a:srgbClr val="AA5D1E"/>
    <a:srgbClr val="E5E6E4"/>
    <a:srgbClr val="33CC33"/>
    <a:srgbClr val="008000"/>
    <a:srgbClr val="99FF99"/>
    <a:srgbClr val="7F7F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255" autoAdjust="0"/>
    <p:restoredTop sz="94660"/>
  </p:normalViewPr>
  <p:slideViewPr>
    <p:cSldViewPr snapToGrid="0">
      <p:cViewPr varScale="1">
        <p:scale>
          <a:sx n="210" d="100"/>
          <a:sy n="210" d="100"/>
        </p:scale>
        <p:origin x="64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presProps" Target="pres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US" sz="20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Click to edit the notes format</a:t>
            </a:r>
          </a:p>
        </p:txBody>
      </p:sp>
      <p:sp>
        <p:nvSpPr>
          <p:cNvPr id="118" name="PlaceHolder 2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en-US" sz="1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&lt;header&gt;</a:t>
            </a:r>
          </a:p>
        </p:txBody>
      </p:sp>
      <p:sp>
        <p:nvSpPr>
          <p:cNvPr id="119" name="PlaceHolder 3"/>
          <p:cNvSpPr>
            <a:spLocks noGrp="1"/>
          </p:cNvSpPr>
          <p:nvPr>
            <p:ph type="dt"/>
          </p:nvPr>
        </p:nvSpPr>
        <p:spPr>
          <a:xfrm>
            <a:off x="4399200" y="0"/>
            <a:ext cx="3372840" cy="502560"/>
          </a:xfrm>
          <a:prstGeom prst="rect">
            <a:avLst/>
          </a:prstGeom>
        </p:spPr>
        <p:txBody>
          <a:bodyPr lIns="0" tIns="0" rIns="0" bIns="0"/>
          <a:lstStyle/>
          <a:p>
            <a:pPr algn="r"/>
            <a:r>
              <a:rPr lang="en-US" sz="1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&lt;date/time&gt;</a:t>
            </a:r>
          </a:p>
        </p:txBody>
      </p:sp>
      <p:sp>
        <p:nvSpPr>
          <p:cNvPr id="120" name="PlaceHolder 4"/>
          <p:cNvSpPr>
            <a:spLocks noGrp="1"/>
          </p:cNvSpPr>
          <p:nvPr>
            <p:ph type="ftr"/>
          </p:nvPr>
        </p:nvSpPr>
        <p:spPr>
          <a:xfrm>
            <a:off x="0" y="9555480"/>
            <a:ext cx="3372840" cy="502560"/>
          </a:xfrm>
          <a:prstGeom prst="rect">
            <a:avLst/>
          </a:prstGeom>
        </p:spPr>
        <p:txBody>
          <a:bodyPr lIns="0" tIns="0" rIns="0" bIns="0" anchor="b"/>
          <a:lstStyle/>
          <a:p>
            <a:r>
              <a:rPr lang="en-US" sz="1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&lt;footer&gt;</a:t>
            </a:r>
          </a:p>
        </p:txBody>
      </p:sp>
      <p:sp>
        <p:nvSpPr>
          <p:cNvPr id="121" name="PlaceHolder 5"/>
          <p:cNvSpPr>
            <a:spLocks noGrp="1"/>
          </p:cNvSpPr>
          <p:nvPr>
            <p:ph type="sldNum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</p:spPr>
        <p:txBody>
          <a:bodyPr lIns="0" tIns="0" rIns="0" bIns="0" anchor="b"/>
          <a:lstStyle/>
          <a:p>
            <a:pPr algn="r"/>
            <a:fld id="{F08D1666-8CA5-49D1-A8F6-7CDDBF498F8E}" type="slidenum">
              <a:rPr lang="en-US" sz="1400" b="0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Times New Roman"/>
              </a:rPr>
              <a:t>‹#›</a:t>
            </a:fld>
            <a:endParaRPr lang="en-US" sz="1400" b="0" strike="noStrike" spc="-1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- not all remaining habitat can be preserved</a:t>
            </a:r>
          </a:p>
          <a:p>
            <a:r>
              <a:rPr lang="en-AU" dirty="0"/>
              <a:t>- achieve conservation objectives for minimal cost</a:t>
            </a:r>
          </a:p>
          <a:p>
            <a:r>
              <a:rPr lang="en-AU" dirty="0"/>
              <a:t>- modern systematic conservation planning primarily focusses on representing species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 however, this ignores intra-specific biodiversity</a:t>
            </a:r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7B435CA-C371-4DED-9C4C-6273828C0F3B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010920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- not all remaining habitat can be preserved</a:t>
            </a:r>
          </a:p>
          <a:p>
            <a:r>
              <a:rPr lang="en-AU" dirty="0"/>
              <a:t>- achieve conservation objectives for minimal cost</a:t>
            </a:r>
          </a:p>
          <a:p>
            <a:r>
              <a:rPr lang="en-AU" dirty="0"/>
              <a:t>- modern systematic conservation planning primarily focusses on representing species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 however, this ignores intra-specific biodiversity</a:t>
            </a:r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7B435CA-C371-4DED-9C4C-6273828C0F3B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293205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- not all remaining habitat can be preserved</a:t>
            </a:r>
          </a:p>
          <a:p>
            <a:r>
              <a:rPr lang="en-AU" dirty="0"/>
              <a:t>- achieve conservation objectives for minimal cost</a:t>
            </a:r>
          </a:p>
          <a:p>
            <a:r>
              <a:rPr lang="en-AU" dirty="0"/>
              <a:t>- modern systematic conservation planning primarily focusses on representing species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AU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- however, this ignores intra-specific biodiversity</a:t>
            </a:r>
          </a:p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7B435CA-C371-4DED-9C4C-6273828C0F3B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A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155004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32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457200" y="1200240"/>
            <a:ext cx="4015800" cy="339408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4674240" y="1200240"/>
            <a:ext cx="4015800" cy="339408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457200" y="205920"/>
            <a:ext cx="8229240" cy="39729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32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457200" y="1200240"/>
            <a:ext cx="4015800" cy="161892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457200" y="2973240"/>
            <a:ext cx="4015800" cy="161892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4674240" y="1200240"/>
            <a:ext cx="4015800" cy="339408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457200" y="1200240"/>
            <a:ext cx="4015800" cy="339408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4674240" y="1200240"/>
            <a:ext cx="4015800" cy="161892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4674240" y="2973240"/>
            <a:ext cx="4015800" cy="161892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200240"/>
            <a:ext cx="4015800" cy="161892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4674240" y="1200240"/>
            <a:ext cx="4015800" cy="161892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457200" y="2973240"/>
            <a:ext cx="8229240" cy="161892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200240"/>
            <a:ext cx="8229240" cy="161892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57200" y="2973240"/>
            <a:ext cx="8229240" cy="161892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200240"/>
            <a:ext cx="4015800" cy="161892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200240"/>
            <a:ext cx="4015800" cy="161892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674240" y="2973240"/>
            <a:ext cx="4015800" cy="161892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457200" y="2973240"/>
            <a:ext cx="4015800" cy="161892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pic>
        <p:nvPicPr>
          <p:cNvPr id="37" name="Picture 36"/>
          <p:cNvPicPr/>
          <p:nvPr/>
        </p:nvPicPr>
        <p:blipFill>
          <a:blip r:embed="rId2"/>
          <a:stretch/>
        </p:blipFill>
        <p:spPr>
          <a:xfrm>
            <a:off x="2443680" y="1200240"/>
            <a:ext cx="4255920" cy="3394080"/>
          </a:xfrm>
          <a:prstGeom prst="rect">
            <a:avLst/>
          </a:prstGeom>
          <a:ln>
            <a:noFill/>
          </a:ln>
        </p:spPr>
      </p:pic>
      <p:pic>
        <p:nvPicPr>
          <p:cNvPr id="38" name="Picture 37"/>
          <p:cNvPicPr/>
          <p:nvPr/>
        </p:nvPicPr>
        <p:blipFill>
          <a:blip r:embed="rId2"/>
          <a:stretch/>
        </p:blipFill>
        <p:spPr>
          <a:xfrm>
            <a:off x="2443680" y="1200240"/>
            <a:ext cx="4255920" cy="339408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85619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subTitle"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32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457200" y="1200240"/>
            <a:ext cx="4015800" cy="339408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4674240" y="1200240"/>
            <a:ext cx="4015800" cy="339408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subTitle"/>
          </p:nvPr>
        </p:nvSpPr>
        <p:spPr>
          <a:xfrm>
            <a:off x="457200" y="205920"/>
            <a:ext cx="8229240" cy="39729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32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457200" y="1200240"/>
            <a:ext cx="4015800" cy="161892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457200" y="2973240"/>
            <a:ext cx="4015800" cy="161892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body"/>
          </p:nvPr>
        </p:nvSpPr>
        <p:spPr>
          <a:xfrm>
            <a:off x="4674240" y="1200240"/>
            <a:ext cx="4015800" cy="339408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457200" y="1200240"/>
            <a:ext cx="4015800" cy="339408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4674240" y="1200240"/>
            <a:ext cx="4015800" cy="161892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body"/>
          </p:nvPr>
        </p:nvSpPr>
        <p:spPr>
          <a:xfrm>
            <a:off x="4674240" y="2973240"/>
            <a:ext cx="4015800" cy="161892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457200" y="1200240"/>
            <a:ext cx="4015800" cy="161892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4674240" y="1200240"/>
            <a:ext cx="4015800" cy="161892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body"/>
          </p:nvPr>
        </p:nvSpPr>
        <p:spPr>
          <a:xfrm>
            <a:off x="457200" y="2973240"/>
            <a:ext cx="8229240" cy="161892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 type="body"/>
          </p:nvPr>
        </p:nvSpPr>
        <p:spPr>
          <a:xfrm>
            <a:off x="457200" y="1200240"/>
            <a:ext cx="8229240" cy="161892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67" name="PlaceHolder 3"/>
          <p:cNvSpPr>
            <a:spLocks noGrp="1"/>
          </p:cNvSpPr>
          <p:nvPr>
            <p:ph type="body"/>
          </p:nvPr>
        </p:nvSpPr>
        <p:spPr>
          <a:xfrm>
            <a:off x="457200" y="2973240"/>
            <a:ext cx="8229240" cy="161892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 type="body"/>
          </p:nvPr>
        </p:nvSpPr>
        <p:spPr>
          <a:xfrm>
            <a:off x="457200" y="1200240"/>
            <a:ext cx="4015800" cy="161892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 type="body"/>
          </p:nvPr>
        </p:nvSpPr>
        <p:spPr>
          <a:xfrm>
            <a:off x="4674240" y="1200240"/>
            <a:ext cx="4015800" cy="161892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71" name="PlaceHolder 4"/>
          <p:cNvSpPr>
            <a:spLocks noGrp="1"/>
          </p:cNvSpPr>
          <p:nvPr>
            <p:ph type="body"/>
          </p:nvPr>
        </p:nvSpPr>
        <p:spPr>
          <a:xfrm>
            <a:off x="4674240" y="2973240"/>
            <a:ext cx="4015800" cy="161892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72" name="PlaceHolder 5"/>
          <p:cNvSpPr>
            <a:spLocks noGrp="1"/>
          </p:cNvSpPr>
          <p:nvPr>
            <p:ph type="body"/>
          </p:nvPr>
        </p:nvSpPr>
        <p:spPr>
          <a:xfrm>
            <a:off x="457200" y="2973240"/>
            <a:ext cx="4015800" cy="161892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en-US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 type="body"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75" name="PlaceHolder 3"/>
          <p:cNvSpPr>
            <a:spLocks noGrp="1"/>
          </p:cNvSpPr>
          <p:nvPr>
            <p:ph type="body"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</p:spPr>
        <p:txBody>
          <a:bodyPr lIns="0" tIns="0" rIns="0" bIns="0"/>
          <a:lstStyle/>
          <a:p>
            <a:endParaRPr lang="en-US" sz="32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pic>
        <p:nvPicPr>
          <p:cNvPr id="76" name="Picture 75"/>
          <p:cNvPicPr/>
          <p:nvPr/>
        </p:nvPicPr>
        <p:blipFill>
          <a:blip r:embed="rId2"/>
          <a:stretch/>
        </p:blipFill>
        <p:spPr>
          <a:xfrm>
            <a:off x="2443680" y="1200240"/>
            <a:ext cx="4255920" cy="3394080"/>
          </a:xfrm>
          <a:prstGeom prst="rect">
            <a:avLst/>
          </a:prstGeom>
          <a:ln>
            <a:noFill/>
          </a:ln>
        </p:spPr>
      </p:pic>
      <p:pic>
        <p:nvPicPr>
          <p:cNvPr id="77" name="Picture 76"/>
          <p:cNvPicPr/>
          <p:nvPr/>
        </p:nvPicPr>
        <p:blipFill>
          <a:blip r:embed="rId2"/>
          <a:stretch/>
        </p:blipFill>
        <p:spPr>
          <a:xfrm>
            <a:off x="2443680" y="1200240"/>
            <a:ext cx="4255920" cy="339408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83749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176110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84604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17972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56570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848186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231788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00579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86290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420969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8986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85800" y="1597680"/>
            <a:ext cx="7772040" cy="1102320"/>
          </a:xfrm>
          <a:prstGeom prst="rect">
            <a:avLst/>
          </a:prstGeom>
        </p:spPr>
        <p:txBody>
          <a:bodyPr anchor="ctr"/>
          <a:lstStyle/>
          <a:p>
            <a:pPr algn="ctr">
              <a:lnSpc>
                <a:spcPct val="100000"/>
              </a:lnSpc>
            </a:pPr>
            <a:r>
              <a:rPr lang="en-US" sz="4400" b="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Click to edit Master title style</a:t>
            </a:r>
            <a:endParaRPr lang="en-US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dt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en-US" sz="1200" b="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2/24/21</a:t>
            </a:r>
            <a:endParaRPr lang="en-US" sz="14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</p:spPr>
        <p:txBody>
          <a:bodyPr anchor="ctr"/>
          <a:lstStyle/>
          <a:p>
            <a:endParaRPr lang="en-US" sz="24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</p:spPr>
        <p:txBody>
          <a:bodyPr anchor="ctr"/>
          <a:lstStyle/>
          <a:p>
            <a:pPr algn="r">
              <a:lnSpc>
                <a:spcPct val="100000"/>
              </a:lnSpc>
            </a:pPr>
            <a:fld id="{FB061743-D104-4342-92DB-595A49178A68}" type="slidenum">
              <a:rPr lang="en-US" sz="1200" b="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‹#›</a:t>
            </a:fld>
            <a:endParaRPr lang="en-US" sz="14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tIns="0" rIns="0" bIns="0"/>
          <a:lstStyle/>
          <a:p>
            <a:pPr marL="432000" indent="-324000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Click to edit the outline text format</a:t>
            </a:r>
          </a:p>
          <a:p>
            <a:pPr marL="864000" lvl="1" indent="-324000"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400" b="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Second Outline Level</a:t>
            </a:r>
          </a:p>
          <a:p>
            <a:pPr marL="1296000" lvl="2" indent="-288000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Third Outline Level</a:t>
            </a:r>
          </a:p>
          <a:p>
            <a:pPr marL="1728000" lvl="3" indent="-216000"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Fourth Outline Level</a:t>
            </a:r>
          </a:p>
          <a:p>
            <a:pPr marL="2160000" lvl="4" indent="-216000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Fifth Outline Level</a:t>
            </a:r>
          </a:p>
          <a:p>
            <a:pPr marL="2592000" lvl="5" indent="-216000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Sixth Outline Level</a:t>
            </a:r>
          </a:p>
          <a:p>
            <a:pPr marL="3024000" lvl="6" indent="-216000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86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05920"/>
            <a:ext cx="8229240" cy="856800"/>
          </a:xfrm>
          <a:prstGeom prst="rect">
            <a:avLst/>
          </a:prstGeom>
        </p:spPr>
        <p:txBody>
          <a:bodyPr anchor="ctr"/>
          <a:lstStyle/>
          <a:p>
            <a:pPr algn="ctr">
              <a:lnSpc>
                <a:spcPct val="100000"/>
              </a:lnSpc>
            </a:pPr>
            <a:r>
              <a:rPr lang="en-US" sz="4400" b="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Click to edit Master title style</a:t>
            </a:r>
            <a:endParaRPr lang="en-US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body"/>
          </p:nvPr>
        </p:nvSpPr>
        <p:spPr>
          <a:xfrm>
            <a:off x="457200" y="1200240"/>
            <a:ext cx="8229240" cy="3394080"/>
          </a:xfrm>
          <a:prstGeom prst="rect">
            <a:avLst/>
          </a:prstGeom>
        </p:spPr>
        <p:txBody>
          <a:bodyPr/>
          <a:lstStyle/>
          <a:p>
            <a:pPr marL="432000" indent="-324000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Click to edit the outline text format</a:t>
            </a:r>
          </a:p>
          <a:p>
            <a:pPr marL="864000" lvl="1" indent="-324000"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3200" b="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Second Outline Level</a:t>
            </a:r>
          </a:p>
          <a:p>
            <a:pPr marL="1296000" lvl="2" indent="-288000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Third Outline Level</a:t>
            </a:r>
          </a:p>
          <a:p>
            <a:pPr marL="1728000" lvl="3" indent="-216000"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3200" b="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Fourth Outline Level</a:t>
            </a:r>
          </a:p>
          <a:p>
            <a:pPr marL="2160000" lvl="4" indent="-216000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Fifth Outline Level</a:t>
            </a:r>
          </a:p>
          <a:p>
            <a:pPr marL="2592000" lvl="5" indent="-216000"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Sixth Outline Level</a:t>
            </a:r>
          </a:p>
          <a:p>
            <a:pPr marL="343080" indent="-34272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en-US" sz="3200" b="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Seventh Outline LevelClick to edit Master text styles</a:t>
            </a:r>
          </a:p>
          <a:p>
            <a:pPr marL="743040" lvl="1" indent="-285480">
              <a:lnSpc>
                <a:spcPct val="100000"/>
              </a:lnSpc>
              <a:buClr>
                <a:srgbClr val="FFFFFF"/>
              </a:buClr>
              <a:buFont typeface="Arial"/>
              <a:buChar char="–"/>
            </a:pPr>
            <a:r>
              <a:rPr lang="en-US" sz="2800" b="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Second level</a:t>
            </a:r>
            <a:endParaRPr lang="en-US" sz="32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marL="1143000" lvl="2" indent="-228240">
              <a:lnSpc>
                <a:spcPct val="100000"/>
              </a:lnSpc>
              <a:buClr>
                <a:srgbClr val="FFFFFF"/>
              </a:buClr>
              <a:buFont typeface="Arial"/>
              <a:buChar char="•"/>
            </a:pPr>
            <a:r>
              <a:rPr lang="en-US" sz="2400" b="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Third level</a:t>
            </a:r>
            <a:endParaRPr lang="en-US" sz="32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marL="1600200" lvl="3" indent="-228240">
              <a:lnSpc>
                <a:spcPct val="100000"/>
              </a:lnSpc>
              <a:buClr>
                <a:srgbClr val="FFFFFF"/>
              </a:buClr>
              <a:buFont typeface="Arial"/>
              <a:buChar char="–"/>
            </a:pPr>
            <a:r>
              <a:rPr lang="en-US" sz="2000" b="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Fourth level</a:t>
            </a:r>
            <a:endParaRPr lang="en-US" sz="32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  <a:p>
            <a:pPr marL="2057400" lvl="4" indent="-228240">
              <a:lnSpc>
                <a:spcPct val="100000"/>
              </a:lnSpc>
              <a:buClr>
                <a:srgbClr val="FFFFFF"/>
              </a:buClr>
              <a:buFont typeface="Arial"/>
              <a:buChar char="»"/>
            </a:pPr>
            <a:r>
              <a:rPr lang="en-US" sz="2000" b="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Fifth level</a:t>
            </a:r>
            <a:endParaRPr lang="en-US" sz="32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dt"/>
          </p:nvPr>
        </p:nvSpPr>
        <p:spPr>
          <a:xfrm>
            <a:off x="457200" y="4767120"/>
            <a:ext cx="2133360" cy="273600"/>
          </a:xfrm>
          <a:prstGeom prst="rect">
            <a:avLst/>
          </a:prstGeom>
        </p:spPr>
        <p:txBody>
          <a:bodyPr anchor="ctr"/>
          <a:lstStyle/>
          <a:p>
            <a:pPr>
              <a:lnSpc>
                <a:spcPct val="100000"/>
              </a:lnSpc>
            </a:pPr>
            <a:r>
              <a:rPr lang="en-US" sz="1200" b="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2/24/21</a:t>
            </a:r>
            <a:endParaRPr lang="en-US" sz="14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ftr"/>
          </p:nvPr>
        </p:nvSpPr>
        <p:spPr>
          <a:xfrm>
            <a:off x="3124080" y="4767120"/>
            <a:ext cx="2895120" cy="273600"/>
          </a:xfrm>
          <a:prstGeom prst="rect">
            <a:avLst/>
          </a:prstGeom>
        </p:spPr>
        <p:txBody>
          <a:bodyPr anchor="ctr"/>
          <a:lstStyle/>
          <a:p>
            <a:endParaRPr lang="en-US" sz="24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 type="sldNum"/>
          </p:nvPr>
        </p:nvSpPr>
        <p:spPr>
          <a:xfrm>
            <a:off x="6553080" y="4767120"/>
            <a:ext cx="2133360" cy="273600"/>
          </a:xfrm>
          <a:prstGeom prst="rect">
            <a:avLst/>
          </a:prstGeom>
        </p:spPr>
        <p:txBody>
          <a:bodyPr anchor="ctr"/>
          <a:lstStyle/>
          <a:p>
            <a:pPr algn="r">
              <a:lnSpc>
                <a:spcPct val="100000"/>
              </a:lnSpc>
            </a:pPr>
            <a:fld id="{FA27F9FE-850B-4464-9AC1-121A1ADC59CD}" type="slidenum">
              <a:rPr lang="en-US" sz="1200" b="0" strike="noStrike" spc="-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‹#›</a:t>
            </a:fld>
            <a:endParaRPr lang="en-US" sz="14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71191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7.xml"/><Relationship Id="rId5" Type="http://schemas.openxmlformats.org/officeDocument/2006/relationships/image" Target="../media/image15.jp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5.xml"/><Relationship Id="rId5" Type="http://schemas.microsoft.com/office/2007/relationships/hdphoto" Target="../media/hdphoto1.wdp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0.png"/><Relationship Id="rId7" Type="http://schemas.openxmlformats.org/officeDocument/2006/relationships/image" Target="../media/image28.pn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27.png"/><Relationship Id="rId5" Type="http://schemas.openxmlformats.org/officeDocument/2006/relationships/image" Target="../media/image12.png"/><Relationship Id="rId4" Type="http://schemas.openxmlformats.org/officeDocument/2006/relationships/image" Target="../media/image18.png"/><Relationship Id="rId9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TextShape 1"/>
          <p:cNvSpPr txBox="1"/>
          <p:nvPr/>
        </p:nvSpPr>
        <p:spPr>
          <a:xfrm>
            <a:off x="70200" y="207540"/>
            <a:ext cx="8902800" cy="857880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/>
          <a:p>
            <a:pPr algn="ctr">
              <a:lnSpc>
                <a:spcPct val="100000"/>
              </a:lnSpc>
            </a:pPr>
            <a:r>
              <a:rPr lang="en-US" sz="4000" b="1" strike="noStrike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Ope</a:t>
            </a:r>
            <a:r>
              <a:rPr lang="en-US" sz="4000" b="1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n-source spatial planning </a:t>
            </a:r>
          </a:p>
          <a:p>
            <a:pPr algn="ctr">
              <a:lnSpc>
                <a:spcPct val="100000"/>
              </a:lnSpc>
            </a:pPr>
            <a:r>
              <a:rPr lang="en-US" sz="4000" b="1" spc="-1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and optimization</a:t>
            </a:r>
            <a:endParaRPr lang="en-US" sz="16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Calibri"/>
            </a:endParaRPr>
          </a:p>
        </p:txBody>
      </p:sp>
      <p:sp>
        <p:nvSpPr>
          <p:cNvPr id="123" name="TextShape 2"/>
          <p:cNvSpPr txBox="1"/>
          <p:nvPr/>
        </p:nvSpPr>
        <p:spPr>
          <a:xfrm>
            <a:off x="762479" y="3713025"/>
            <a:ext cx="7703681" cy="60912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ctr">
              <a:lnSpc>
                <a:spcPct val="100000"/>
              </a:lnSpc>
            </a:pPr>
            <a:r>
              <a:rPr lang="en-US" sz="4000" b="0" strike="noStrike" spc="-1" dirty="0">
                <a:solidFill>
                  <a:schemeClr val="bg1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Jeffrey Hanson (</a:t>
            </a:r>
            <a:r>
              <a:rPr lang="en-US" sz="4000" spc="-1" dirty="0">
                <a:solidFill>
                  <a:schemeClr val="bg1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Carleton University)</a:t>
            </a:r>
            <a:endParaRPr lang="en-US" sz="3200" b="0" strike="noStrike" spc="-1" dirty="0">
              <a:solidFill>
                <a:schemeClr val="bg1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124" name="Picture 2"/>
          <p:cNvPicPr/>
          <p:nvPr/>
        </p:nvPicPr>
        <p:blipFill>
          <a:blip r:embed="rId2"/>
          <a:stretch/>
        </p:blipFill>
        <p:spPr>
          <a:xfrm>
            <a:off x="259200" y="4497840"/>
            <a:ext cx="426240" cy="425160"/>
          </a:xfrm>
          <a:prstGeom prst="rect">
            <a:avLst/>
          </a:prstGeom>
          <a:ln>
            <a:noFill/>
          </a:ln>
        </p:spPr>
      </p:pic>
      <p:sp>
        <p:nvSpPr>
          <p:cNvPr id="125" name="CustomShape 3"/>
          <p:cNvSpPr/>
          <p:nvPr/>
        </p:nvSpPr>
        <p:spPr>
          <a:xfrm>
            <a:off x="759600" y="4479840"/>
            <a:ext cx="4446720" cy="456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2400" b="0" strike="noStrike" spc="-1">
                <a:solidFill>
                  <a:schemeClr val="bg1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jeffrey.hanson@uqconnect.edu.au</a:t>
            </a:r>
            <a:endParaRPr lang="en-US" sz="1800" b="0" strike="noStrike" spc="-1">
              <a:solidFill>
                <a:schemeClr val="bg1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126" name="Picture 4"/>
          <p:cNvPicPr/>
          <p:nvPr/>
        </p:nvPicPr>
        <p:blipFill>
          <a:blip r:embed="rId3"/>
          <a:stretch/>
        </p:blipFill>
        <p:spPr>
          <a:xfrm>
            <a:off x="5945400" y="4533480"/>
            <a:ext cx="397800" cy="377640"/>
          </a:xfrm>
          <a:prstGeom prst="rect">
            <a:avLst/>
          </a:prstGeom>
          <a:ln>
            <a:noFill/>
          </a:ln>
        </p:spPr>
      </p:pic>
      <p:sp>
        <p:nvSpPr>
          <p:cNvPr id="127" name="CustomShape 4"/>
          <p:cNvSpPr/>
          <p:nvPr/>
        </p:nvSpPr>
        <p:spPr>
          <a:xfrm>
            <a:off x="6403680" y="4491720"/>
            <a:ext cx="2569320" cy="4561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2400" b="0" strike="noStrike" spc="-1">
                <a:solidFill>
                  <a:schemeClr val="bg1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jeffrey-hanson.com</a:t>
            </a:r>
            <a:endParaRPr lang="en-US" sz="1800" b="0" strike="noStrike" spc="-1">
              <a:solidFill>
                <a:schemeClr val="bg1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128" name="Picture 2"/>
          <p:cNvPicPr/>
          <p:nvPr/>
        </p:nvPicPr>
        <p:blipFill>
          <a:blip r:embed="rId4"/>
          <a:stretch/>
        </p:blipFill>
        <p:spPr>
          <a:xfrm>
            <a:off x="2894524" y="1471224"/>
            <a:ext cx="3254153" cy="203373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No photo description available.">
            <a:extLst>
              <a:ext uri="{FF2B5EF4-FFF2-40B4-BE49-F238E27FC236}">
                <a16:creationId xmlns:a16="http://schemas.microsoft.com/office/drawing/2014/main" id="{1DA0C029-7718-4C3C-5AE0-760180FC039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89" t="23153" r="11137" b="24478"/>
          <a:stretch/>
        </p:blipFill>
        <p:spPr bwMode="auto">
          <a:xfrm>
            <a:off x="1401501" y="724105"/>
            <a:ext cx="6340999" cy="4302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415593AD-B4D8-AB3B-4640-2858FA0175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9284" y="70884"/>
            <a:ext cx="6885432" cy="653221"/>
          </a:xfrm>
        </p:spPr>
        <p:txBody>
          <a:bodyPr>
            <a:noAutofit/>
          </a:bodyPr>
          <a:lstStyle/>
          <a:p>
            <a:r>
              <a:rPr lang="en-NZ" sz="3600" dirty="0">
                <a:solidFill>
                  <a:schemeClr val="bg1"/>
                </a:solidFill>
              </a:rPr>
              <a:t>Conservation decision making</a:t>
            </a:r>
          </a:p>
        </p:txBody>
      </p:sp>
    </p:spTree>
    <p:extLst>
      <p:ext uri="{BB962C8B-B14F-4D97-AF65-F5344CB8AC3E}">
        <p14:creationId xmlns:p14="http://schemas.microsoft.com/office/powerpoint/2010/main" val="21338057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7828F4FE-7286-431E-52C7-9ABA8054CB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636" y="1240042"/>
            <a:ext cx="4725744" cy="4536560"/>
          </a:xfrm>
        </p:spPr>
        <p:txBody>
          <a:bodyPr>
            <a:noAutofit/>
          </a:bodyPr>
          <a:lstStyle/>
          <a:p>
            <a:r>
              <a:rPr lang="en-AU" sz="2400" dirty="0"/>
              <a:t>Conservation is actions in places</a:t>
            </a:r>
          </a:p>
          <a:p>
            <a:r>
              <a:rPr lang="en-AU" sz="2400" dirty="0"/>
              <a:t>Many facets of biodiversity need attention (e.g., species, habitats, ecosystem services)</a:t>
            </a:r>
          </a:p>
          <a:p>
            <a:r>
              <a:rPr lang="en-AU" sz="2400" dirty="0"/>
              <a:t>Limited resources for implementing actions</a:t>
            </a:r>
          </a:p>
          <a:p>
            <a:r>
              <a:rPr lang="en-AU" sz="2400" dirty="0"/>
              <a:t>Uncertainty in possible outcomes</a:t>
            </a:r>
          </a:p>
          <a:p>
            <a:r>
              <a:rPr lang="en-AU" sz="2400" dirty="0"/>
              <a:t>Need to find compromises among different stakeholders’ values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A734569-47D9-4F06-888C-1968E5A02C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39953"/>
            <a:ext cx="9144001" cy="857250"/>
          </a:xfrm>
        </p:spPr>
        <p:txBody>
          <a:bodyPr>
            <a:noAutofit/>
          </a:bodyPr>
          <a:lstStyle/>
          <a:p>
            <a:r>
              <a:rPr lang="en-NZ" sz="3600" dirty="0"/>
              <a:t>Conservation decision making is hard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5EC0F89-CC43-D6A1-B4A1-F36DEC1D9383}"/>
              </a:ext>
            </a:extLst>
          </p:cNvPr>
          <p:cNvGrpSpPr/>
          <p:nvPr/>
        </p:nvGrpSpPr>
        <p:grpSpPr>
          <a:xfrm>
            <a:off x="4860610" y="1306042"/>
            <a:ext cx="4067799" cy="3302909"/>
            <a:chOff x="4626695" y="1306042"/>
            <a:chExt cx="4067799" cy="3302909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254C3823-AB26-E374-F3E1-0BFCFC8037DC}"/>
                </a:ext>
              </a:extLst>
            </p:cNvPr>
            <p:cNvSpPr txBox="1"/>
            <p:nvPr/>
          </p:nvSpPr>
          <p:spPr>
            <a:xfrm>
              <a:off x="6122012" y="2090314"/>
              <a:ext cx="1077167" cy="492443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NZ" sz="2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versus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90FCA0D0-3853-0B1C-65A5-006EFF7ECFB0}"/>
                </a:ext>
              </a:extLst>
            </p:cNvPr>
            <p:cNvSpPr txBox="1"/>
            <p:nvPr/>
          </p:nvSpPr>
          <p:spPr>
            <a:xfrm>
              <a:off x="4626695" y="3901065"/>
              <a:ext cx="4067799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NZ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Lots of potential options for conservation efforts</a:t>
              </a:r>
            </a:p>
          </p:txBody>
        </p:sp>
        <p:pic>
          <p:nvPicPr>
            <p:cNvPr id="3074" name="Picture 2" descr="Waiheke Island - Wikipedia">
              <a:extLst>
                <a:ext uri="{FF2B5EF4-FFF2-40B4-BE49-F238E27FC236}">
                  <a16:creationId xmlns:a16="http://schemas.microsoft.com/office/drawing/2014/main" id="{9CCFB4AD-F512-1E38-DEC6-8976F2270D0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26695" y="1306042"/>
              <a:ext cx="4067799" cy="25534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831105F8-0C2E-8C99-58FB-2BC3C461F2F6}"/>
                </a:ext>
              </a:extLst>
            </p:cNvPr>
            <p:cNvSpPr/>
            <p:nvPr/>
          </p:nvSpPr>
          <p:spPr>
            <a:xfrm>
              <a:off x="4926419" y="2140688"/>
              <a:ext cx="340241" cy="326065"/>
            </a:xfrm>
            <a:prstGeom prst="rect">
              <a:avLst/>
            </a:prstGeom>
            <a:noFill/>
            <a:ln w="38100"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Z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5DD9F29D-497F-38E9-72DC-82C6D2B59463}"/>
                </a:ext>
              </a:extLst>
            </p:cNvPr>
            <p:cNvSpPr/>
            <p:nvPr/>
          </p:nvSpPr>
          <p:spPr>
            <a:xfrm>
              <a:off x="7502643" y="1669312"/>
              <a:ext cx="425701" cy="421002"/>
            </a:xfrm>
            <a:prstGeom prst="rect">
              <a:avLst/>
            </a:prstGeom>
            <a:noFill/>
            <a:ln w="38100"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Z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A4DAD995-1BAD-14A8-D2E4-0AE450199B43}"/>
                </a:ext>
              </a:extLst>
            </p:cNvPr>
            <p:cNvSpPr/>
            <p:nvPr/>
          </p:nvSpPr>
          <p:spPr>
            <a:xfrm>
              <a:off x="5933231" y="2941091"/>
              <a:ext cx="188781" cy="180916"/>
            </a:xfrm>
            <a:prstGeom prst="rect">
              <a:avLst/>
            </a:prstGeom>
            <a:noFill/>
            <a:ln w="38100"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Z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21E2970D-7B08-D561-09B3-22518EF15E3E}"/>
                </a:ext>
              </a:extLst>
            </p:cNvPr>
            <p:cNvSpPr/>
            <p:nvPr/>
          </p:nvSpPr>
          <p:spPr>
            <a:xfrm>
              <a:off x="6389358" y="3031549"/>
              <a:ext cx="188781" cy="180916"/>
            </a:xfrm>
            <a:prstGeom prst="rect">
              <a:avLst/>
            </a:prstGeom>
            <a:noFill/>
            <a:ln w="38100"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Z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E87C57C1-1202-E9F7-93DD-33AC76514303}"/>
                </a:ext>
              </a:extLst>
            </p:cNvPr>
            <p:cNvSpPr/>
            <p:nvPr/>
          </p:nvSpPr>
          <p:spPr>
            <a:xfrm>
              <a:off x="6483748" y="2582756"/>
              <a:ext cx="188781" cy="180916"/>
            </a:xfrm>
            <a:prstGeom prst="rect">
              <a:avLst/>
            </a:prstGeom>
            <a:noFill/>
            <a:ln w="38100"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Z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EDDD703F-DB9C-D720-1C1F-EB30CF2981E7}"/>
                </a:ext>
              </a:extLst>
            </p:cNvPr>
            <p:cNvSpPr/>
            <p:nvPr/>
          </p:nvSpPr>
          <p:spPr>
            <a:xfrm>
              <a:off x="4926419" y="3252720"/>
              <a:ext cx="786809" cy="511205"/>
            </a:xfrm>
            <a:prstGeom prst="rect">
              <a:avLst/>
            </a:prstGeom>
            <a:noFill/>
            <a:ln w="38100"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Z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7162E677-7215-4A54-F2A2-F9351C24F4D4}"/>
                </a:ext>
              </a:extLst>
            </p:cNvPr>
            <p:cNvSpPr/>
            <p:nvPr/>
          </p:nvSpPr>
          <p:spPr>
            <a:xfrm>
              <a:off x="7313862" y="2898140"/>
              <a:ext cx="188781" cy="180916"/>
            </a:xfrm>
            <a:prstGeom prst="rect">
              <a:avLst/>
            </a:prstGeom>
            <a:noFill/>
            <a:ln w="38100"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Z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0B44AE0D-6992-091E-9737-188D5AC84BE3}"/>
                </a:ext>
              </a:extLst>
            </p:cNvPr>
            <p:cNvSpPr/>
            <p:nvPr/>
          </p:nvSpPr>
          <p:spPr>
            <a:xfrm>
              <a:off x="5627768" y="1526496"/>
              <a:ext cx="425701" cy="421002"/>
            </a:xfrm>
            <a:prstGeom prst="rect">
              <a:avLst/>
            </a:prstGeom>
            <a:noFill/>
            <a:ln w="38100"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Z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940FD453-14C9-FE16-F089-30D4B4E1029F}"/>
                </a:ext>
              </a:extLst>
            </p:cNvPr>
            <p:cNvSpPr/>
            <p:nvPr/>
          </p:nvSpPr>
          <p:spPr>
            <a:xfrm>
              <a:off x="6301427" y="2142102"/>
              <a:ext cx="359167" cy="271749"/>
            </a:xfrm>
            <a:prstGeom prst="rect">
              <a:avLst/>
            </a:prstGeom>
            <a:noFill/>
            <a:ln w="38100"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NZ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218144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584" y="72843"/>
            <a:ext cx="8229600" cy="857250"/>
          </a:xfr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4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Spatial optimization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9262" y="910429"/>
            <a:ext cx="30369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Planning units</a:t>
            </a:r>
          </a:p>
        </p:txBody>
      </p:sp>
      <p:grpSp>
        <p:nvGrpSpPr>
          <p:cNvPr id="46" name="Group 45"/>
          <p:cNvGrpSpPr/>
          <p:nvPr/>
        </p:nvGrpSpPr>
        <p:grpSpPr>
          <a:xfrm>
            <a:off x="4155780" y="1206104"/>
            <a:ext cx="4426168" cy="3535846"/>
            <a:chOff x="4209306" y="1245600"/>
            <a:chExt cx="4380294" cy="3499200"/>
          </a:xfrm>
        </p:grpSpPr>
        <p:sp>
          <p:nvSpPr>
            <p:cNvPr id="47" name="Rectangle 46"/>
            <p:cNvSpPr/>
            <p:nvPr/>
          </p:nvSpPr>
          <p:spPr>
            <a:xfrm>
              <a:off x="4209306" y="1245600"/>
              <a:ext cx="4380294" cy="349920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8" name="Oval 47"/>
            <p:cNvSpPr/>
            <p:nvPr/>
          </p:nvSpPr>
          <p:spPr>
            <a:xfrm>
              <a:off x="7162077" y="1522519"/>
              <a:ext cx="1204677" cy="1011929"/>
            </a:xfrm>
            <a:prstGeom prst="ellipse">
              <a:avLst/>
            </a:prstGeom>
            <a:solidFill>
              <a:srgbClr val="92D050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3" name="Oval 72"/>
            <p:cNvSpPr/>
            <p:nvPr/>
          </p:nvSpPr>
          <p:spPr>
            <a:xfrm>
              <a:off x="6257784" y="3791251"/>
              <a:ext cx="785385" cy="659723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2" name="Oval 51"/>
            <p:cNvSpPr/>
            <p:nvPr/>
          </p:nvSpPr>
          <p:spPr>
            <a:xfrm>
              <a:off x="4426942" y="1508740"/>
              <a:ext cx="1037330" cy="871357"/>
            </a:xfrm>
            <a:prstGeom prst="ellipse">
              <a:avLst/>
            </a:prstGeom>
            <a:solidFill>
              <a:srgbClr val="92D050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5" name="Oval 54"/>
            <p:cNvSpPr/>
            <p:nvPr/>
          </p:nvSpPr>
          <p:spPr>
            <a:xfrm>
              <a:off x="4708749" y="3653556"/>
              <a:ext cx="1098619" cy="935114"/>
            </a:xfrm>
            <a:prstGeom prst="ellipse">
              <a:avLst/>
            </a:prstGeom>
            <a:solidFill>
              <a:srgbClr val="92D050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71" name="Oval 70"/>
            <p:cNvSpPr/>
            <p:nvPr/>
          </p:nvSpPr>
          <p:spPr>
            <a:xfrm>
              <a:off x="6032665" y="1320117"/>
              <a:ext cx="919679" cy="772531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9" name="Oval 68"/>
            <p:cNvSpPr/>
            <p:nvPr/>
          </p:nvSpPr>
          <p:spPr>
            <a:xfrm>
              <a:off x="7579737" y="2919013"/>
              <a:ext cx="714664" cy="600318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7" name="Oval 66"/>
            <p:cNvSpPr/>
            <p:nvPr/>
          </p:nvSpPr>
          <p:spPr>
            <a:xfrm>
              <a:off x="6595012" y="2995200"/>
              <a:ext cx="714664" cy="600318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5" name="Oval 64"/>
            <p:cNvSpPr/>
            <p:nvPr/>
          </p:nvSpPr>
          <p:spPr>
            <a:xfrm>
              <a:off x="7625944" y="3780880"/>
              <a:ext cx="714664" cy="600318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2" name="Oval 61"/>
            <p:cNvSpPr/>
            <p:nvPr/>
          </p:nvSpPr>
          <p:spPr>
            <a:xfrm>
              <a:off x="5046843" y="2402034"/>
              <a:ext cx="1222464" cy="1026871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cxnSp>
        <p:nvCxnSpPr>
          <p:cNvPr id="45" name="Straight Arrow Connector 44"/>
          <p:cNvCxnSpPr/>
          <p:nvPr/>
        </p:nvCxnSpPr>
        <p:spPr>
          <a:xfrm>
            <a:off x="3251536" y="1281401"/>
            <a:ext cx="1651976" cy="668783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388069" y="1692279"/>
            <a:ext cx="322035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Discrete places for conservation management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Each planning unit is managed separately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Commonly include land parcels, islands, spatial grid cells</a:t>
            </a:r>
          </a:p>
        </p:txBody>
      </p:sp>
    </p:spTree>
    <p:extLst>
      <p:ext uri="{BB962C8B-B14F-4D97-AF65-F5344CB8AC3E}">
        <p14:creationId xmlns:p14="http://schemas.microsoft.com/office/powerpoint/2010/main" val="1099039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4155780" y="1206104"/>
            <a:ext cx="4426168" cy="3535846"/>
            <a:chOff x="4209306" y="1245600"/>
            <a:chExt cx="4380294" cy="3499200"/>
          </a:xfrm>
        </p:grpSpPr>
        <p:sp>
          <p:nvSpPr>
            <p:cNvPr id="15" name="Rectangle 14"/>
            <p:cNvSpPr/>
            <p:nvPr/>
          </p:nvSpPr>
          <p:spPr>
            <a:xfrm>
              <a:off x="4209306" y="1245600"/>
              <a:ext cx="4380294" cy="349920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8" name="Oval 17"/>
            <p:cNvSpPr/>
            <p:nvPr/>
          </p:nvSpPr>
          <p:spPr>
            <a:xfrm>
              <a:off x="7162077" y="1522519"/>
              <a:ext cx="1204677" cy="1011929"/>
            </a:xfrm>
            <a:prstGeom prst="ellipse">
              <a:avLst/>
            </a:prstGeom>
            <a:solidFill>
              <a:srgbClr val="92D050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pic>
          <p:nvPicPr>
            <p:cNvPr id="19" name="Picture 18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34149" y="1588402"/>
              <a:ext cx="470109" cy="470109"/>
            </a:xfrm>
            <a:prstGeom prst="rect">
              <a:avLst/>
            </a:prstGeom>
          </p:spPr>
        </p:pic>
        <p:pic>
          <p:nvPicPr>
            <p:cNvPr id="20" name="Picture 19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86046" y="1844422"/>
              <a:ext cx="512315" cy="512315"/>
            </a:xfrm>
            <a:prstGeom prst="rect">
              <a:avLst/>
            </a:prstGeom>
          </p:spPr>
        </p:pic>
        <p:grpSp>
          <p:nvGrpSpPr>
            <p:cNvPr id="21" name="Group 20"/>
            <p:cNvGrpSpPr/>
            <p:nvPr/>
          </p:nvGrpSpPr>
          <p:grpSpPr>
            <a:xfrm>
              <a:off x="6257784" y="3791251"/>
              <a:ext cx="785385" cy="659723"/>
              <a:chOff x="6919200" y="3362400"/>
              <a:chExt cx="785385" cy="659723"/>
            </a:xfrm>
          </p:grpSpPr>
          <p:sp>
            <p:nvSpPr>
              <p:cNvPr id="43" name="Oval 42"/>
              <p:cNvSpPr/>
              <p:nvPr/>
            </p:nvSpPr>
            <p:spPr>
              <a:xfrm>
                <a:off x="6919200" y="3362400"/>
                <a:ext cx="785385" cy="659723"/>
              </a:xfrm>
              <a:prstGeom prst="ellipse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pic>
            <p:nvPicPr>
              <p:cNvPr id="44" name="Picture 43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082552" y="3465648"/>
                <a:ext cx="472932" cy="472932"/>
              </a:xfrm>
              <a:prstGeom prst="rect">
                <a:avLst/>
              </a:prstGeom>
            </p:spPr>
          </p:pic>
        </p:grpSp>
        <p:sp>
          <p:nvSpPr>
            <p:cNvPr id="22" name="Oval 21"/>
            <p:cNvSpPr/>
            <p:nvPr/>
          </p:nvSpPr>
          <p:spPr>
            <a:xfrm>
              <a:off x="4426942" y="1508740"/>
              <a:ext cx="1037330" cy="871357"/>
            </a:xfrm>
            <a:prstGeom prst="ellipse">
              <a:avLst/>
            </a:prstGeom>
            <a:solidFill>
              <a:srgbClr val="92D050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pic>
          <p:nvPicPr>
            <p:cNvPr id="23" name="Picture 22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4871870" y="1568024"/>
              <a:ext cx="449100" cy="449100"/>
            </a:xfrm>
            <a:prstGeom prst="rect">
              <a:avLst/>
            </a:prstGeom>
          </p:spPr>
        </p:pic>
        <p:pic>
          <p:nvPicPr>
            <p:cNvPr id="24" name="Picture 23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4494864" y="1872216"/>
              <a:ext cx="419467" cy="419467"/>
            </a:xfrm>
            <a:prstGeom prst="rect">
              <a:avLst/>
            </a:prstGeom>
          </p:spPr>
        </p:pic>
        <p:sp>
          <p:nvSpPr>
            <p:cNvPr id="25" name="Oval 24"/>
            <p:cNvSpPr/>
            <p:nvPr/>
          </p:nvSpPr>
          <p:spPr>
            <a:xfrm>
              <a:off x="4708749" y="3653556"/>
              <a:ext cx="1098619" cy="935114"/>
            </a:xfrm>
            <a:prstGeom prst="ellipse">
              <a:avLst/>
            </a:prstGeom>
            <a:solidFill>
              <a:srgbClr val="92D050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pic>
          <p:nvPicPr>
            <p:cNvPr id="26" name="Picture 25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26943" y="3815175"/>
              <a:ext cx="685350" cy="685350"/>
            </a:xfrm>
            <a:prstGeom prst="rect">
              <a:avLst/>
            </a:prstGeom>
          </p:spPr>
        </p:pic>
        <p:grpSp>
          <p:nvGrpSpPr>
            <p:cNvPr id="27" name="Group 26"/>
            <p:cNvGrpSpPr/>
            <p:nvPr/>
          </p:nvGrpSpPr>
          <p:grpSpPr>
            <a:xfrm>
              <a:off x="6032665" y="1320117"/>
              <a:ext cx="919679" cy="772531"/>
              <a:chOff x="6032665" y="1320117"/>
              <a:chExt cx="919679" cy="772531"/>
            </a:xfrm>
          </p:grpSpPr>
          <p:sp>
            <p:nvSpPr>
              <p:cNvPr id="41" name="Oval 40"/>
              <p:cNvSpPr/>
              <p:nvPr/>
            </p:nvSpPr>
            <p:spPr>
              <a:xfrm>
                <a:off x="6032665" y="1320117"/>
                <a:ext cx="919679" cy="772531"/>
              </a:xfrm>
              <a:prstGeom prst="ellipse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pic>
            <p:nvPicPr>
              <p:cNvPr id="42" name="Picture 41"/>
              <p:cNvPicPr>
                <a:picLocks noChangeAspect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flipH="1">
                <a:off x="6242912" y="1465805"/>
                <a:ext cx="478614" cy="478614"/>
              </a:xfrm>
              <a:prstGeom prst="rect">
                <a:avLst/>
              </a:prstGeom>
            </p:spPr>
          </p:pic>
        </p:grpSp>
        <p:grpSp>
          <p:nvGrpSpPr>
            <p:cNvPr id="28" name="Group 27"/>
            <p:cNvGrpSpPr/>
            <p:nvPr/>
          </p:nvGrpSpPr>
          <p:grpSpPr>
            <a:xfrm>
              <a:off x="7579737" y="2919013"/>
              <a:ext cx="714664" cy="600318"/>
              <a:chOff x="7579737" y="2919013"/>
              <a:chExt cx="714664" cy="600318"/>
            </a:xfrm>
          </p:grpSpPr>
          <p:sp>
            <p:nvSpPr>
              <p:cNvPr id="39" name="Oval 38"/>
              <p:cNvSpPr/>
              <p:nvPr/>
            </p:nvSpPr>
            <p:spPr>
              <a:xfrm>
                <a:off x="7579737" y="2919013"/>
                <a:ext cx="714664" cy="600318"/>
              </a:xfrm>
              <a:prstGeom prst="ellipse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pic>
            <p:nvPicPr>
              <p:cNvPr id="40" name="Picture 39"/>
              <p:cNvPicPr>
                <a:picLocks noChangeAspect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flipH="1">
                <a:off x="7727335" y="3009438"/>
                <a:ext cx="419467" cy="419467"/>
              </a:xfrm>
              <a:prstGeom prst="rect">
                <a:avLst/>
              </a:prstGeom>
            </p:spPr>
          </p:pic>
        </p:grpSp>
        <p:grpSp>
          <p:nvGrpSpPr>
            <p:cNvPr id="29" name="Group 28"/>
            <p:cNvGrpSpPr/>
            <p:nvPr/>
          </p:nvGrpSpPr>
          <p:grpSpPr>
            <a:xfrm>
              <a:off x="6595012" y="2995200"/>
              <a:ext cx="714664" cy="600318"/>
              <a:chOff x="7579737" y="2919013"/>
              <a:chExt cx="714664" cy="600318"/>
            </a:xfrm>
          </p:grpSpPr>
          <p:sp>
            <p:nvSpPr>
              <p:cNvPr id="37" name="Oval 36"/>
              <p:cNvSpPr/>
              <p:nvPr/>
            </p:nvSpPr>
            <p:spPr>
              <a:xfrm>
                <a:off x="7579737" y="2919013"/>
                <a:ext cx="714664" cy="600318"/>
              </a:xfrm>
              <a:prstGeom prst="ellipse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pic>
            <p:nvPicPr>
              <p:cNvPr id="38" name="Picture 37"/>
              <p:cNvPicPr>
                <a:picLocks noChangeAspect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flipH="1">
                <a:off x="7727335" y="3009438"/>
                <a:ext cx="419467" cy="419467"/>
              </a:xfrm>
              <a:prstGeom prst="rect">
                <a:avLst/>
              </a:prstGeom>
            </p:spPr>
          </p:pic>
        </p:grpSp>
        <p:grpSp>
          <p:nvGrpSpPr>
            <p:cNvPr id="30" name="Group 29"/>
            <p:cNvGrpSpPr/>
            <p:nvPr/>
          </p:nvGrpSpPr>
          <p:grpSpPr>
            <a:xfrm>
              <a:off x="7625944" y="3780880"/>
              <a:ext cx="714664" cy="600318"/>
              <a:chOff x="7579737" y="2919013"/>
              <a:chExt cx="714664" cy="600318"/>
            </a:xfrm>
          </p:grpSpPr>
          <p:sp>
            <p:nvSpPr>
              <p:cNvPr id="35" name="Oval 34"/>
              <p:cNvSpPr/>
              <p:nvPr/>
            </p:nvSpPr>
            <p:spPr>
              <a:xfrm>
                <a:off x="7579737" y="2919013"/>
                <a:ext cx="714664" cy="600318"/>
              </a:xfrm>
              <a:prstGeom prst="ellipse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pic>
            <p:nvPicPr>
              <p:cNvPr id="36" name="Picture 35"/>
              <p:cNvPicPr>
                <a:picLocks noChangeAspect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flipH="1">
                <a:off x="7727335" y="3009438"/>
                <a:ext cx="419467" cy="419467"/>
              </a:xfrm>
              <a:prstGeom prst="rect">
                <a:avLst/>
              </a:prstGeom>
            </p:spPr>
          </p:pic>
        </p:grpSp>
        <p:grpSp>
          <p:nvGrpSpPr>
            <p:cNvPr id="31" name="Group 30"/>
            <p:cNvGrpSpPr/>
            <p:nvPr/>
          </p:nvGrpSpPr>
          <p:grpSpPr>
            <a:xfrm>
              <a:off x="5046843" y="2402034"/>
              <a:ext cx="1222464" cy="1026871"/>
              <a:chOff x="5046843" y="2402034"/>
              <a:chExt cx="1222464" cy="1026871"/>
            </a:xfrm>
          </p:grpSpPr>
          <p:sp>
            <p:nvSpPr>
              <p:cNvPr id="32" name="Oval 31"/>
              <p:cNvSpPr/>
              <p:nvPr/>
            </p:nvSpPr>
            <p:spPr>
              <a:xfrm>
                <a:off x="5046843" y="2402034"/>
                <a:ext cx="1222464" cy="1026871"/>
              </a:xfrm>
              <a:prstGeom prst="ellipse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pic>
            <p:nvPicPr>
              <p:cNvPr id="33" name="Picture 32"/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664290" y="2499286"/>
                <a:ext cx="493365" cy="493365"/>
              </a:xfrm>
              <a:prstGeom prst="rect">
                <a:avLst/>
              </a:prstGeom>
            </p:spPr>
          </p:pic>
          <p:pic>
            <p:nvPicPr>
              <p:cNvPr id="34" name="Picture 33"/>
              <p:cNvPicPr>
                <a:picLocks noChangeAspect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flipH="1">
                <a:off x="5213128" y="2819315"/>
                <a:ext cx="502288" cy="502288"/>
              </a:xfrm>
              <a:prstGeom prst="rect">
                <a:avLst/>
              </a:prstGeom>
            </p:spPr>
          </p:pic>
        </p:grpSp>
      </p:grpSp>
      <p:sp>
        <p:nvSpPr>
          <p:cNvPr id="45" name="TextBox 44"/>
          <p:cNvSpPr txBox="1"/>
          <p:nvPr/>
        </p:nvSpPr>
        <p:spPr>
          <a:xfrm>
            <a:off x="697050" y="697050"/>
            <a:ext cx="30369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Features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72774" y="1307518"/>
            <a:ext cx="322035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000" dirty="0">
                <a:solidFill>
                  <a:prstClr val="white"/>
                </a:solidFill>
                <a:latin typeface="Calibri"/>
              </a:rPr>
              <a:t>Map-able elements that we want to persist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Commonly include species, ecosystem types, ecosystem services (e.g.,  water provisioning, carbon sequestration)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sz="2000" dirty="0">
              <a:solidFill>
                <a:prstClr val="white"/>
              </a:solidFill>
              <a:latin typeface="Calibri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000" dirty="0">
                <a:solidFill>
                  <a:prstClr val="white"/>
                </a:solidFill>
                <a:latin typeface="Calibri"/>
              </a:rPr>
              <a:t>Target thresholds denote minimum desired amount (e.g., ≥3 crab populations)</a:t>
            </a:r>
          </a:p>
        </p:txBody>
      </p:sp>
      <p:cxnSp>
        <p:nvCxnSpPr>
          <p:cNvPr id="48" name="Straight Arrow Connector 47"/>
          <p:cNvCxnSpPr>
            <a:cxnSpLocks/>
          </p:cNvCxnSpPr>
          <p:nvPr/>
        </p:nvCxnSpPr>
        <p:spPr>
          <a:xfrm>
            <a:off x="2462192" y="952260"/>
            <a:ext cx="2363091" cy="781006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>
            <a:cxnSpLocks/>
            <a:endCxn id="22" idx="2"/>
          </p:cNvCxnSpPr>
          <p:nvPr/>
        </p:nvCxnSpPr>
        <p:spPr>
          <a:xfrm>
            <a:off x="2462192" y="1132675"/>
            <a:ext cx="1913503" cy="779566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>
            <a:extLst>
              <a:ext uri="{FF2B5EF4-FFF2-40B4-BE49-F238E27FC236}">
                <a16:creationId xmlns:a16="http://schemas.microsoft.com/office/drawing/2014/main" id="{A485A657-410C-BCFB-D27F-857637856F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07A3C8B-3B76-CE15-6CF1-1395E7367B4B}"/>
              </a:ext>
            </a:extLst>
          </p:cNvPr>
          <p:cNvSpPr txBox="1">
            <a:spLocks/>
          </p:cNvSpPr>
          <p:nvPr/>
        </p:nvSpPr>
        <p:spPr>
          <a:xfrm>
            <a:off x="457584" y="72843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AU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Spatial optimization</a:t>
            </a:r>
            <a:endParaRPr lang="en-AU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08826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Group 44"/>
          <p:cNvGrpSpPr/>
          <p:nvPr/>
        </p:nvGrpSpPr>
        <p:grpSpPr>
          <a:xfrm>
            <a:off x="4155780" y="1206104"/>
            <a:ext cx="4426168" cy="3535846"/>
            <a:chOff x="4209306" y="1245600"/>
            <a:chExt cx="4380294" cy="3499200"/>
          </a:xfrm>
        </p:grpSpPr>
        <p:sp>
          <p:nvSpPr>
            <p:cNvPr id="46" name="Rectangle 45"/>
            <p:cNvSpPr/>
            <p:nvPr/>
          </p:nvSpPr>
          <p:spPr>
            <a:xfrm>
              <a:off x="4209306" y="1245600"/>
              <a:ext cx="4380294" cy="349920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7" name="Oval 46"/>
            <p:cNvSpPr/>
            <p:nvPr/>
          </p:nvSpPr>
          <p:spPr>
            <a:xfrm>
              <a:off x="7162077" y="1522519"/>
              <a:ext cx="1204677" cy="1011929"/>
            </a:xfrm>
            <a:prstGeom prst="ellipse">
              <a:avLst/>
            </a:prstGeom>
            <a:solidFill>
              <a:srgbClr val="92D050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pic>
          <p:nvPicPr>
            <p:cNvPr id="48" name="Picture 47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34149" y="1588402"/>
              <a:ext cx="470109" cy="470109"/>
            </a:xfrm>
            <a:prstGeom prst="rect">
              <a:avLst/>
            </a:prstGeom>
          </p:spPr>
        </p:pic>
        <p:pic>
          <p:nvPicPr>
            <p:cNvPr id="49" name="Picture 48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86046" y="1844422"/>
              <a:ext cx="512315" cy="512315"/>
            </a:xfrm>
            <a:prstGeom prst="rect">
              <a:avLst/>
            </a:prstGeom>
          </p:spPr>
        </p:pic>
        <p:grpSp>
          <p:nvGrpSpPr>
            <p:cNvPr id="50" name="Group 49"/>
            <p:cNvGrpSpPr/>
            <p:nvPr/>
          </p:nvGrpSpPr>
          <p:grpSpPr>
            <a:xfrm>
              <a:off x="6257784" y="3791251"/>
              <a:ext cx="785385" cy="659723"/>
              <a:chOff x="6919200" y="3362400"/>
              <a:chExt cx="785385" cy="659723"/>
            </a:xfrm>
          </p:grpSpPr>
          <p:sp>
            <p:nvSpPr>
              <p:cNvPr id="72" name="Oval 71"/>
              <p:cNvSpPr/>
              <p:nvPr/>
            </p:nvSpPr>
            <p:spPr>
              <a:xfrm>
                <a:off x="6919200" y="3362400"/>
                <a:ext cx="785385" cy="659723"/>
              </a:xfrm>
              <a:prstGeom prst="ellipse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pic>
            <p:nvPicPr>
              <p:cNvPr id="73" name="Picture 72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082552" y="3465648"/>
                <a:ext cx="472932" cy="472932"/>
              </a:xfrm>
              <a:prstGeom prst="rect">
                <a:avLst/>
              </a:prstGeom>
            </p:spPr>
          </p:pic>
        </p:grpSp>
        <p:sp>
          <p:nvSpPr>
            <p:cNvPr id="51" name="Oval 50"/>
            <p:cNvSpPr/>
            <p:nvPr/>
          </p:nvSpPr>
          <p:spPr>
            <a:xfrm>
              <a:off x="4426942" y="1508740"/>
              <a:ext cx="1037330" cy="871357"/>
            </a:xfrm>
            <a:prstGeom prst="ellipse">
              <a:avLst/>
            </a:prstGeom>
            <a:solidFill>
              <a:srgbClr val="92D050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pic>
          <p:nvPicPr>
            <p:cNvPr id="52" name="Picture 51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4871870" y="1568024"/>
              <a:ext cx="449100" cy="449100"/>
            </a:xfrm>
            <a:prstGeom prst="rect">
              <a:avLst/>
            </a:prstGeom>
          </p:spPr>
        </p:pic>
        <p:pic>
          <p:nvPicPr>
            <p:cNvPr id="53" name="Picture 52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4494864" y="1872216"/>
              <a:ext cx="419467" cy="419467"/>
            </a:xfrm>
            <a:prstGeom prst="rect">
              <a:avLst/>
            </a:prstGeom>
          </p:spPr>
        </p:pic>
        <p:sp>
          <p:nvSpPr>
            <p:cNvPr id="54" name="Oval 53"/>
            <p:cNvSpPr/>
            <p:nvPr/>
          </p:nvSpPr>
          <p:spPr>
            <a:xfrm>
              <a:off x="4708749" y="3653556"/>
              <a:ext cx="1098619" cy="935114"/>
            </a:xfrm>
            <a:prstGeom prst="ellipse">
              <a:avLst/>
            </a:prstGeom>
            <a:solidFill>
              <a:srgbClr val="92D050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pic>
          <p:nvPicPr>
            <p:cNvPr id="55" name="Picture 54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26943" y="3815175"/>
              <a:ext cx="685350" cy="685350"/>
            </a:xfrm>
            <a:prstGeom prst="rect">
              <a:avLst/>
            </a:prstGeom>
          </p:spPr>
        </p:pic>
        <p:grpSp>
          <p:nvGrpSpPr>
            <p:cNvPr id="56" name="Group 55"/>
            <p:cNvGrpSpPr/>
            <p:nvPr/>
          </p:nvGrpSpPr>
          <p:grpSpPr>
            <a:xfrm>
              <a:off x="6032665" y="1320117"/>
              <a:ext cx="919679" cy="772531"/>
              <a:chOff x="6032665" y="1320117"/>
              <a:chExt cx="919679" cy="772531"/>
            </a:xfrm>
          </p:grpSpPr>
          <p:sp>
            <p:nvSpPr>
              <p:cNvPr id="70" name="Oval 69"/>
              <p:cNvSpPr/>
              <p:nvPr/>
            </p:nvSpPr>
            <p:spPr>
              <a:xfrm>
                <a:off x="6032665" y="1320117"/>
                <a:ext cx="919679" cy="772531"/>
              </a:xfrm>
              <a:prstGeom prst="ellipse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pic>
            <p:nvPicPr>
              <p:cNvPr id="71" name="Picture 70"/>
              <p:cNvPicPr>
                <a:picLocks noChangeAspect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flipH="1">
                <a:off x="6242912" y="1465805"/>
                <a:ext cx="478614" cy="478614"/>
              </a:xfrm>
              <a:prstGeom prst="rect">
                <a:avLst/>
              </a:prstGeom>
            </p:spPr>
          </p:pic>
        </p:grpSp>
        <p:grpSp>
          <p:nvGrpSpPr>
            <p:cNvPr id="57" name="Group 56"/>
            <p:cNvGrpSpPr/>
            <p:nvPr/>
          </p:nvGrpSpPr>
          <p:grpSpPr>
            <a:xfrm>
              <a:off x="7579737" y="2919013"/>
              <a:ext cx="714664" cy="600318"/>
              <a:chOff x="7579737" y="2919013"/>
              <a:chExt cx="714664" cy="600318"/>
            </a:xfrm>
          </p:grpSpPr>
          <p:sp>
            <p:nvSpPr>
              <p:cNvPr id="68" name="Oval 67"/>
              <p:cNvSpPr/>
              <p:nvPr/>
            </p:nvSpPr>
            <p:spPr>
              <a:xfrm>
                <a:off x="7579737" y="2919013"/>
                <a:ext cx="714664" cy="600318"/>
              </a:xfrm>
              <a:prstGeom prst="ellipse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pic>
            <p:nvPicPr>
              <p:cNvPr id="69" name="Picture 68"/>
              <p:cNvPicPr>
                <a:picLocks noChangeAspect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flipH="1">
                <a:off x="7727335" y="3009438"/>
                <a:ext cx="419467" cy="419467"/>
              </a:xfrm>
              <a:prstGeom prst="rect">
                <a:avLst/>
              </a:prstGeom>
            </p:spPr>
          </p:pic>
        </p:grpSp>
        <p:grpSp>
          <p:nvGrpSpPr>
            <p:cNvPr id="58" name="Group 57"/>
            <p:cNvGrpSpPr/>
            <p:nvPr/>
          </p:nvGrpSpPr>
          <p:grpSpPr>
            <a:xfrm>
              <a:off x="6595012" y="2995200"/>
              <a:ext cx="714664" cy="600318"/>
              <a:chOff x="7579737" y="2919013"/>
              <a:chExt cx="714664" cy="600318"/>
            </a:xfrm>
          </p:grpSpPr>
          <p:sp>
            <p:nvSpPr>
              <p:cNvPr id="66" name="Oval 65"/>
              <p:cNvSpPr/>
              <p:nvPr/>
            </p:nvSpPr>
            <p:spPr>
              <a:xfrm>
                <a:off x="7579737" y="2919013"/>
                <a:ext cx="714664" cy="600318"/>
              </a:xfrm>
              <a:prstGeom prst="ellipse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pic>
            <p:nvPicPr>
              <p:cNvPr id="67" name="Picture 66"/>
              <p:cNvPicPr>
                <a:picLocks noChangeAspect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flipH="1">
                <a:off x="7727335" y="3009438"/>
                <a:ext cx="419467" cy="419467"/>
              </a:xfrm>
              <a:prstGeom prst="rect">
                <a:avLst/>
              </a:prstGeom>
            </p:spPr>
          </p:pic>
        </p:grpSp>
        <p:grpSp>
          <p:nvGrpSpPr>
            <p:cNvPr id="59" name="Group 58"/>
            <p:cNvGrpSpPr/>
            <p:nvPr/>
          </p:nvGrpSpPr>
          <p:grpSpPr>
            <a:xfrm>
              <a:off x="7625944" y="3780880"/>
              <a:ext cx="714664" cy="600318"/>
              <a:chOff x="7579737" y="2919013"/>
              <a:chExt cx="714664" cy="600318"/>
            </a:xfrm>
          </p:grpSpPr>
          <p:sp>
            <p:nvSpPr>
              <p:cNvPr id="64" name="Oval 63"/>
              <p:cNvSpPr/>
              <p:nvPr/>
            </p:nvSpPr>
            <p:spPr>
              <a:xfrm>
                <a:off x="7579737" y="2919013"/>
                <a:ext cx="714664" cy="600318"/>
              </a:xfrm>
              <a:prstGeom prst="ellipse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pic>
            <p:nvPicPr>
              <p:cNvPr id="65" name="Picture 64"/>
              <p:cNvPicPr>
                <a:picLocks noChangeAspect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flipH="1">
                <a:off x="7727335" y="3009438"/>
                <a:ext cx="419467" cy="419467"/>
              </a:xfrm>
              <a:prstGeom prst="rect">
                <a:avLst/>
              </a:prstGeom>
            </p:spPr>
          </p:pic>
        </p:grpSp>
        <p:grpSp>
          <p:nvGrpSpPr>
            <p:cNvPr id="60" name="Group 59"/>
            <p:cNvGrpSpPr/>
            <p:nvPr/>
          </p:nvGrpSpPr>
          <p:grpSpPr>
            <a:xfrm>
              <a:off x="5046843" y="2402034"/>
              <a:ext cx="1222464" cy="1026871"/>
              <a:chOff x="5046843" y="2402034"/>
              <a:chExt cx="1222464" cy="1026871"/>
            </a:xfrm>
          </p:grpSpPr>
          <p:sp>
            <p:nvSpPr>
              <p:cNvPr id="61" name="Oval 60"/>
              <p:cNvSpPr/>
              <p:nvPr/>
            </p:nvSpPr>
            <p:spPr>
              <a:xfrm>
                <a:off x="5046843" y="2402034"/>
                <a:ext cx="1222464" cy="1026871"/>
              </a:xfrm>
              <a:prstGeom prst="ellipse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pic>
            <p:nvPicPr>
              <p:cNvPr id="62" name="Picture 61"/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664290" y="2499286"/>
                <a:ext cx="493365" cy="493365"/>
              </a:xfrm>
              <a:prstGeom prst="rect">
                <a:avLst/>
              </a:prstGeom>
            </p:spPr>
          </p:pic>
          <p:pic>
            <p:nvPicPr>
              <p:cNvPr id="63" name="Picture 62"/>
              <p:cNvPicPr>
                <a:picLocks noChangeAspect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flipH="1">
                <a:off x="5213128" y="2819315"/>
                <a:ext cx="502288" cy="502288"/>
              </a:xfrm>
              <a:prstGeom prst="rect">
                <a:avLst/>
              </a:prstGeom>
            </p:spPr>
          </p:pic>
        </p:grpSp>
      </p:grpSp>
      <p:sp>
        <p:nvSpPr>
          <p:cNvPr id="74" name="TextBox 73"/>
          <p:cNvSpPr txBox="1"/>
          <p:nvPr/>
        </p:nvSpPr>
        <p:spPr>
          <a:xfrm>
            <a:off x="464881" y="1195323"/>
            <a:ext cx="346571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Which planning units should we manage for conservation?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7EB5942-F769-0F10-AF32-AF41441C0D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NZ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4D268D1-7F09-FF6B-02AA-AF208351A088}"/>
              </a:ext>
            </a:extLst>
          </p:cNvPr>
          <p:cNvSpPr txBox="1">
            <a:spLocks/>
          </p:cNvSpPr>
          <p:nvPr/>
        </p:nvSpPr>
        <p:spPr>
          <a:xfrm>
            <a:off x="457584" y="72843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AU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Spatial optimization</a:t>
            </a:r>
            <a:endParaRPr lang="en-AU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04307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561F8A90-6FDB-CD0B-9B5F-EB567ECE28A0}"/>
              </a:ext>
            </a:extLst>
          </p:cNvPr>
          <p:cNvGrpSpPr/>
          <p:nvPr/>
        </p:nvGrpSpPr>
        <p:grpSpPr>
          <a:xfrm>
            <a:off x="5303520" y="1527540"/>
            <a:ext cx="3689940" cy="2947710"/>
            <a:chOff x="4209306" y="1245600"/>
            <a:chExt cx="4380294" cy="3499200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C97598E9-C3D4-AADB-2BB4-BF672F050927}"/>
                </a:ext>
              </a:extLst>
            </p:cNvPr>
            <p:cNvSpPr/>
            <p:nvPr/>
          </p:nvSpPr>
          <p:spPr>
            <a:xfrm>
              <a:off x="4209306" y="1245600"/>
              <a:ext cx="4380294" cy="349920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4CC8FCF0-BBEF-974E-EC52-6992E5E617EE}"/>
                </a:ext>
              </a:extLst>
            </p:cNvPr>
            <p:cNvSpPr/>
            <p:nvPr/>
          </p:nvSpPr>
          <p:spPr>
            <a:xfrm>
              <a:off x="7162077" y="1522519"/>
              <a:ext cx="1204677" cy="1011929"/>
            </a:xfrm>
            <a:prstGeom prst="ellipse">
              <a:avLst/>
            </a:prstGeom>
            <a:solidFill>
              <a:srgbClr val="92D050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8228D49B-DFC8-A335-6B90-DA2E7AB942F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34149" y="1588402"/>
              <a:ext cx="470109" cy="470109"/>
            </a:xfrm>
            <a:prstGeom prst="rect">
              <a:avLst/>
            </a:prstGeom>
          </p:spPr>
        </p:pic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63E7B824-FF0C-E89C-5EBF-A5C944AC1E0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86046" y="1844422"/>
              <a:ext cx="512315" cy="512315"/>
            </a:xfrm>
            <a:prstGeom prst="rect">
              <a:avLst/>
            </a:prstGeom>
          </p:spPr>
        </p:pic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73B28AF2-9755-3931-0CFF-CE769492F394}"/>
                </a:ext>
              </a:extLst>
            </p:cNvPr>
            <p:cNvGrpSpPr/>
            <p:nvPr/>
          </p:nvGrpSpPr>
          <p:grpSpPr>
            <a:xfrm>
              <a:off x="6257784" y="3791251"/>
              <a:ext cx="785385" cy="659723"/>
              <a:chOff x="6919200" y="3362400"/>
              <a:chExt cx="785385" cy="659723"/>
            </a:xfrm>
          </p:grpSpPr>
          <p:sp>
            <p:nvSpPr>
              <p:cNvPr id="64" name="Oval 63">
                <a:extLst>
                  <a:ext uri="{FF2B5EF4-FFF2-40B4-BE49-F238E27FC236}">
                    <a16:creationId xmlns:a16="http://schemas.microsoft.com/office/drawing/2014/main" id="{D2B35B87-6C30-773E-802B-AC73ACE8AC1D}"/>
                  </a:ext>
                </a:extLst>
              </p:cNvPr>
              <p:cNvSpPr/>
              <p:nvPr/>
            </p:nvSpPr>
            <p:spPr>
              <a:xfrm>
                <a:off x="6919200" y="3362400"/>
                <a:ext cx="785385" cy="659723"/>
              </a:xfrm>
              <a:prstGeom prst="ellipse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pic>
            <p:nvPicPr>
              <p:cNvPr id="65" name="Picture 64">
                <a:extLst>
                  <a:ext uri="{FF2B5EF4-FFF2-40B4-BE49-F238E27FC236}">
                    <a16:creationId xmlns:a16="http://schemas.microsoft.com/office/drawing/2014/main" id="{3856C55A-9FD3-F576-D6A1-2F973C77BCB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082552" y="3465648"/>
                <a:ext cx="472932" cy="472932"/>
              </a:xfrm>
              <a:prstGeom prst="rect">
                <a:avLst/>
              </a:prstGeom>
            </p:spPr>
          </p:pic>
        </p:grp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56C514C6-F31B-C746-B18E-3BD8551A8F13}"/>
                </a:ext>
              </a:extLst>
            </p:cNvPr>
            <p:cNvSpPr/>
            <p:nvPr/>
          </p:nvSpPr>
          <p:spPr>
            <a:xfrm>
              <a:off x="4426942" y="1508740"/>
              <a:ext cx="1037330" cy="871357"/>
            </a:xfrm>
            <a:prstGeom prst="ellipse">
              <a:avLst/>
            </a:prstGeom>
            <a:solidFill>
              <a:srgbClr val="92D050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pic>
          <p:nvPicPr>
            <p:cNvPr id="44" name="Picture 43">
              <a:extLst>
                <a:ext uri="{FF2B5EF4-FFF2-40B4-BE49-F238E27FC236}">
                  <a16:creationId xmlns:a16="http://schemas.microsoft.com/office/drawing/2014/main" id="{1507FD86-A81E-4822-8E91-3FE7AAB4A24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4871870" y="1568024"/>
              <a:ext cx="449100" cy="449100"/>
            </a:xfrm>
            <a:prstGeom prst="rect">
              <a:avLst/>
            </a:prstGeom>
          </p:spPr>
        </p:pic>
        <p:pic>
          <p:nvPicPr>
            <p:cNvPr id="45" name="Picture 44">
              <a:extLst>
                <a:ext uri="{FF2B5EF4-FFF2-40B4-BE49-F238E27FC236}">
                  <a16:creationId xmlns:a16="http://schemas.microsoft.com/office/drawing/2014/main" id="{A1ADE848-9506-14C2-79B9-2FCFBAA4CB5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4494864" y="1872216"/>
              <a:ext cx="419467" cy="419467"/>
            </a:xfrm>
            <a:prstGeom prst="rect">
              <a:avLst/>
            </a:prstGeom>
          </p:spPr>
        </p:pic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88B21F6A-D9A6-33EB-7E12-F569FB25C504}"/>
                </a:ext>
              </a:extLst>
            </p:cNvPr>
            <p:cNvSpPr/>
            <p:nvPr/>
          </p:nvSpPr>
          <p:spPr>
            <a:xfrm>
              <a:off x="4708749" y="3653556"/>
              <a:ext cx="1098619" cy="935114"/>
            </a:xfrm>
            <a:prstGeom prst="ellipse">
              <a:avLst/>
            </a:prstGeom>
            <a:solidFill>
              <a:srgbClr val="92D050"/>
            </a:solidFill>
            <a:ln w="762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pic>
          <p:nvPicPr>
            <p:cNvPr id="47" name="Picture 46">
              <a:extLst>
                <a:ext uri="{FF2B5EF4-FFF2-40B4-BE49-F238E27FC236}">
                  <a16:creationId xmlns:a16="http://schemas.microsoft.com/office/drawing/2014/main" id="{BD308757-7875-FA77-BBBC-D10FB08DE9E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26943" y="3815175"/>
              <a:ext cx="685350" cy="685350"/>
            </a:xfrm>
            <a:prstGeom prst="rect">
              <a:avLst/>
            </a:prstGeom>
          </p:spPr>
        </p:pic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2254B6E7-2C76-306B-6906-ECDEAD4B4E6C}"/>
                </a:ext>
              </a:extLst>
            </p:cNvPr>
            <p:cNvGrpSpPr/>
            <p:nvPr/>
          </p:nvGrpSpPr>
          <p:grpSpPr>
            <a:xfrm>
              <a:off x="6032665" y="1320117"/>
              <a:ext cx="919679" cy="772531"/>
              <a:chOff x="6032665" y="1320117"/>
              <a:chExt cx="919679" cy="772531"/>
            </a:xfrm>
          </p:grpSpPr>
          <p:sp>
            <p:nvSpPr>
              <p:cNvPr id="62" name="Oval 61">
                <a:extLst>
                  <a:ext uri="{FF2B5EF4-FFF2-40B4-BE49-F238E27FC236}">
                    <a16:creationId xmlns:a16="http://schemas.microsoft.com/office/drawing/2014/main" id="{25B70ADA-272F-4A90-3430-86CEA6232ACB}"/>
                  </a:ext>
                </a:extLst>
              </p:cNvPr>
              <p:cNvSpPr/>
              <p:nvPr/>
            </p:nvSpPr>
            <p:spPr>
              <a:xfrm>
                <a:off x="6032665" y="1320117"/>
                <a:ext cx="919679" cy="772531"/>
              </a:xfrm>
              <a:prstGeom prst="ellipse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pic>
            <p:nvPicPr>
              <p:cNvPr id="63" name="Picture 62">
                <a:extLst>
                  <a:ext uri="{FF2B5EF4-FFF2-40B4-BE49-F238E27FC236}">
                    <a16:creationId xmlns:a16="http://schemas.microsoft.com/office/drawing/2014/main" id="{2C9B6CEB-F804-9D34-A1F4-6ACDB3051F5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flipH="1">
                <a:off x="6242912" y="1465805"/>
                <a:ext cx="478614" cy="478614"/>
              </a:xfrm>
              <a:prstGeom prst="rect">
                <a:avLst/>
              </a:prstGeom>
            </p:spPr>
          </p:pic>
        </p:grp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03A3D972-FC75-FB20-AFF7-FC0C61D72F93}"/>
                </a:ext>
              </a:extLst>
            </p:cNvPr>
            <p:cNvGrpSpPr/>
            <p:nvPr/>
          </p:nvGrpSpPr>
          <p:grpSpPr>
            <a:xfrm>
              <a:off x="7579737" y="2919013"/>
              <a:ext cx="714664" cy="600318"/>
              <a:chOff x="7579737" y="2919013"/>
              <a:chExt cx="714664" cy="600318"/>
            </a:xfrm>
          </p:grpSpPr>
          <p:sp>
            <p:nvSpPr>
              <p:cNvPr id="60" name="Oval 59">
                <a:extLst>
                  <a:ext uri="{FF2B5EF4-FFF2-40B4-BE49-F238E27FC236}">
                    <a16:creationId xmlns:a16="http://schemas.microsoft.com/office/drawing/2014/main" id="{7558E856-02C4-C21E-A993-66E3C1D7F28E}"/>
                  </a:ext>
                </a:extLst>
              </p:cNvPr>
              <p:cNvSpPr/>
              <p:nvPr/>
            </p:nvSpPr>
            <p:spPr>
              <a:xfrm>
                <a:off x="7579737" y="2919013"/>
                <a:ext cx="714664" cy="600318"/>
              </a:xfrm>
              <a:prstGeom prst="ellipse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pic>
            <p:nvPicPr>
              <p:cNvPr id="61" name="Picture 60">
                <a:extLst>
                  <a:ext uri="{FF2B5EF4-FFF2-40B4-BE49-F238E27FC236}">
                    <a16:creationId xmlns:a16="http://schemas.microsoft.com/office/drawing/2014/main" id="{99BEAB3C-B910-6132-46AD-D491C442B3F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flipH="1">
                <a:off x="7727335" y="3009438"/>
                <a:ext cx="419467" cy="419467"/>
              </a:xfrm>
              <a:prstGeom prst="rect">
                <a:avLst/>
              </a:prstGeom>
            </p:spPr>
          </p:pic>
        </p:grp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9BA74751-352F-9B5D-28EB-23EB8A62DE7D}"/>
                </a:ext>
              </a:extLst>
            </p:cNvPr>
            <p:cNvGrpSpPr/>
            <p:nvPr/>
          </p:nvGrpSpPr>
          <p:grpSpPr>
            <a:xfrm>
              <a:off x="6595012" y="2995200"/>
              <a:ext cx="714664" cy="600318"/>
              <a:chOff x="7579737" y="2919013"/>
              <a:chExt cx="714664" cy="600318"/>
            </a:xfrm>
          </p:grpSpPr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DAC85617-EA2A-FD79-4345-6673B7BBC1F5}"/>
                  </a:ext>
                </a:extLst>
              </p:cNvPr>
              <p:cNvSpPr/>
              <p:nvPr/>
            </p:nvSpPr>
            <p:spPr>
              <a:xfrm>
                <a:off x="7579737" y="2919013"/>
                <a:ext cx="714664" cy="600318"/>
              </a:xfrm>
              <a:prstGeom prst="ellipse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pic>
            <p:nvPicPr>
              <p:cNvPr id="59" name="Picture 58">
                <a:extLst>
                  <a:ext uri="{FF2B5EF4-FFF2-40B4-BE49-F238E27FC236}">
                    <a16:creationId xmlns:a16="http://schemas.microsoft.com/office/drawing/2014/main" id="{DC9A0B34-B098-8F33-3B72-01E2E689C80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flipH="1">
                <a:off x="7727335" y="3009438"/>
                <a:ext cx="419467" cy="419467"/>
              </a:xfrm>
              <a:prstGeom prst="rect">
                <a:avLst/>
              </a:prstGeom>
            </p:spPr>
          </p:pic>
        </p:grp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CB0A59B1-40AB-4896-DB76-E70660692D51}"/>
                </a:ext>
              </a:extLst>
            </p:cNvPr>
            <p:cNvGrpSpPr/>
            <p:nvPr/>
          </p:nvGrpSpPr>
          <p:grpSpPr>
            <a:xfrm>
              <a:off x="7625944" y="3780880"/>
              <a:ext cx="714664" cy="600318"/>
              <a:chOff x="7579737" y="2919013"/>
              <a:chExt cx="714664" cy="600318"/>
            </a:xfrm>
          </p:grpSpPr>
          <p:sp>
            <p:nvSpPr>
              <p:cNvPr id="56" name="Oval 55">
                <a:extLst>
                  <a:ext uri="{FF2B5EF4-FFF2-40B4-BE49-F238E27FC236}">
                    <a16:creationId xmlns:a16="http://schemas.microsoft.com/office/drawing/2014/main" id="{1294AEE6-9E52-3634-A7F5-D2A35F471AED}"/>
                  </a:ext>
                </a:extLst>
              </p:cNvPr>
              <p:cNvSpPr/>
              <p:nvPr/>
            </p:nvSpPr>
            <p:spPr>
              <a:xfrm>
                <a:off x="7579737" y="2919013"/>
                <a:ext cx="714664" cy="600318"/>
              </a:xfrm>
              <a:prstGeom prst="ellipse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pic>
            <p:nvPicPr>
              <p:cNvPr id="57" name="Picture 56">
                <a:extLst>
                  <a:ext uri="{FF2B5EF4-FFF2-40B4-BE49-F238E27FC236}">
                    <a16:creationId xmlns:a16="http://schemas.microsoft.com/office/drawing/2014/main" id="{D1CE2EDF-12A1-A57D-3855-3A97BB4C91A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flipH="1">
                <a:off x="7727335" y="3009438"/>
                <a:ext cx="419467" cy="419467"/>
              </a:xfrm>
              <a:prstGeom prst="rect">
                <a:avLst/>
              </a:prstGeom>
            </p:spPr>
          </p:pic>
        </p:grp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D1285D00-8B37-8E15-E1ED-0BF6C47809FB}"/>
                </a:ext>
              </a:extLst>
            </p:cNvPr>
            <p:cNvGrpSpPr/>
            <p:nvPr/>
          </p:nvGrpSpPr>
          <p:grpSpPr>
            <a:xfrm>
              <a:off x="5046843" y="2402034"/>
              <a:ext cx="1222464" cy="1026871"/>
              <a:chOff x="5046843" y="2402034"/>
              <a:chExt cx="1222464" cy="1026871"/>
            </a:xfrm>
          </p:grpSpPr>
          <p:sp>
            <p:nvSpPr>
              <p:cNvPr id="53" name="Oval 52">
                <a:extLst>
                  <a:ext uri="{FF2B5EF4-FFF2-40B4-BE49-F238E27FC236}">
                    <a16:creationId xmlns:a16="http://schemas.microsoft.com/office/drawing/2014/main" id="{2411B643-1A17-52AA-A47C-5F5DEB4594C9}"/>
                  </a:ext>
                </a:extLst>
              </p:cNvPr>
              <p:cNvSpPr/>
              <p:nvPr/>
            </p:nvSpPr>
            <p:spPr>
              <a:xfrm>
                <a:off x="5046843" y="2402034"/>
                <a:ext cx="1222464" cy="1026871"/>
              </a:xfrm>
              <a:prstGeom prst="ellipse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pic>
            <p:nvPicPr>
              <p:cNvPr id="54" name="Picture 53">
                <a:extLst>
                  <a:ext uri="{FF2B5EF4-FFF2-40B4-BE49-F238E27FC236}">
                    <a16:creationId xmlns:a16="http://schemas.microsoft.com/office/drawing/2014/main" id="{8E40EF12-DCAD-51FC-6D80-09FFE3355A7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664290" y="2499286"/>
                <a:ext cx="493365" cy="493365"/>
              </a:xfrm>
              <a:prstGeom prst="rect">
                <a:avLst/>
              </a:prstGeom>
            </p:spPr>
          </p:pic>
          <p:pic>
            <p:nvPicPr>
              <p:cNvPr id="55" name="Picture 54">
                <a:extLst>
                  <a:ext uri="{FF2B5EF4-FFF2-40B4-BE49-F238E27FC236}">
                    <a16:creationId xmlns:a16="http://schemas.microsoft.com/office/drawing/2014/main" id="{8E774DD8-250A-0F8A-87CE-E94D832898C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flipH="1">
                <a:off x="5213128" y="2819315"/>
                <a:ext cx="502288" cy="502288"/>
              </a:xfrm>
              <a:prstGeom prst="rect">
                <a:avLst/>
              </a:prstGeom>
            </p:spPr>
          </p:pic>
        </p:grpSp>
      </p:grpSp>
      <p:sp>
        <p:nvSpPr>
          <p:cNvPr id="66" name="Content Placeholder 2">
            <a:extLst>
              <a:ext uri="{FF2B5EF4-FFF2-40B4-BE49-F238E27FC236}">
                <a16:creationId xmlns:a16="http://schemas.microsoft.com/office/drawing/2014/main" id="{098C64EE-D029-5874-87F1-FCB8CD6D51A5}"/>
              </a:ext>
            </a:extLst>
          </p:cNvPr>
          <p:cNvSpPr txBox="1">
            <a:spLocks/>
          </p:cNvSpPr>
          <p:nvPr/>
        </p:nvSpPr>
        <p:spPr>
          <a:xfrm>
            <a:off x="82493" y="1235470"/>
            <a:ext cx="5334324" cy="355583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AU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Minimum set formulation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AU" sz="3200" b="0" i="0" u="sng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Objective</a:t>
            </a:r>
            <a:r>
              <a:rPr kumimoji="0" lang="en-AU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: min. total cost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AU" sz="3200" b="0" i="0" u="sng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Constraints</a:t>
            </a:r>
            <a:r>
              <a:rPr kumimoji="0" lang="en-AU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: meet all goals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AU" sz="3200" b="0" i="0" u="sng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Cost:</a:t>
            </a:r>
            <a:r>
              <a:rPr kumimoji="0" lang="en-AU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each island costs $1</a:t>
            </a:r>
            <a:endParaRPr kumimoji="0" lang="en-AU" sz="3200" b="0" i="0" u="sng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AU" sz="3200" b="0" i="0" u="sng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Targets:</a:t>
            </a:r>
            <a:r>
              <a:rPr kumimoji="0" lang="en-AU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protect ≥1 population for each species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70CDEA8-2735-57FB-63CF-FB983ED221D5}"/>
              </a:ext>
            </a:extLst>
          </p:cNvPr>
          <p:cNvSpPr txBox="1"/>
          <p:nvPr/>
        </p:nvSpPr>
        <p:spPr>
          <a:xfrm>
            <a:off x="5300568" y="1545191"/>
            <a:ext cx="513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>
                <a:solidFill>
                  <a:schemeClr val="bg1"/>
                </a:solidFill>
              </a:rPr>
              <a:t>$1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EE9309C-4029-C118-D798-DA66E1EB232D}"/>
              </a:ext>
            </a:extLst>
          </p:cNvPr>
          <p:cNvSpPr txBox="1"/>
          <p:nvPr/>
        </p:nvSpPr>
        <p:spPr>
          <a:xfrm>
            <a:off x="6507665" y="1527540"/>
            <a:ext cx="513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>
                <a:solidFill>
                  <a:schemeClr val="bg1"/>
                </a:solidFill>
              </a:rPr>
              <a:t>$1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4CAE64-9BE7-65CC-1E17-C0862C4976E7}"/>
              </a:ext>
            </a:extLst>
          </p:cNvPr>
          <p:cNvSpPr txBox="1"/>
          <p:nvPr/>
        </p:nvSpPr>
        <p:spPr>
          <a:xfrm>
            <a:off x="7651847" y="1564542"/>
            <a:ext cx="513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>
                <a:solidFill>
                  <a:schemeClr val="bg1"/>
                </a:solidFill>
              </a:rPr>
              <a:t>$1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0AD28C-1925-BF45-16E5-134D7D11358D}"/>
              </a:ext>
            </a:extLst>
          </p:cNvPr>
          <p:cNvSpPr txBox="1"/>
          <p:nvPr/>
        </p:nvSpPr>
        <p:spPr>
          <a:xfrm>
            <a:off x="5387789" y="3481511"/>
            <a:ext cx="513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>
                <a:solidFill>
                  <a:schemeClr val="bg1"/>
                </a:solidFill>
              </a:rPr>
              <a:t>$1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9506A1-4071-3DC4-E18A-A4E14BF2E9C4}"/>
              </a:ext>
            </a:extLst>
          </p:cNvPr>
          <p:cNvSpPr txBox="1"/>
          <p:nvPr/>
        </p:nvSpPr>
        <p:spPr>
          <a:xfrm>
            <a:off x="5690354" y="2583640"/>
            <a:ext cx="513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>
                <a:solidFill>
                  <a:schemeClr val="bg1"/>
                </a:solidFill>
              </a:rPr>
              <a:t>$1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975111-E40F-E267-B43B-8E936C7CE57A}"/>
              </a:ext>
            </a:extLst>
          </p:cNvPr>
          <p:cNvSpPr txBox="1"/>
          <p:nvPr/>
        </p:nvSpPr>
        <p:spPr>
          <a:xfrm>
            <a:off x="7876844" y="2721916"/>
            <a:ext cx="513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>
                <a:solidFill>
                  <a:schemeClr val="bg1"/>
                </a:solidFill>
              </a:rPr>
              <a:t>$1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96DD3C8-95BC-37FD-D07B-4CFFA9D59F24}"/>
              </a:ext>
            </a:extLst>
          </p:cNvPr>
          <p:cNvSpPr txBox="1"/>
          <p:nvPr/>
        </p:nvSpPr>
        <p:spPr>
          <a:xfrm>
            <a:off x="7188890" y="2746868"/>
            <a:ext cx="513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>
                <a:solidFill>
                  <a:schemeClr val="bg1"/>
                </a:solidFill>
              </a:rPr>
              <a:t>$1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D0C0B09-9B4E-DB9A-49D8-34985BA2DCB0}"/>
              </a:ext>
            </a:extLst>
          </p:cNvPr>
          <p:cNvSpPr txBox="1"/>
          <p:nvPr/>
        </p:nvSpPr>
        <p:spPr>
          <a:xfrm>
            <a:off x="6776115" y="4033910"/>
            <a:ext cx="513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>
                <a:solidFill>
                  <a:schemeClr val="bg1"/>
                </a:solidFill>
              </a:rPr>
              <a:t>$1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97839E8-A9E1-CDAA-9577-A257C18C66FF}"/>
              </a:ext>
            </a:extLst>
          </p:cNvPr>
          <p:cNvSpPr txBox="1"/>
          <p:nvPr/>
        </p:nvSpPr>
        <p:spPr>
          <a:xfrm>
            <a:off x="7895351" y="3959339"/>
            <a:ext cx="513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>
                <a:solidFill>
                  <a:schemeClr val="bg1"/>
                </a:solidFill>
              </a:rPr>
              <a:t>$1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9774443E-1C18-B286-786C-D3D10767FF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584" y="72843"/>
            <a:ext cx="8229600" cy="857250"/>
          </a:xfr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4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Spatial optimization</a:t>
            </a:r>
          </a:p>
        </p:txBody>
      </p:sp>
    </p:spTree>
    <p:extLst>
      <p:ext uri="{BB962C8B-B14F-4D97-AF65-F5344CB8AC3E}">
        <p14:creationId xmlns:p14="http://schemas.microsoft.com/office/powerpoint/2010/main" val="2048610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561F8A90-6FDB-CD0B-9B5F-EB567ECE28A0}"/>
              </a:ext>
            </a:extLst>
          </p:cNvPr>
          <p:cNvGrpSpPr/>
          <p:nvPr/>
        </p:nvGrpSpPr>
        <p:grpSpPr>
          <a:xfrm>
            <a:off x="5303520" y="1527540"/>
            <a:ext cx="3689940" cy="2947710"/>
            <a:chOff x="4209306" y="1245600"/>
            <a:chExt cx="4380294" cy="3499200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C97598E9-C3D4-AADB-2BB4-BF672F050927}"/>
                </a:ext>
              </a:extLst>
            </p:cNvPr>
            <p:cNvSpPr/>
            <p:nvPr/>
          </p:nvSpPr>
          <p:spPr>
            <a:xfrm>
              <a:off x="4209306" y="1245600"/>
              <a:ext cx="4380294" cy="349920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571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4CC8FCF0-BBEF-974E-EC52-6992E5E617EE}"/>
                </a:ext>
              </a:extLst>
            </p:cNvPr>
            <p:cNvSpPr/>
            <p:nvPr/>
          </p:nvSpPr>
          <p:spPr>
            <a:xfrm>
              <a:off x="7162077" y="1522519"/>
              <a:ext cx="1204677" cy="1011929"/>
            </a:xfrm>
            <a:prstGeom prst="ellipse">
              <a:avLst/>
            </a:prstGeom>
            <a:solidFill>
              <a:srgbClr val="92D050"/>
            </a:solidFill>
            <a:ln w="76200"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pic>
          <p:nvPicPr>
            <p:cNvPr id="40" name="Picture 39">
              <a:extLst>
                <a:ext uri="{FF2B5EF4-FFF2-40B4-BE49-F238E27FC236}">
                  <a16:creationId xmlns:a16="http://schemas.microsoft.com/office/drawing/2014/main" id="{8228D49B-DFC8-A335-6B90-DA2E7AB942F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34149" y="1588402"/>
              <a:ext cx="470109" cy="470109"/>
            </a:xfrm>
            <a:prstGeom prst="rect">
              <a:avLst/>
            </a:prstGeom>
          </p:spPr>
        </p:pic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63E7B824-FF0C-E89C-5EBF-A5C944AC1E0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86046" y="1844422"/>
              <a:ext cx="512315" cy="512315"/>
            </a:xfrm>
            <a:prstGeom prst="rect">
              <a:avLst/>
            </a:prstGeom>
          </p:spPr>
        </p:pic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73B28AF2-9755-3931-0CFF-CE769492F394}"/>
                </a:ext>
              </a:extLst>
            </p:cNvPr>
            <p:cNvGrpSpPr/>
            <p:nvPr/>
          </p:nvGrpSpPr>
          <p:grpSpPr>
            <a:xfrm>
              <a:off x="6257784" y="3791251"/>
              <a:ext cx="785385" cy="659723"/>
              <a:chOff x="6919200" y="3362400"/>
              <a:chExt cx="785385" cy="659723"/>
            </a:xfrm>
          </p:grpSpPr>
          <p:sp>
            <p:nvSpPr>
              <p:cNvPr id="64" name="Oval 63">
                <a:extLst>
                  <a:ext uri="{FF2B5EF4-FFF2-40B4-BE49-F238E27FC236}">
                    <a16:creationId xmlns:a16="http://schemas.microsoft.com/office/drawing/2014/main" id="{D2B35B87-6C30-773E-802B-AC73ACE8AC1D}"/>
                  </a:ext>
                </a:extLst>
              </p:cNvPr>
              <p:cNvSpPr/>
              <p:nvPr/>
            </p:nvSpPr>
            <p:spPr>
              <a:xfrm>
                <a:off x="6919200" y="3362400"/>
                <a:ext cx="785385" cy="659723"/>
              </a:xfrm>
              <a:prstGeom prst="ellipse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pic>
            <p:nvPicPr>
              <p:cNvPr id="65" name="Picture 64">
                <a:extLst>
                  <a:ext uri="{FF2B5EF4-FFF2-40B4-BE49-F238E27FC236}">
                    <a16:creationId xmlns:a16="http://schemas.microsoft.com/office/drawing/2014/main" id="{3856C55A-9FD3-F576-D6A1-2F973C77BCB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082552" y="3465648"/>
                <a:ext cx="472932" cy="472932"/>
              </a:xfrm>
              <a:prstGeom prst="rect">
                <a:avLst/>
              </a:prstGeom>
            </p:spPr>
          </p:pic>
        </p:grp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56C514C6-F31B-C746-B18E-3BD8551A8F13}"/>
                </a:ext>
              </a:extLst>
            </p:cNvPr>
            <p:cNvSpPr/>
            <p:nvPr/>
          </p:nvSpPr>
          <p:spPr>
            <a:xfrm>
              <a:off x="4426942" y="1508740"/>
              <a:ext cx="1037330" cy="871357"/>
            </a:xfrm>
            <a:prstGeom prst="ellipse">
              <a:avLst/>
            </a:prstGeom>
            <a:solidFill>
              <a:srgbClr val="92D050"/>
            </a:solidFill>
            <a:ln w="76200"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pic>
          <p:nvPicPr>
            <p:cNvPr id="44" name="Picture 43">
              <a:extLst>
                <a:ext uri="{FF2B5EF4-FFF2-40B4-BE49-F238E27FC236}">
                  <a16:creationId xmlns:a16="http://schemas.microsoft.com/office/drawing/2014/main" id="{1507FD86-A81E-4822-8E91-3FE7AAB4A24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4871870" y="1568024"/>
              <a:ext cx="449100" cy="449100"/>
            </a:xfrm>
            <a:prstGeom prst="rect">
              <a:avLst/>
            </a:prstGeom>
          </p:spPr>
        </p:pic>
        <p:pic>
          <p:nvPicPr>
            <p:cNvPr id="45" name="Picture 44">
              <a:extLst>
                <a:ext uri="{FF2B5EF4-FFF2-40B4-BE49-F238E27FC236}">
                  <a16:creationId xmlns:a16="http://schemas.microsoft.com/office/drawing/2014/main" id="{A1ADE848-9506-14C2-79B9-2FCFBAA4CB5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4494864" y="1872216"/>
              <a:ext cx="419467" cy="419467"/>
            </a:xfrm>
            <a:prstGeom prst="rect">
              <a:avLst/>
            </a:prstGeom>
          </p:spPr>
        </p:pic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88B21F6A-D9A6-33EB-7E12-F569FB25C504}"/>
                </a:ext>
              </a:extLst>
            </p:cNvPr>
            <p:cNvSpPr/>
            <p:nvPr/>
          </p:nvSpPr>
          <p:spPr>
            <a:xfrm>
              <a:off x="4708749" y="3653556"/>
              <a:ext cx="1098619" cy="935114"/>
            </a:xfrm>
            <a:prstGeom prst="ellipse">
              <a:avLst/>
            </a:prstGeom>
            <a:solidFill>
              <a:srgbClr val="92D050"/>
            </a:solidFill>
            <a:ln w="76200">
              <a:solidFill>
                <a:srgbClr val="FF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AU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pic>
          <p:nvPicPr>
            <p:cNvPr id="47" name="Picture 46">
              <a:extLst>
                <a:ext uri="{FF2B5EF4-FFF2-40B4-BE49-F238E27FC236}">
                  <a16:creationId xmlns:a16="http://schemas.microsoft.com/office/drawing/2014/main" id="{BD308757-7875-FA77-BBBC-D10FB08DE9E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26943" y="3815175"/>
              <a:ext cx="685350" cy="685350"/>
            </a:xfrm>
            <a:prstGeom prst="rect">
              <a:avLst/>
            </a:prstGeom>
          </p:spPr>
        </p:pic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2254B6E7-2C76-306B-6906-ECDEAD4B4E6C}"/>
                </a:ext>
              </a:extLst>
            </p:cNvPr>
            <p:cNvGrpSpPr/>
            <p:nvPr/>
          </p:nvGrpSpPr>
          <p:grpSpPr>
            <a:xfrm>
              <a:off x="6032665" y="1320117"/>
              <a:ext cx="919679" cy="772531"/>
              <a:chOff x="6032665" y="1320117"/>
              <a:chExt cx="919679" cy="772531"/>
            </a:xfrm>
          </p:grpSpPr>
          <p:sp>
            <p:nvSpPr>
              <p:cNvPr id="62" name="Oval 61">
                <a:extLst>
                  <a:ext uri="{FF2B5EF4-FFF2-40B4-BE49-F238E27FC236}">
                    <a16:creationId xmlns:a16="http://schemas.microsoft.com/office/drawing/2014/main" id="{25B70ADA-272F-4A90-3430-86CEA6232ACB}"/>
                  </a:ext>
                </a:extLst>
              </p:cNvPr>
              <p:cNvSpPr/>
              <p:nvPr/>
            </p:nvSpPr>
            <p:spPr>
              <a:xfrm>
                <a:off x="6032665" y="1320117"/>
                <a:ext cx="919679" cy="772531"/>
              </a:xfrm>
              <a:prstGeom prst="ellipse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pic>
            <p:nvPicPr>
              <p:cNvPr id="63" name="Picture 62">
                <a:extLst>
                  <a:ext uri="{FF2B5EF4-FFF2-40B4-BE49-F238E27FC236}">
                    <a16:creationId xmlns:a16="http://schemas.microsoft.com/office/drawing/2014/main" id="{2C9B6CEB-F804-9D34-A1F4-6ACDB3051F5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flipH="1">
                <a:off x="6242912" y="1465805"/>
                <a:ext cx="478614" cy="478614"/>
              </a:xfrm>
              <a:prstGeom prst="rect">
                <a:avLst/>
              </a:prstGeom>
            </p:spPr>
          </p:pic>
        </p:grp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03A3D972-FC75-FB20-AFF7-FC0C61D72F93}"/>
                </a:ext>
              </a:extLst>
            </p:cNvPr>
            <p:cNvGrpSpPr/>
            <p:nvPr/>
          </p:nvGrpSpPr>
          <p:grpSpPr>
            <a:xfrm>
              <a:off x="7579737" y="2919013"/>
              <a:ext cx="714664" cy="600318"/>
              <a:chOff x="7579737" y="2919013"/>
              <a:chExt cx="714664" cy="600318"/>
            </a:xfrm>
          </p:grpSpPr>
          <p:sp>
            <p:nvSpPr>
              <p:cNvPr id="60" name="Oval 59">
                <a:extLst>
                  <a:ext uri="{FF2B5EF4-FFF2-40B4-BE49-F238E27FC236}">
                    <a16:creationId xmlns:a16="http://schemas.microsoft.com/office/drawing/2014/main" id="{7558E856-02C4-C21E-A993-66E3C1D7F28E}"/>
                  </a:ext>
                </a:extLst>
              </p:cNvPr>
              <p:cNvSpPr/>
              <p:nvPr/>
            </p:nvSpPr>
            <p:spPr>
              <a:xfrm>
                <a:off x="7579737" y="2919013"/>
                <a:ext cx="714664" cy="600318"/>
              </a:xfrm>
              <a:prstGeom prst="ellipse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pic>
            <p:nvPicPr>
              <p:cNvPr id="61" name="Picture 60">
                <a:extLst>
                  <a:ext uri="{FF2B5EF4-FFF2-40B4-BE49-F238E27FC236}">
                    <a16:creationId xmlns:a16="http://schemas.microsoft.com/office/drawing/2014/main" id="{99BEAB3C-B910-6132-46AD-D491C442B3F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flipH="1">
                <a:off x="7727335" y="3009438"/>
                <a:ext cx="419467" cy="419467"/>
              </a:xfrm>
              <a:prstGeom prst="rect">
                <a:avLst/>
              </a:prstGeom>
            </p:spPr>
          </p:pic>
        </p:grpSp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9BA74751-352F-9B5D-28EB-23EB8A62DE7D}"/>
                </a:ext>
              </a:extLst>
            </p:cNvPr>
            <p:cNvGrpSpPr/>
            <p:nvPr/>
          </p:nvGrpSpPr>
          <p:grpSpPr>
            <a:xfrm>
              <a:off x="6595012" y="2995200"/>
              <a:ext cx="714664" cy="600318"/>
              <a:chOff x="7579737" y="2919013"/>
              <a:chExt cx="714664" cy="600318"/>
            </a:xfrm>
          </p:grpSpPr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DAC85617-EA2A-FD79-4345-6673B7BBC1F5}"/>
                  </a:ext>
                </a:extLst>
              </p:cNvPr>
              <p:cNvSpPr/>
              <p:nvPr/>
            </p:nvSpPr>
            <p:spPr>
              <a:xfrm>
                <a:off x="7579737" y="2919013"/>
                <a:ext cx="714664" cy="600318"/>
              </a:xfrm>
              <a:prstGeom prst="ellipse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pic>
            <p:nvPicPr>
              <p:cNvPr id="59" name="Picture 58">
                <a:extLst>
                  <a:ext uri="{FF2B5EF4-FFF2-40B4-BE49-F238E27FC236}">
                    <a16:creationId xmlns:a16="http://schemas.microsoft.com/office/drawing/2014/main" id="{DC9A0B34-B098-8F33-3B72-01E2E689C80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flipH="1">
                <a:off x="7727335" y="3009438"/>
                <a:ext cx="419467" cy="419467"/>
              </a:xfrm>
              <a:prstGeom prst="rect">
                <a:avLst/>
              </a:prstGeom>
            </p:spPr>
          </p:pic>
        </p:grp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CB0A59B1-40AB-4896-DB76-E70660692D51}"/>
                </a:ext>
              </a:extLst>
            </p:cNvPr>
            <p:cNvGrpSpPr/>
            <p:nvPr/>
          </p:nvGrpSpPr>
          <p:grpSpPr>
            <a:xfrm>
              <a:off x="7625944" y="3780880"/>
              <a:ext cx="714664" cy="600318"/>
              <a:chOff x="7579737" y="2919013"/>
              <a:chExt cx="714664" cy="600318"/>
            </a:xfrm>
          </p:grpSpPr>
          <p:sp>
            <p:nvSpPr>
              <p:cNvPr id="56" name="Oval 55">
                <a:extLst>
                  <a:ext uri="{FF2B5EF4-FFF2-40B4-BE49-F238E27FC236}">
                    <a16:creationId xmlns:a16="http://schemas.microsoft.com/office/drawing/2014/main" id="{1294AEE6-9E52-3634-A7F5-D2A35F471AED}"/>
                  </a:ext>
                </a:extLst>
              </p:cNvPr>
              <p:cNvSpPr/>
              <p:nvPr/>
            </p:nvSpPr>
            <p:spPr>
              <a:xfrm>
                <a:off x="7579737" y="2919013"/>
                <a:ext cx="714664" cy="600318"/>
              </a:xfrm>
              <a:prstGeom prst="ellipse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pic>
            <p:nvPicPr>
              <p:cNvPr id="57" name="Picture 56">
                <a:extLst>
                  <a:ext uri="{FF2B5EF4-FFF2-40B4-BE49-F238E27FC236}">
                    <a16:creationId xmlns:a16="http://schemas.microsoft.com/office/drawing/2014/main" id="{D1CE2EDF-12A1-A57D-3855-3A97BB4C91A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flipH="1">
                <a:off x="7727335" y="3009438"/>
                <a:ext cx="419467" cy="419467"/>
              </a:xfrm>
              <a:prstGeom prst="rect">
                <a:avLst/>
              </a:prstGeom>
            </p:spPr>
          </p:pic>
        </p:grp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D1285D00-8B37-8E15-E1ED-0BF6C47809FB}"/>
                </a:ext>
              </a:extLst>
            </p:cNvPr>
            <p:cNvGrpSpPr/>
            <p:nvPr/>
          </p:nvGrpSpPr>
          <p:grpSpPr>
            <a:xfrm>
              <a:off x="5046843" y="2402034"/>
              <a:ext cx="1222464" cy="1026871"/>
              <a:chOff x="5046843" y="2402034"/>
              <a:chExt cx="1222464" cy="1026871"/>
            </a:xfrm>
          </p:grpSpPr>
          <p:sp>
            <p:nvSpPr>
              <p:cNvPr id="53" name="Oval 52">
                <a:extLst>
                  <a:ext uri="{FF2B5EF4-FFF2-40B4-BE49-F238E27FC236}">
                    <a16:creationId xmlns:a16="http://schemas.microsoft.com/office/drawing/2014/main" id="{2411B643-1A17-52AA-A47C-5F5DEB4594C9}"/>
                  </a:ext>
                </a:extLst>
              </p:cNvPr>
              <p:cNvSpPr/>
              <p:nvPr/>
            </p:nvSpPr>
            <p:spPr>
              <a:xfrm>
                <a:off x="5046843" y="2402034"/>
                <a:ext cx="1222464" cy="1026871"/>
              </a:xfrm>
              <a:prstGeom prst="ellipse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pic>
            <p:nvPicPr>
              <p:cNvPr id="54" name="Picture 53">
                <a:extLst>
                  <a:ext uri="{FF2B5EF4-FFF2-40B4-BE49-F238E27FC236}">
                    <a16:creationId xmlns:a16="http://schemas.microsoft.com/office/drawing/2014/main" id="{8E40EF12-DCAD-51FC-6D80-09FFE3355A7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664290" y="2499286"/>
                <a:ext cx="493365" cy="493365"/>
              </a:xfrm>
              <a:prstGeom prst="rect">
                <a:avLst/>
              </a:prstGeom>
            </p:spPr>
          </p:pic>
          <p:pic>
            <p:nvPicPr>
              <p:cNvPr id="55" name="Picture 54">
                <a:extLst>
                  <a:ext uri="{FF2B5EF4-FFF2-40B4-BE49-F238E27FC236}">
                    <a16:creationId xmlns:a16="http://schemas.microsoft.com/office/drawing/2014/main" id="{8E774DD8-250A-0F8A-87CE-E94D832898C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flipH="1">
                <a:off x="5213128" y="2819315"/>
                <a:ext cx="502288" cy="502288"/>
              </a:xfrm>
              <a:prstGeom prst="rect">
                <a:avLst/>
              </a:prstGeom>
            </p:spPr>
          </p:pic>
        </p:grp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E3E591-4175-A365-29BA-9C120CD2AD2E}"/>
              </a:ext>
            </a:extLst>
          </p:cNvPr>
          <p:cNvSpPr txBox="1">
            <a:spLocks/>
          </p:cNvSpPr>
          <p:nvPr/>
        </p:nvSpPr>
        <p:spPr>
          <a:xfrm>
            <a:off x="82493" y="1235470"/>
            <a:ext cx="5334324" cy="355583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AU" sz="3200" b="0" i="0" u="sng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Objective</a:t>
            </a:r>
            <a:r>
              <a:rPr kumimoji="0" lang="en-AU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: min. total cost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AU" sz="3200" b="0" i="0" u="sng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Constraints</a:t>
            </a:r>
            <a:r>
              <a:rPr kumimoji="0" lang="en-AU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: meet all goals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AU" sz="3200" b="0" i="0" u="sng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Targets:</a:t>
            </a:r>
            <a:r>
              <a:rPr kumimoji="0" lang="en-AU" sz="3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protect ≥1 population for each species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C7AA3DE-9710-7410-E8B1-A0ECF3002950}"/>
              </a:ext>
            </a:extLst>
          </p:cNvPr>
          <p:cNvSpPr txBox="1"/>
          <p:nvPr/>
        </p:nvSpPr>
        <p:spPr>
          <a:xfrm>
            <a:off x="327667" y="3758952"/>
            <a:ext cx="49353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NZ" sz="32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Optimal objective value = $3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DC68DB-BD13-0055-CB93-512B595F7AA9}"/>
              </a:ext>
            </a:extLst>
          </p:cNvPr>
          <p:cNvSpPr txBox="1"/>
          <p:nvPr/>
        </p:nvSpPr>
        <p:spPr>
          <a:xfrm>
            <a:off x="5300568" y="1545191"/>
            <a:ext cx="513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>
                <a:solidFill>
                  <a:schemeClr val="bg1"/>
                </a:solidFill>
              </a:rPr>
              <a:t>$1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C79097-9B1F-6A9E-1013-00E61839929C}"/>
              </a:ext>
            </a:extLst>
          </p:cNvPr>
          <p:cNvSpPr txBox="1"/>
          <p:nvPr/>
        </p:nvSpPr>
        <p:spPr>
          <a:xfrm>
            <a:off x="6507665" y="1527540"/>
            <a:ext cx="513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>
                <a:solidFill>
                  <a:schemeClr val="bg1"/>
                </a:solidFill>
              </a:rPr>
              <a:t>$1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492D83D-9908-44C6-BD26-2CD6707757EB}"/>
              </a:ext>
            </a:extLst>
          </p:cNvPr>
          <p:cNvSpPr txBox="1"/>
          <p:nvPr/>
        </p:nvSpPr>
        <p:spPr>
          <a:xfrm>
            <a:off x="7651847" y="1564542"/>
            <a:ext cx="513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>
                <a:solidFill>
                  <a:schemeClr val="bg1"/>
                </a:solidFill>
              </a:rPr>
              <a:t>$1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FE04F5-4607-3C43-D0D6-C8E08E62D162}"/>
              </a:ext>
            </a:extLst>
          </p:cNvPr>
          <p:cNvSpPr txBox="1"/>
          <p:nvPr/>
        </p:nvSpPr>
        <p:spPr>
          <a:xfrm>
            <a:off x="5387789" y="3481511"/>
            <a:ext cx="513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>
                <a:solidFill>
                  <a:schemeClr val="bg1"/>
                </a:solidFill>
              </a:rPr>
              <a:t>$1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9F8992-1AEC-E894-3C29-F1343AED11C2}"/>
              </a:ext>
            </a:extLst>
          </p:cNvPr>
          <p:cNvSpPr txBox="1"/>
          <p:nvPr/>
        </p:nvSpPr>
        <p:spPr>
          <a:xfrm>
            <a:off x="5690354" y="2583640"/>
            <a:ext cx="513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>
                <a:solidFill>
                  <a:schemeClr val="bg1"/>
                </a:solidFill>
              </a:rPr>
              <a:t>$1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B068379-9B56-E8FB-6961-0C05317D5871}"/>
              </a:ext>
            </a:extLst>
          </p:cNvPr>
          <p:cNvSpPr txBox="1"/>
          <p:nvPr/>
        </p:nvSpPr>
        <p:spPr>
          <a:xfrm>
            <a:off x="7876844" y="2721916"/>
            <a:ext cx="513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>
                <a:solidFill>
                  <a:schemeClr val="bg1"/>
                </a:solidFill>
              </a:rPr>
              <a:t>$1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518E73-4580-0839-112B-D246CA0D0275}"/>
              </a:ext>
            </a:extLst>
          </p:cNvPr>
          <p:cNvSpPr txBox="1"/>
          <p:nvPr/>
        </p:nvSpPr>
        <p:spPr>
          <a:xfrm>
            <a:off x="7188890" y="2746868"/>
            <a:ext cx="513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>
                <a:solidFill>
                  <a:schemeClr val="bg1"/>
                </a:solidFill>
              </a:rPr>
              <a:t>$1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650D7D4-2099-E1DC-EE0C-05111D6628DA}"/>
              </a:ext>
            </a:extLst>
          </p:cNvPr>
          <p:cNvSpPr txBox="1"/>
          <p:nvPr/>
        </p:nvSpPr>
        <p:spPr>
          <a:xfrm>
            <a:off x="6776115" y="4033910"/>
            <a:ext cx="513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>
                <a:solidFill>
                  <a:schemeClr val="bg1"/>
                </a:solidFill>
              </a:rPr>
              <a:t>$1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561CD29-FD74-B95F-98FF-C60309612EA2}"/>
              </a:ext>
            </a:extLst>
          </p:cNvPr>
          <p:cNvSpPr txBox="1"/>
          <p:nvPr/>
        </p:nvSpPr>
        <p:spPr>
          <a:xfrm>
            <a:off x="7895351" y="3959339"/>
            <a:ext cx="513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>
                <a:solidFill>
                  <a:schemeClr val="bg1"/>
                </a:solidFill>
              </a:rPr>
              <a:t>$1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550CF156-3D39-70FB-C255-4EC2C041D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584" y="72843"/>
            <a:ext cx="8229600" cy="857250"/>
          </a:xfrm>
        </p:spPr>
        <p:txBody>
          <a:bodyPr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4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Spatial optimization</a:t>
            </a:r>
          </a:p>
        </p:txBody>
      </p:sp>
    </p:spTree>
    <p:extLst>
      <p:ext uri="{BB962C8B-B14F-4D97-AF65-F5344CB8AC3E}">
        <p14:creationId xmlns:p14="http://schemas.microsoft.com/office/powerpoint/2010/main" val="32058582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Picture 2" descr="logo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286" y="122445"/>
            <a:ext cx="478654" cy="5482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FF724111-8804-6057-E073-E0DDD0C7DF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710" y="-90966"/>
            <a:ext cx="2700191" cy="857250"/>
          </a:xfrm>
        </p:spPr>
        <p:txBody>
          <a:bodyPr/>
          <a:lstStyle/>
          <a:p>
            <a:r>
              <a:rPr lang="en-AU" dirty="0" err="1">
                <a:latin typeface="Arial" panose="020B0604020202020204" pitchFamily="34" charset="0"/>
                <a:cs typeface="Arial" panose="020B0604020202020204" pitchFamily="34" charset="0"/>
              </a:rPr>
              <a:t>prioritizr</a:t>
            </a:r>
            <a:endParaRPr lang="en-A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C44BC6-17AC-EC11-D40B-3FF3F2262726}"/>
              </a:ext>
            </a:extLst>
          </p:cNvPr>
          <p:cNvSpPr txBox="1"/>
          <p:nvPr/>
        </p:nvSpPr>
        <p:spPr>
          <a:xfrm>
            <a:off x="163159" y="766284"/>
            <a:ext cx="428625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NZ" sz="2400" dirty="0"/>
              <a:t>Highly flexible </a:t>
            </a:r>
          </a:p>
          <a:p>
            <a:endParaRPr lang="en-NZ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NZ" sz="2400" dirty="0"/>
              <a:t>Works with broad range of spatial and non-spatial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NZ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NZ" sz="2400" dirty="0"/>
              <a:t>Leverages exact algorithm solvers for optimization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NZ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NZ" sz="2400" dirty="0"/>
              <a:t>Supports multiple actions   and zones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BD73FFB-07C4-5E1A-7FC3-FA38EC184C4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833" t="27834" r="56750" b="29907"/>
          <a:stretch/>
        </p:blipFill>
        <p:spPr>
          <a:xfrm>
            <a:off x="4595504" y="99623"/>
            <a:ext cx="2609850" cy="1205114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9C3E45C9-12FC-DC92-B004-640DB11B2C08}"/>
              </a:ext>
            </a:extLst>
          </p:cNvPr>
          <p:cNvSpPr txBox="1"/>
          <p:nvPr/>
        </p:nvSpPr>
        <p:spPr>
          <a:xfrm>
            <a:off x="7205354" y="269337"/>
            <a:ext cx="13299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NZ" dirty="0"/>
              <a:t>Jung et al. </a:t>
            </a:r>
          </a:p>
          <a:p>
            <a:pPr algn="ctr"/>
            <a:r>
              <a:rPr lang="en-NZ" dirty="0"/>
              <a:t>2021</a:t>
            </a:r>
          </a:p>
        </p:txBody>
      </p:sp>
      <p:sp>
        <p:nvSpPr>
          <p:cNvPr id="17" name="AutoShape 2" descr="Details are in the caption following the image">
            <a:extLst>
              <a:ext uri="{FF2B5EF4-FFF2-40B4-BE49-F238E27FC236}">
                <a16:creationId xmlns:a16="http://schemas.microsoft.com/office/drawing/2014/main" id="{EE9C77CA-D756-AD39-ED84-BC86862B499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NZ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4A12646-305F-9DD9-1EAC-D370F6643673}"/>
              </a:ext>
            </a:extLst>
          </p:cNvPr>
          <p:cNvSpPr txBox="1"/>
          <p:nvPr/>
        </p:nvSpPr>
        <p:spPr>
          <a:xfrm>
            <a:off x="7561629" y="3882030"/>
            <a:ext cx="13302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NZ" dirty="0"/>
              <a:t>Flower et al. </a:t>
            </a:r>
          </a:p>
          <a:p>
            <a:pPr algn="ctr"/>
            <a:r>
              <a:rPr lang="en-NZ" dirty="0"/>
              <a:t>2020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38C5A34D-A654-C028-18F0-B24B090BCAC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6083" t="14652" r="59500" b="6573"/>
          <a:stretch/>
        </p:blipFill>
        <p:spPr>
          <a:xfrm>
            <a:off x="7047676" y="1344317"/>
            <a:ext cx="1872800" cy="1942085"/>
          </a:xfrm>
          <a:prstGeom prst="rect">
            <a:avLst/>
          </a:prstGeom>
        </p:spPr>
      </p:pic>
      <p:grpSp>
        <p:nvGrpSpPr>
          <p:cNvPr id="36" name="Group 35">
            <a:extLst>
              <a:ext uri="{FF2B5EF4-FFF2-40B4-BE49-F238E27FC236}">
                <a16:creationId xmlns:a16="http://schemas.microsoft.com/office/drawing/2014/main" id="{DF7486E1-9C55-09BE-71EE-627D6280355B}"/>
              </a:ext>
            </a:extLst>
          </p:cNvPr>
          <p:cNvGrpSpPr/>
          <p:nvPr/>
        </p:nvGrpSpPr>
        <p:grpSpPr>
          <a:xfrm>
            <a:off x="4523902" y="3330652"/>
            <a:ext cx="3085826" cy="1677362"/>
            <a:chOff x="5858149" y="1403064"/>
            <a:chExt cx="3085826" cy="1677362"/>
          </a:xfrm>
        </p:grpSpPr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CBA0BA4B-A9E9-D508-1912-3A2828DB955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4190"/>
            <a:stretch/>
          </p:blipFill>
          <p:spPr>
            <a:xfrm>
              <a:off x="5858149" y="1403064"/>
              <a:ext cx="3085826" cy="1677362"/>
            </a:xfrm>
            <a:prstGeom prst="rect">
              <a:avLst/>
            </a:prstGeom>
          </p:spPr>
        </p:pic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8C48C945-4B1E-4B3E-7948-3B20584AAB7E}"/>
                </a:ext>
              </a:extLst>
            </p:cNvPr>
            <p:cNvSpPr/>
            <p:nvPr/>
          </p:nvSpPr>
          <p:spPr>
            <a:xfrm>
              <a:off x="5858149" y="2933700"/>
              <a:ext cx="999851" cy="14672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EACE8EF8-E66C-569C-30C2-FC7C18DFEB21}"/>
                </a:ext>
              </a:extLst>
            </p:cNvPr>
            <p:cNvSpPr/>
            <p:nvPr/>
          </p:nvSpPr>
          <p:spPr>
            <a:xfrm>
              <a:off x="6858001" y="2933700"/>
              <a:ext cx="928688" cy="14672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61F937FE-5649-583C-F5F1-086D0668D281}"/>
                </a:ext>
              </a:extLst>
            </p:cNvPr>
            <p:cNvSpPr/>
            <p:nvPr/>
          </p:nvSpPr>
          <p:spPr>
            <a:xfrm>
              <a:off x="7870322" y="3024188"/>
              <a:ext cx="928688" cy="5623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BCB639F4-6F03-FD30-D8F8-E77D2AF3CDD4}"/>
              </a:ext>
            </a:extLst>
          </p:cNvPr>
          <p:cNvSpPr txBox="1"/>
          <p:nvPr/>
        </p:nvSpPr>
        <p:spPr>
          <a:xfrm>
            <a:off x="5688829" y="1909622"/>
            <a:ext cx="13302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NZ" dirty="0" err="1"/>
              <a:t>Boussarie</a:t>
            </a:r>
            <a:r>
              <a:rPr lang="en-NZ" dirty="0"/>
              <a:t> </a:t>
            </a:r>
          </a:p>
          <a:p>
            <a:pPr algn="ctr"/>
            <a:r>
              <a:rPr lang="en-NZ" dirty="0"/>
              <a:t>et al. 2023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4174AFC-3EBC-A8E1-DA72-5AEDB5FEAD76}"/>
              </a:ext>
            </a:extLst>
          </p:cNvPr>
          <p:cNvSpPr txBox="1"/>
          <p:nvPr/>
        </p:nvSpPr>
        <p:spPr>
          <a:xfrm>
            <a:off x="306877" y="4723268"/>
            <a:ext cx="41127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Hanson et al. 2025, https://prioritizr.net</a:t>
            </a:r>
          </a:p>
        </p:txBody>
      </p:sp>
    </p:spTree>
    <p:extLst>
      <p:ext uri="{BB962C8B-B14F-4D97-AF65-F5344CB8AC3E}">
        <p14:creationId xmlns:p14="http://schemas.microsoft.com/office/powerpoint/2010/main" val="14794212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513C3E7C-7D78-96B9-4BC5-87FD0139EA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9723" y="77971"/>
            <a:ext cx="5026802" cy="221866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03DBE06-498E-7D05-9FE0-EAB6B65D63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8847" y="2440556"/>
            <a:ext cx="5079936" cy="2218661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7828F4FE-7286-431E-52C7-9ABA8054CB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217" y="717761"/>
            <a:ext cx="3802380" cy="4206240"/>
          </a:xfrm>
        </p:spPr>
        <p:txBody>
          <a:bodyPr>
            <a:noAutofit/>
          </a:bodyPr>
          <a:lstStyle/>
          <a:p>
            <a:r>
              <a:rPr lang="en-AU" sz="2200" dirty="0"/>
              <a:t>Identifies priority areas for conservation</a:t>
            </a:r>
          </a:p>
          <a:p>
            <a:endParaRPr lang="en-AU" sz="2200" dirty="0"/>
          </a:p>
          <a:p>
            <a:r>
              <a:rPr lang="en-AU" sz="2200" dirty="0"/>
              <a:t>Explore and resolve trade-offs between objectives</a:t>
            </a:r>
          </a:p>
          <a:p>
            <a:endParaRPr lang="en-AU" sz="2200" dirty="0"/>
          </a:p>
          <a:p>
            <a:r>
              <a:rPr lang="en-AU" sz="2200" dirty="0"/>
              <a:t>Accessible user interface</a:t>
            </a:r>
          </a:p>
          <a:p>
            <a:endParaRPr lang="en-AU" sz="2200" dirty="0"/>
          </a:p>
          <a:p>
            <a:r>
              <a:rPr lang="en-AU" sz="2200" dirty="0"/>
              <a:t>Developed in partnership by Nature Conservancy Canada and Carleton University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983BE3F-C042-622F-A637-E3DACF470CB2}"/>
              </a:ext>
            </a:extLst>
          </p:cNvPr>
          <p:cNvSpPr txBox="1"/>
          <p:nvPr/>
        </p:nvSpPr>
        <p:spPr>
          <a:xfrm>
            <a:off x="7811195" y="785606"/>
            <a:ext cx="11199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NZ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Data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0286526-471E-4758-518C-73F077FA49DA}"/>
              </a:ext>
            </a:extLst>
          </p:cNvPr>
          <p:cNvSpPr txBox="1"/>
          <p:nvPr/>
        </p:nvSpPr>
        <p:spPr>
          <a:xfrm>
            <a:off x="7247669" y="3462125"/>
            <a:ext cx="15436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NZ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+mn-ea"/>
                <a:cs typeface="+mn-cs"/>
              </a:rPr>
              <a:t>Priorities</a:t>
            </a:r>
          </a:p>
        </p:txBody>
      </p:sp>
      <p:sp>
        <p:nvSpPr>
          <p:cNvPr id="18" name="Arrow: Down 17">
            <a:extLst>
              <a:ext uri="{FF2B5EF4-FFF2-40B4-BE49-F238E27FC236}">
                <a16:creationId xmlns:a16="http://schemas.microsoft.com/office/drawing/2014/main" id="{FFD153D2-E6E8-750F-B382-C4D89196BC15}"/>
              </a:ext>
            </a:extLst>
          </p:cNvPr>
          <p:cNvSpPr/>
          <p:nvPr/>
        </p:nvSpPr>
        <p:spPr>
          <a:xfrm>
            <a:off x="7866237" y="1354356"/>
            <a:ext cx="800986" cy="2062239"/>
          </a:xfrm>
          <a:prstGeom prst="downArrow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NZ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4673B29-FC20-9FA0-B980-4EBC5D176405}"/>
              </a:ext>
            </a:extLst>
          </p:cNvPr>
          <p:cNvSpPr txBox="1">
            <a:spLocks/>
          </p:cNvSpPr>
          <p:nvPr/>
        </p:nvSpPr>
        <p:spPr>
          <a:xfrm>
            <a:off x="447395" y="-71644"/>
            <a:ext cx="3501265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Where to Work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5991E3-821B-EFB6-42BE-0B33130489B2}"/>
              </a:ext>
            </a:extLst>
          </p:cNvPr>
          <p:cNvSpPr txBox="1"/>
          <p:nvPr/>
        </p:nvSpPr>
        <p:spPr>
          <a:xfrm>
            <a:off x="6085176" y="4704747"/>
            <a:ext cx="30588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1800" dirty="0"/>
              <a:t>Free at https://ncc.carleton.ca</a:t>
            </a:r>
          </a:p>
        </p:txBody>
      </p:sp>
      <p:pic>
        <p:nvPicPr>
          <p:cNvPr id="4" name="Picture 8" descr="Nature Conservancy Canada">
            <a:extLst>
              <a:ext uri="{FF2B5EF4-FFF2-40B4-BE49-F238E27FC236}">
                <a16:creationId xmlns:a16="http://schemas.microsoft.com/office/drawing/2014/main" id="{A132CF08-680C-CD74-EA54-9461DBAA4FF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7194"/>
          <a:stretch/>
        </p:blipFill>
        <p:spPr bwMode="auto">
          <a:xfrm>
            <a:off x="85217" y="157016"/>
            <a:ext cx="468573" cy="3999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019185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8AE5CC-23DA-3FC7-95F9-844DF24611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1004" y="120240"/>
            <a:ext cx="2979240" cy="856800"/>
          </a:xfrm>
        </p:spPr>
        <p:txBody>
          <a:bodyPr/>
          <a:lstStyle/>
          <a:p>
            <a:r>
              <a:rPr lang="en-AU" b="1" dirty="0" err="1">
                <a:solidFill>
                  <a:schemeClr val="bg1"/>
                </a:solidFill>
                <a:cs typeface="Courier New" panose="02070309020205020404" pitchFamily="49" charset="0"/>
              </a:rPr>
              <a:t>restoptr</a:t>
            </a:r>
            <a:endParaRPr lang="en-NZ" b="1" dirty="0">
              <a:solidFill>
                <a:schemeClr val="bg1"/>
              </a:solidFill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F5CB00A-46C6-6228-8E4F-8341B922068C}"/>
              </a:ext>
            </a:extLst>
          </p:cNvPr>
          <p:cNvGrpSpPr/>
          <p:nvPr/>
        </p:nvGrpSpPr>
        <p:grpSpPr>
          <a:xfrm>
            <a:off x="3109491" y="434093"/>
            <a:ext cx="6746212" cy="4290060"/>
            <a:chOff x="2742593" y="708660"/>
            <a:chExt cx="6746212" cy="429006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473BDDF-FF2B-7577-5E69-E085212EDA8A}"/>
                </a:ext>
              </a:extLst>
            </p:cNvPr>
            <p:cNvSpPr/>
            <p:nvPr/>
          </p:nvSpPr>
          <p:spPr>
            <a:xfrm>
              <a:off x="3924300" y="830580"/>
              <a:ext cx="4762140" cy="416814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Z"/>
            </a:p>
          </p:txBody>
        </p:sp>
        <p:pic>
          <p:nvPicPr>
            <p:cNvPr id="3074" name="Picture 2">
              <a:extLst>
                <a:ext uri="{FF2B5EF4-FFF2-40B4-BE49-F238E27FC236}">
                  <a16:creationId xmlns:a16="http://schemas.microsoft.com/office/drawing/2014/main" id="{84F523A5-8069-AD60-F9C4-851750A6A36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42593" y="708660"/>
              <a:ext cx="6746212" cy="41681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243996BE-5A47-ACE4-B288-8C53A29F6C6D}"/>
              </a:ext>
            </a:extLst>
          </p:cNvPr>
          <p:cNvSpPr txBox="1"/>
          <p:nvPr/>
        </p:nvSpPr>
        <p:spPr>
          <a:xfrm>
            <a:off x="243840" y="984660"/>
            <a:ext cx="37338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NZ" dirty="0">
                <a:solidFill>
                  <a:schemeClr val="bg1"/>
                </a:solidFill>
              </a:rPr>
              <a:t>Identifies priority areas to restore habitat for improving connectivity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NZ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NZ" dirty="0">
                <a:solidFill>
                  <a:schemeClr val="bg1"/>
                </a:solidFill>
              </a:rPr>
              <a:t>Purpose-built for connectivity (e.g., does not support targets for multiple features)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NZ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NZ" dirty="0">
                <a:solidFill>
                  <a:schemeClr val="bg1"/>
                </a:solidFill>
              </a:rPr>
              <a:t>Supports multiple different connectivity metrics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NZ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NZ" dirty="0">
                <a:solidFill>
                  <a:schemeClr val="bg1"/>
                </a:solidFill>
              </a:rPr>
              <a:t>Prioritizations are generated based on a budget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NZ" dirty="0">
              <a:solidFill>
                <a:schemeClr val="bg1"/>
              </a:solidFill>
            </a:endParaRPr>
          </a:p>
        </p:txBody>
      </p:sp>
      <p:pic>
        <p:nvPicPr>
          <p:cNvPr id="3" name="Picture 6">
            <a:extLst>
              <a:ext uri="{FF2B5EF4-FFF2-40B4-BE49-F238E27FC236}">
                <a16:creationId xmlns:a16="http://schemas.microsoft.com/office/drawing/2014/main" id="{F30A968B-FA82-E22C-0968-C0891A4087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225" y="101668"/>
            <a:ext cx="848091" cy="8681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B2E9D49-6A8E-AB9A-BEFE-ECB2F70F3AEA}"/>
              </a:ext>
            </a:extLst>
          </p:cNvPr>
          <p:cNvSpPr txBox="1"/>
          <p:nvPr/>
        </p:nvSpPr>
        <p:spPr>
          <a:xfrm>
            <a:off x="2195633" y="4748285"/>
            <a:ext cx="70711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 err="1">
                <a:solidFill>
                  <a:schemeClr val="bg1"/>
                </a:solidFill>
              </a:rPr>
              <a:t>Justeau</a:t>
            </a:r>
            <a:r>
              <a:rPr lang="en-NZ" dirty="0">
                <a:solidFill>
                  <a:schemeClr val="bg1"/>
                </a:solidFill>
              </a:rPr>
              <a:t>-Allaire et al. 2023, https://dimitri-justeau.github.io/restoptr</a:t>
            </a:r>
          </a:p>
          <a:p>
            <a:endParaRPr lang="en-NZ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71650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8AE5CC-23DA-3FC7-95F9-844DF24611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8755" y="32174"/>
            <a:ext cx="8658725" cy="893841"/>
          </a:xfrm>
        </p:spPr>
        <p:txBody>
          <a:bodyPr/>
          <a:lstStyle/>
          <a:p>
            <a:r>
              <a:rPr lang="en-NZ" sz="3600" b="1" dirty="0">
                <a:solidFill>
                  <a:schemeClr val="bg1"/>
                </a:solidFill>
              </a:rPr>
              <a:t>Strategies to account for global change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7E0A2E1-AC4A-0B04-E946-D3411B4D998D}"/>
              </a:ext>
            </a:extLst>
          </p:cNvPr>
          <p:cNvGrpSpPr/>
          <p:nvPr/>
        </p:nvGrpSpPr>
        <p:grpSpPr>
          <a:xfrm>
            <a:off x="3705371" y="1034352"/>
            <a:ext cx="5154739" cy="3680523"/>
            <a:chOff x="5179695" y="1660890"/>
            <a:chExt cx="3689940" cy="2947710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D5203105-AC63-2C13-227A-CBF59800CAC8}"/>
                </a:ext>
              </a:extLst>
            </p:cNvPr>
            <p:cNvGrpSpPr/>
            <p:nvPr/>
          </p:nvGrpSpPr>
          <p:grpSpPr>
            <a:xfrm>
              <a:off x="5179695" y="1660890"/>
              <a:ext cx="3689940" cy="2947710"/>
              <a:chOff x="4209306" y="1245600"/>
              <a:chExt cx="4380294" cy="3499200"/>
            </a:xfrm>
          </p:grpSpPr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DDCABD8F-EFB7-D3C8-E7C4-007743DB3AEE}"/>
                  </a:ext>
                </a:extLst>
              </p:cNvPr>
              <p:cNvSpPr/>
              <p:nvPr/>
            </p:nvSpPr>
            <p:spPr>
              <a:xfrm>
                <a:off x="4209306" y="1245600"/>
                <a:ext cx="4380294" cy="3499200"/>
              </a:xfrm>
              <a:prstGeom prst="rect">
                <a:avLst/>
              </a:prstGeom>
              <a:solidFill>
                <a:srgbClr val="1F497D">
                  <a:lumMod val="60000"/>
                  <a:lumOff val="40000"/>
                </a:srgbClr>
              </a:solidFill>
              <a:ln w="57150" cap="flat" cmpd="sng" algn="ctr">
                <a:solidFill>
                  <a:sysClr val="window" lastClr="FFFFFF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4" name="Oval 33">
                <a:extLst>
                  <a:ext uri="{FF2B5EF4-FFF2-40B4-BE49-F238E27FC236}">
                    <a16:creationId xmlns:a16="http://schemas.microsoft.com/office/drawing/2014/main" id="{FC6788E9-5191-C208-6C7C-31F535B76070}"/>
                  </a:ext>
                </a:extLst>
              </p:cNvPr>
              <p:cNvSpPr/>
              <p:nvPr/>
            </p:nvSpPr>
            <p:spPr>
              <a:xfrm>
                <a:off x="7162077" y="1522519"/>
                <a:ext cx="1204677" cy="1011929"/>
              </a:xfrm>
              <a:prstGeom prst="ellipse">
                <a:avLst/>
              </a:prstGeom>
              <a:solidFill>
                <a:srgbClr val="92D050"/>
              </a:solidFill>
              <a:ln w="57150" cap="flat" cmpd="sng" algn="ctr">
                <a:solidFill>
                  <a:srgbClr val="FFFF00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148CEB35-6B5E-7EB9-A91D-F53BB16D7200}"/>
                  </a:ext>
                </a:extLst>
              </p:cNvPr>
              <p:cNvSpPr/>
              <p:nvPr/>
            </p:nvSpPr>
            <p:spPr>
              <a:xfrm>
                <a:off x="6257784" y="3791251"/>
                <a:ext cx="785385" cy="659723"/>
              </a:xfrm>
              <a:prstGeom prst="ellipse">
                <a:avLst/>
              </a:prstGeom>
              <a:solidFill>
                <a:srgbClr val="92D050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3F663589-B7C6-17AC-218E-25CB2F55CE52}"/>
                  </a:ext>
                </a:extLst>
              </p:cNvPr>
              <p:cNvSpPr/>
              <p:nvPr/>
            </p:nvSpPr>
            <p:spPr>
              <a:xfrm>
                <a:off x="4426942" y="1508740"/>
                <a:ext cx="1037330" cy="871357"/>
              </a:xfrm>
              <a:prstGeom prst="ellipse">
                <a:avLst/>
              </a:prstGeom>
              <a:solidFill>
                <a:srgbClr val="92D050"/>
              </a:solidFill>
              <a:ln w="762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874BD586-5E12-81E6-7FBF-C41466EC0604}"/>
                  </a:ext>
                </a:extLst>
              </p:cNvPr>
              <p:cNvSpPr/>
              <p:nvPr/>
            </p:nvSpPr>
            <p:spPr>
              <a:xfrm>
                <a:off x="4708749" y="3653556"/>
                <a:ext cx="1098619" cy="935114"/>
              </a:xfrm>
              <a:prstGeom prst="ellipse">
                <a:avLst/>
              </a:prstGeom>
              <a:solidFill>
                <a:srgbClr val="92D050"/>
              </a:solidFill>
              <a:ln w="762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7" name="Oval 56">
                <a:extLst>
                  <a:ext uri="{FF2B5EF4-FFF2-40B4-BE49-F238E27FC236}">
                    <a16:creationId xmlns:a16="http://schemas.microsoft.com/office/drawing/2014/main" id="{7A6B3FC1-99D2-601D-9F16-822257E0C708}"/>
                  </a:ext>
                </a:extLst>
              </p:cNvPr>
              <p:cNvSpPr/>
              <p:nvPr/>
            </p:nvSpPr>
            <p:spPr>
              <a:xfrm>
                <a:off x="6032665" y="1320117"/>
                <a:ext cx="919679" cy="772531"/>
              </a:xfrm>
              <a:prstGeom prst="ellipse">
                <a:avLst/>
              </a:prstGeom>
              <a:solidFill>
                <a:srgbClr val="92D050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grpSp>
            <p:nvGrpSpPr>
              <p:cNvPr id="44" name="Group 43">
                <a:extLst>
                  <a:ext uri="{FF2B5EF4-FFF2-40B4-BE49-F238E27FC236}">
                    <a16:creationId xmlns:a16="http://schemas.microsoft.com/office/drawing/2014/main" id="{6C2C89A3-6891-3674-C02A-6F9699BD51C6}"/>
                  </a:ext>
                </a:extLst>
              </p:cNvPr>
              <p:cNvGrpSpPr/>
              <p:nvPr/>
            </p:nvGrpSpPr>
            <p:grpSpPr>
              <a:xfrm>
                <a:off x="7579737" y="2919013"/>
                <a:ext cx="714664" cy="600318"/>
                <a:chOff x="7579737" y="2919013"/>
                <a:chExt cx="714664" cy="600318"/>
              </a:xfrm>
            </p:grpSpPr>
            <p:sp>
              <p:nvSpPr>
                <p:cNvPr id="55" name="Oval 54">
                  <a:extLst>
                    <a:ext uri="{FF2B5EF4-FFF2-40B4-BE49-F238E27FC236}">
                      <a16:creationId xmlns:a16="http://schemas.microsoft.com/office/drawing/2014/main" id="{4D4184D3-FE6A-EFC7-F101-56D92A52FF6E}"/>
                    </a:ext>
                  </a:extLst>
                </p:cNvPr>
                <p:cNvSpPr/>
                <p:nvPr/>
              </p:nvSpPr>
              <p:spPr>
                <a:xfrm>
                  <a:off x="7579737" y="2919013"/>
                  <a:ext cx="714664" cy="600318"/>
                </a:xfrm>
                <a:prstGeom prst="ellipse">
                  <a:avLst/>
                </a:prstGeom>
                <a:solidFill>
                  <a:srgbClr val="92D050"/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pic>
              <p:nvPicPr>
                <p:cNvPr id="56" name="Picture 55">
                  <a:extLst>
                    <a:ext uri="{FF2B5EF4-FFF2-40B4-BE49-F238E27FC236}">
                      <a16:creationId xmlns:a16="http://schemas.microsoft.com/office/drawing/2014/main" id="{DD7BFB0C-CB13-D408-EE32-3E292BCD0D8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 flipH="1">
                  <a:off x="7727335" y="3009438"/>
                  <a:ext cx="419467" cy="419467"/>
                </a:xfrm>
                <a:prstGeom prst="rect">
                  <a:avLst/>
                </a:prstGeom>
              </p:spPr>
            </p:pic>
          </p:grpSp>
          <p:grpSp>
            <p:nvGrpSpPr>
              <p:cNvPr id="45" name="Group 44">
                <a:extLst>
                  <a:ext uri="{FF2B5EF4-FFF2-40B4-BE49-F238E27FC236}">
                    <a16:creationId xmlns:a16="http://schemas.microsoft.com/office/drawing/2014/main" id="{2806312D-D745-BE87-AFFD-E710B754E989}"/>
                  </a:ext>
                </a:extLst>
              </p:cNvPr>
              <p:cNvGrpSpPr/>
              <p:nvPr/>
            </p:nvGrpSpPr>
            <p:grpSpPr>
              <a:xfrm>
                <a:off x="6595012" y="2995200"/>
                <a:ext cx="714664" cy="600318"/>
                <a:chOff x="7579737" y="2919013"/>
                <a:chExt cx="714664" cy="600318"/>
              </a:xfrm>
            </p:grpSpPr>
            <p:sp>
              <p:nvSpPr>
                <p:cNvPr id="53" name="Oval 52">
                  <a:extLst>
                    <a:ext uri="{FF2B5EF4-FFF2-40B4-BE49-F238E27FC236}">
                      <a16:creationId xmlns:a16="http://schemas.microsoft.com/office/drawing/2014/main" id="{FE1A051B-30F8-F1A6-3625-A7D8669F871F}"/>
                    </a:ext>
                  </a:extLst>
                </p:cNvPr>
                <p:cNvSpPr/>
                <p:nvPr/>
              </p:nvSpPr>
              <p:spPr>
                <a:xfrm>
                  <a:off x="7579737" y="2919013"/>
                  <a:ext cx="714664" cy="600318"/>
                </a:xfrm>
                <a:prstGeom prst="ellipse">
                  <a:avLst/>
                </a:prstGeom>
                <a:solidFill>
                  <a:srgbClr val="92D050"/>
                </a:solidFill>
                <a:ln w="57150" cap="flat" cmpd="sng" algn="ctr">
                  <a:solidFill>
                    <a:srgbClr val="FFFF00"/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pic>
              <p:nvPicPr>
                <p:cNvPr id="54" name="Picture 53">
                  <a:extLst>
                    <a:ext uri="{FF2B5EF4-FFF2-40B4-BE49-F238E27FC236}">
                      <a16:creationId xmlns:a16="http://schemas.microsoft.com/office/drawing/2014/main" id="{9001CE51-7D03-230E-FB12-4272256925C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 flipH="1">
                  <a:off x="7727335" y="3009438"/>
                  <a:ext cx="419467" cy="419467"/>
                </a:xfrm>
                <a:prstGeom prst="rect">
                  <a:avLst/>
                </a:prstGeom>
              </p:spPr>
            </p:pic>
          </p:grpSp>
          <p:grpSp>
            <p:nvGrpSpPr>
              <p:cNvPr id="46" name="Group 45">
                <a:extLst>
                  <a:ext uri="{FF2B5EF4-FFF2-40B4-BE49-F238E27FC236}">
                    <a16:creationId xmlns:a16="http://schemas.microsoft.com/office/drawing/2014/main" id="{7D8C8E53-AAB2-3AD8-E02D-6E7C5FCC03F0}"/>
                  </a:ext>
                </a:extLst>
              </p:cNvPr>
              <p:cNvGrpSpPr/>
              <p:nvPr/>
            </p:nvGrpSpPr>
            <p:grpSpPr>
              <a:xfrm>
                <a:off x="7625944" y="3780880"/>
                <a:ext cx="714664" cy="600318"/>
                <a:chOff x="7579737" y="2919013"/>
                <a:chExt cx="714664" cy="600318"/>
              </a:xfrm>
            </p:grpSpPr>
            <p:sp>
              <p:nvSpPr>
                <p:cNvPr id="51" name="Oval 50">
                  <a:extLst>
                    <a:ext uri="{FF2B5EF4-FFF2-40B4-BE49-F238E27FC236}">
                      <a16:creationId xmlns:a16="http://schemas.microsoft.com/office/drawing/2014/main" id="{029A563E-8FD4-1C64-D72F-954A27734393}"/>
                    </a:ext>
                  </a:extLst>
                </p:cNvPr>
                <p:cNvSpPr/>
                <p:nvPr/>
              </p:nvSpPr>
              <p:spPr>
                <a:xfrm>
                  <a:off x="7579737" y="2919013"/>
                  <a:ext cx="714664" cy="600318"/>
                </a:xfrm>
                <a:prstGeom prst="ellipse">
                  <a:avLst/>
                </a:prstGeom>
                <a:solidFill>
                  <a:srgbClr val="92D050"/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pic>
              <p:nvPicPr>
                <p:cNvPr id="52" name="Picture 51">
                  <a:extLst>
                    <a:ext uri="{FF2B5EF4-FFF2-40B4-BE49-F238E27FC236}">
                      <a16:creationId xmlns:a16="http://schemas.microsoft.com/office/drawing/2014/main" id="{DA5D9A18-953D-B0E0-4794-98622A1CABC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 flipH="1">
                  <a:off x="7727335" y="3009438"/>
                  <a:ext cx="419467" cy="419467"/>
                </a:xfrm>
                <a:prstGeom prst="rect">
                  <a:avLst/>
                </a:prstGeom>
              </p:spPr>
            </p:pic>
          </p:grpSp>
          <p:grpSp>
            <p:nvGrpSpPr>
              <p:cNvPr id="47" name="Group 46">
                <a:extLst>
                  <a:ext uri="{FF2B5EF4-FFF2-40B4-BE49-F238E27FC236}">
                    <a16:creationId xmlns:a16="http://schemas.microsoft.com/office/drawing/2014/main" id="{705AFFBF-1670-AE96-D90E-3BF6CCF360CC}"/>
                  </a:ext>
                </a:extLst>
              </p:cNvPr>
              <p:cNvGrpSpPr/>
              <p:nvPr/>
            </p:nvGrpSpPr>
            <p:grpSpPr>
              <a:xfrm>
                <a:off x="5046843" y="2402034"/>
                <a:ext cx="1222464" cy="1026871"/>
                <a:chOff x="5046843" y="2402034"/>
                <a:chExt cx="1222464" cy="1026871"/>
              </a:xfrm>
            </p:grpSpPr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2B0258F5-CC6D-A85A-F51D-C66FA96FE1F9}"/>
                    </a:ext>
                  </a:extLst>
                </p:cNvPr>
                <p:cNvSpPr/>
                <p:nvPr/>
              </p:nvSpPr>
              <p:spPr>
                <a:xfrm>
                  <a:off x="5046843" y="2402034"/>
                  <a:ext cx="1222464" cy="1026871"/>
                </a:xfrm>
                <a:prstGeom prst="ellipse">
                  <a:avLst/>
                </a:prstGeom>
                <a:solidFill>
                  <a:srgbClr val="92D050"/>
                </a:solidFill>
                <a:ln w="57150" cap="flat" cmpd="sng" algn="ctr">
                  <a:solidFill>
                    <a:srgbClr val="FFFF00"/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pic>
              <p:nvPicPr>
                <p:cNvPr id="49" name="Picture 48">
                  <a:extLst>
                    <a:ext uri="{FF2B5EF4-FFF2-40B4-BE49-F238E27FC236}">
                      <a16:creationId xmlns:a16="http://schemas.microsoft.com/office/drawing/2014/main" id="{D864A7E8-7CAD-0A38-0F66-E34F9D99A0F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664290" y="2499286"/>
                  <a:ext cx="493365" cy="493365"/>
                </a:xfrm>
                <a:prstGeom prst="rect">
                  <a:avLst/>
                </a:prstGeom>
              </p:spPr>
            </p:pic>
            <p:pic>
              <p:nvPicPr>
                <p:cNvPr id="50" name="Picture 49">
                  <a:extLst>
                    <a:ext uri="{FF2B5EF4-FFF2-40B4-BE49-F238E27FC236}">
                      <a16:creationId xmlns:a16="http://schemas.microsoft.com/office/drawing/2014/main" id="{E50AC1A8-5060-1C0E-436C-2ADBEE9350E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 flipH="1">
                  <a:off x="5213128" y="2819315"/>
                  <a:ext cx="502288" cy="502288"/>
                </a:xfrm>
                <a:prstGeom prst="rect">
                  <a:avLst/>
                </a:prstGeom>
              </p:spPr>
            </p:pic>
          </p:grpSp>
        </p:grpSp>
        <p:pic>
          <p:nvPicPr>
            <p:cNvPr id="62" name="Picture 61">
              <a:extLst>
                <a:ext uri="{FF2B5EF4-FFF2-40B4-BE49-F238E27FC236}">
                  <a16:creationId xmlns:a16="http://schemas.microsoft.com/office/drawing/2014/main" id="{7FA33462-BAF9-A913-6A32-69E8DA04E21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62411" y="3872772"/>
              <a:ext cx="415608" cy="415608"/>
            </a:xfrm>
            <a:prstGeom prst="rect">
              <a:avLst/>
            </a:prstGeom>
          </p:spPr>
        </p:pic>
        <p:pic>
          <p:nvPicPr>
            <p:cNvPr id="63" name="Picture 62">
              <a:extLst>
                <a:ext uri="{FF2B5EF4-FFF2-40B4-BE49-F238E27FC236}">
                  <a16:creationId xmlns:a16="http://schemas.microsoft.com/office/drawing/2014/main" id="{ED6008B2-CC4C-B57B-4EFC-6E3F9C469AE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88353" y="2112583"/>
              <a:ext cx="415608" cy="415608"/>
            </a:xfrm>
            <a:prstGeom prst="rect">
              <a:avLst/>
            </a:prstGeom>
          </p:spPr>
        </p:pic>
        <p:pic>
          <p:nvPicPr>
            <p:cNvPr id="64" name="Picture 63">
              <a:extLst>
                <a:ext uri="{FF2B5EF4-FFF2-40B4-BE49-F238E27FC236}">
                  <a16:creationId xmlns:a16="http://schemas.microsoft.com/office/drawing/2014/main" id="{E550CBD6-F168-F251-1D8A-54D9CBC66A3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34787" y="3841646"/>
              <a:ext cx="415608" cy="415608"/>
            </a:xfrm>
            <a:prstGeom prst="rect">
              <a:avLst/>
            </a:prstGeom>
          </p:spPr>
        </p:pic>
        <p:pic>
          <p:nvPicPr>
            <p:cNvPr id="65" name="Picture 64">
              <a:extLst>
                <a:ext uri="{FF2B5EF4-FFF2-40B4-BE49-F238E27FC236}">
                  <a16:creationId xmlns:a16="http://schemas.microsoft.com/office/drawing/2014/main" id="{95456BF0-3D11-C3F3-6F37-F14B1F296DB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32082" y="1958832"/>
              <a:ext cx="415608" cy="415608"/>
            </a:xfrm>
            <a:prstGeom prst="rect">
              <a:avLst/>
            </a:prstGeom>
          </p:spPr>
        </p:pic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583522EE-B2DF-3F66-988A-70E9C1F5AD62}"/>
                </a:ext>
              </a:extLst>
            </p:cNvPr>
            <p:cNvSpPr txBox="1"/>
            <p:nvPr/>
          </p:nvSpPr>
          <p:spPr>
            <a:xfrm>
              <a:off x="5409986" y="3611932"/>
              <a:ext cx="352425" cy="2860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NZ" dirty="0"/>
                <a:t>$1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A15F15EE-DD0D-13A8-AB11-86DC06AD54A1}"/>
                </a:ext>
              </a:extLst>
            </p:cNvPr>
            <p:cNvSpPr txBox="1"/>
            <p:nvPr/>
          </p:nvSpPr>
          <p:spPr>
            <a:xfrm>
              <a:off x="6441855" y="1766459"/>
              <a:ext cx="447674" cy="2860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NZ" dirty="0"/>
                <a:t>$1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C2A45C8C-C109-F204-3CAB-B1CAB4D06150}"/>
                </a:ext>
              </a:extLst>
            </p:cNvPr>
            <p:cNvSpPr txBox="1"/>
            <p:nvPr/>
          </p:nvSpPr>
          <p:spPr>
            <a:xfrm>
              <a:off x="5629283" y="2720496"/>
              <a:ext cx="400050" cy="2860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NZ" dirty="0"/>
                <a:t>$1</a:t>
              </a: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586DF292-795E-D970-6A38-00320660CA87}"/>
                </a:ext>
              </a:extLst>
            </p:cNvPr>
            <p:cNvSpPr txBox="1"/>
            <p:nvPr/>
          </p:nvSpPr>
          <p:spPr>
            <a:xfrm>
              <a:off x="5336466" y="1716687"/>
              <a:ext cx="367390" cy="2860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NZ" dirty="0"/>
                <a:t>$1</a:t>
              </a: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28639301-74AF-AA47-C5DB-2C4A3F9D86DD}"/>
                </a:ext>
              </a:extLst>
            </p:cNvPr>
            <p:cNvSpPr txBox="1"/>
            <p:nvPr/>
          </p:nvSpPr>
          <p:spPr>
            <a:xfrm>
              <a:off x="8306949" y="1705164"/>
              <a:ext cx="457200" cy="2860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NZ" dirty="0"/>
                <a:t>$1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35451589-20C1-2F3E-A16B-CD2D7437DF1F}"/>
                </a:ext>
              </a:extLst>
            </p:cNvPr>
            <p:cNvSpPr txBox="1"/>
            <p:nvPr/>
          </p:nvSpPr>
          <p:spPr>
            <a:xfrm>
              <a:off x="7147829" y="2835694"/>
              <a:ext cx="419100" cy="2860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NZ" dirty="0"/>
                <a:t>$1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B3F8716A-8C8B-99E0-93FA-0DC70E676842}"/>
                </a:ext>
              </a:extLst>
            </p:cNvPr>
            <p:cNvSpPr txBox="1"/>
            <p:nvPr/>
          </p:nvSpPr>
          <p:spPr>
            <a:xfrm>
              <a:off x="6778471" y="3617717"/>
              <a:ext cx="379671" cy="2860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NZ" dirty="0"/>
                <a:t>$1</a:t>
              </a:r>
            </a:p>
          </p:txBody>
        </p:sp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23068B43-98DD-774B-5013-41DF1ECD268F}"/>
                </a:ext>
              </a:extLst>
            </p:cNvPr>
            <p:cNvSpPr txBox="1"/>
            <p:nvPr/>
          </p:nvSpPr>
          <p:spPr>
            <a:xfrm>
              <a:off x="7876566" y="2863377"/>
              <a:ext cx="353356" cy="2860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NZ" dirty="0"/>
                <a:t>$1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F683FDFE-6B30-4BBC-F1AD-E81C19EF5001}"/>
                </a:ext>
              </a:extLst>
            </p:cNvPr>
            <p:cNvSpPr txBox="1"/>
            <p:nvPr/>
          </p:nvSpPr>
          <p:spPr>
            <a:xfrm>
              <a:off x="7837211" y="3716047"/>
              <a:ext cx="353356" cy="2860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NZ" dirty="0"/>
                <a:t>$1</a:t>
              </a: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F4300F7C-F233-7CD6-31EB-54BB4FC5E2DF}"/>
              </a:ext>
            </a:extLst>
          </p:cNvPr>
          <p:cNvSpPr txBox="1"/>
          <p:nvPr/>
        </p:nvSpPr>
        <p:spPr>
          <a:xfrm>
            <a:off x="298756" y="1119391"/>
            <a:ext cx="3184736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sz="2000" dirty="0">
                <a:solidFill>
                  <a:schemeClr val="bg1"/>
                </a:solidFill>
              </a:rPr>
              <a:t>Let’s consider a simple example…</a:t>
            </a:r>
          </a:p>
          <a:p>
            <a:endParaRPr lang="en-NZ" sz="20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NZ" sz="2000" dirty="0">
                <a:solidFill>
                  <a:schemeClr val="bg1"/>
                </a:solidFill>
              </a:rPr>
              <a:t>We have two species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NZ" sz="20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NZ" sz="2000" dirty="0">
                <a:solidFill>
                  <a:schemeClr val="bg1"/>
                </a:solidFill>
              </a:rPr>
              <a:t>All islands cost the same to manage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NZ" sz="20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NZ" sz="2000" dirty="0">
                <a:solidFill>
                  <a:schemeClr val="bg1"/>
                </a:solidFill>
              </a:rPr>
              <a:t>We want to protect at least two populations of each species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44CE13-D853-7E92-36C9-9EED4A0B9E91}"/>
              </a:ext>
            </a:extLst>
          </p:cNvPr>
          <p:cNvSpPr txBox="1"/>
          <p:nvPr/>
        </p:nvSpPr>
        <p:spPr>
          <a:xfrm>
            <a:off x="6190628" y="4741994"/>
            <a:ext cx="2876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 err="1">
                <a:solidFill>
                  <a:schemeClr val="bg1"/>
                </a:solidFill>
              </a:rPr>
              <a:t>Buenafe</a:t>
            </a:r>
            <a:r>
              <a:rPr lang="en-NZ" dirty="0">
                <a:solidFill>
                  <a:schemeClr val="bg1"/>
                </a:solidFill>
              </a:rPr>
              <a:t> et al. 2024, 2025 </a:t>
            </a:r>
          </a:p>
        </p:txBody>
      </p:sp>
    </p:spTree>
    <p:extLst>
      <p:ext uri="{BB962C8B-B14F-4D97-AF65-F5344CB8AC3E}">
        <p14:creationId xmlns:p14="http://schemas.microsoft.com/office/powerpoint/2010/main" val="12375569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extBox 60">
            <a:extLst>
              <a:ext uri="{FF2B5EF4-FFF2-40B4-BE49-F238E27FC236}">
                <a16:creationId xmlns:a16="http://schemas.microsoft.com/office/drawing/2014/main" id="{0777729C-9FEC-307E-BEFB-ACCA71351981}"/>
              </a:ext>
            </a:extLst>
          </p:cNvPr>
          <p:cNvSpPr txBox="1"/>
          <p:nvPr/>
        </p:nvSpPr>
        <p:spPr>
          <a:xfrm>
            <a:off x="133706" y="81367"/>
            <a:ext cx="4693445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NZ" sz="2400" dirty="0">
                <a:solidFill>
                  <a:srgbClr val="FFFF00"/>
                </a:solidFill>
              </a:rPr>
              <a:t>Prioritize selection of  locations with low exposure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NZ" sz="24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NZ" sz="2400" dirty="0">
                <a:solidFill>
                  <a:schemeClr val="bg1"/>
                </a:solidFill>
              </a:rPr>
              <a:t>Useful when conservation action does NOT abate threat (e.g., climate change)</a:t>
            </a:r>
          </a:p>
          <a:p>
            <a:endParaRPr lang="en-NZ" sz="24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NZ" sz="2400" dirty="0">
                <a:solidFill>
                  <a:schemeClr val="bg1"/>
                </a:solidFill>
              </a:rPr>
              <a:t>Set cost values according to exposure (e.g., climate velocity)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NZ" sz="24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NZ" sz="2400" dirty="0">
                <a:solidFill>
                  <a:schemeClr val="bg1"/>
                </a:solidFill>
              </a:rPr>
              <a:t>Doesn’t account for species-specific sensitivities to change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FE97DB29-77BA-5D13-7446-65E479CE348E}"/>
              </a:ext>
            </a:extLst>
          </p:cNvPr>
          <p:cNvGrpSpPr/>
          <p:nvPr/>
        </p:nvGrpSpPr>
        <p:grpSpPr>
          <a:xfrm>
            <a:off x="4741679" y="93534"/>
            <a:ext cx="2017583" cy="1611747"/>
            <a:chOff x="5179695" y="1660890"/>
            <a:chExt cx="3689940" cy="2947710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78AB032A-86CE-CF4D-5370-A2391A1D5D59}"/>
                </a:ext>
              </a:extLst>
            </p:cNvPr>
            <p:cNvGrpSpPr/>
            <p:nvPr/>
          </p:nvGrpSpPr>
          <p:grpSpPr>
            <a:xfrm>
              <a:off x="5179695" y="1660890"/>
              <a:ext cx="3689940" cy="2947710"/>
              <a:chOff x="4209306" y="1245600"/>
              <a:chExt cx="4380294" cy="3499200"/>
            </a:xfrm>
          </p:grpSpPr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B722DFAD-BBA4-744C-3ED7-D90B3DF16685}"/>
                  </a:ext>
                </a:extLst>
              </p:cNvPr>
              <p:cNvSpPr/>
              <p:nvPr/>
            </p:nvSpPr>
            <p:spPr>
              <a:xfrm>
                <a:off x="4209306" y="1245600"/>
                <a:ext cx="4380294" cy="3499200"/>
              </a:xfrm>
              <a:prstGeom prst="rect">
                <a:avLst/>
              </a:prstGeom>
              <a:solidFill>
                <a:srgbClr val="1F497D">
                  <a:lumMod val="60000"/>
                  <a:lumOff val="40000"/>
                </a:srgbClr>
              </a:solidFill>
              <a:ln w="57150" cap="flat" cmpd="sng" algn="ctr">
                <a:solidFill>
                  <a:sysClr val="window" lastClr="FFFFFF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2D39F45A-BC54-19D2-BDD3-4B75A42044C8}"/>
                  </a:ext>
                </a:extLst>
              </p:cNvPr>
              <p:cNvSpPr/>
              <p:nvPr/>
            </p:nvSpPr>
            <p:spPr>
              <a:xfrm>
                <a:off x="7162077" y="1522519"/>
                <a:ext cx="1204677" cy="1011929"/>
              </a:xfrm>
              <a:prstGeom prst="ellipse">
                <a:avLst/>
              </a:prstGeom>
              <a:solidFill>
                <a:srgbClr val="92D050"/>
              </a:solidFill>
              <a:ln w="762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330FA8CF-1DFE-C3C4-18A1-853B67FD1F67}"/>
                  </a:ext>
                </a:extLst>
              </p:cNvPr>
              <p:cNvSpPr/>
              <p:nvPr/>
            </p:nvSpPr>
            <p:spPr>
              <a:xfrm>
                <a:off x="6257784" y="3791251"/>
                <a:ext cx="785385" cy="659723"/>
              </a:xfrm>
              <a:prstGeom prst="ellipse">
                <a:avLst/>
              </a:prstGeom>
              <a:solidFill>
                <a:srgbClr val="92D050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12BA8002-99AE-C213-56EA-7087239CCDAE}"/>
                  </a:ext>
                </a:extLst>
              </p:cNvPr>
              <p:cNvSpPr/>
              <p:nvPr/>
            </p:nvSpPr>
            <p:spPr>
              <a:xfrm>
                <a:off x="4426942" y="1508740"/>
                <a:ext cx="1037330" cy="871357"/>
              </a:xfrm>
              <a:prstGeom prst="ellipse">
                <a:avLst/>
              </a:prstGeom>
              <a:solidFill>
                <a:srgbClr val="92D050"/>
              </a:solidFill>
              <a:ln w="762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7FE228CF-53ED-1E7A-0DD4-247022374774}"/>
                  </a:ext>
                </a:extLst>
              </p:cNvPr>
              <p:cNvSpPr/>
              <p:nvPr/>
            </p:nvSpPr>
            <p:spPr>
              <a:xfrm>
                <a:off x="4708749" y="3653556"/>
                <a:ext cx="1098619" cy="935114"/>
              </a:xfrm>
              <a:prstGeom prst="ellipse">
                <a:avLst/>
              </a:prstGeom>
              <a:solidFill>
                <a:srgbClr val="92D050"/>
              </a:solidFill>
              <a:ln w="571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DF45EC73-B64B-2AD8-E6A0-520210C48CAE}"/>
                  </a:ext>
                </a:extLst>
              </p:cNvPr>
              <p:cNvSpPr/>
              <p:nvPr/>
            </p:nvSpPr>
            <p:spPr>
              <a:xfrm>
                <a:off x="6032664" y="1320117"/>
                <a:ext cx="919678" cy="772531"/>
              </a:xfrm>
              <a:prstGeom prst="ellipse">
                <a:avLst/>
              </a:prstGeom>
              <a:solidFill>
                <a:srgbClr val="92D050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72AAC2F1-1410-2B74-3AC2-5D4AE5C1CFD2}"/>
                  </a:ext>
                </a:extLst>
              </p:cNvPr>
              <p:cNvGrpSpPr/>
              <p:nvPr/>
            </p:nvGrpSpPr>
            <p:grpSpPr>
              <a:xfrm>
                <a:off x="7579737" y="2919013"/>
                <a:ext cx="714664" cy="600318"/>
                <a:chOff x="7579737" y="2919013"/>
                <a:chExt cx="714664" cy="600318"/>
              </a:xfrm>
            </p:grpSpPr>
            <p:sp>
              <p:nvSpPr>
                <p:cNvPr id="31" name="Oval 30">
                  <a:extLst>
                    <a:ext uri="{FF2B5EF4-FFF2-40B4-BE49-F238E27FC236}">
                      <a16:creationId xmlns:a16="http://schemas.microsoft.com/office/drawing/2014/main" id="{70BD08A5-51E2-E38E-F3EF-F98F84632C12}"/>
                    </a:ext>
                  </a:extLst>
                </p:cNvPr>
                <p:cNvSpPr/>
                <p:nvPr/>
              </p:nvSpPr>
              <p:spPr>
                <a:xfrm>
                  <a:off x="7579737" y="2919013"/>
                  <a:ext cx="714664" cy="600318"/>
                </a:xfrm>
                <a:prstGeom prst="ellipse">
                  <a:avLst/>
                </a:prstGeom>
                <a:solidFill>
                  <a:srgbClr val="92D050"/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pic>
              <p:nvPicPr>
                <p:cNvPr id="35" name="Picture 34">
                  <a:extLst>
                    <a:ext uri="{FF2B5EF4-FFF2-40B4-BE49-F238E27FC236}">
                      <a16:creationId xmlns:a16="http://schemas.microsoft.com/office/drawing/2014/main" id="{69233F59-E162-A2D2-59C1-B8CA931504A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 flipH="1">
                  <a:off x="7727335" y="3009438"/>
                  <a:ext cx="419467" cy="419467"/>
                </a:xfrm>
                <a:prstGeom prst="rect">
                  <a:avLst/>
                </a:prstGeom>
              </p:spPr>
            </p:pic>
          </p:grpSp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C4D3E301-240A-8018-2161-85494CAA4E25}"/>
                  </a:ext>
                </a:extLst>
              </p:cNvPr>
              <p:cNvGrpSpPr/>
              <p:nvPr/>
            </p:nvGrpSpPr>
            <p:grpSpPr>
              <a:xfrm>
                <a:off x="6595012" y="2995200"/>
                <a:ext cx="714664" cy="600318"/>
                <a:chOff x="7579737" y="2919013"/>
                <a:chExt cx="714664" cy="600318"/>
              </a:xfrm>
            </p:grpSpPr>
            <p:sp>
              <p:nvSpPr>
                <p:cNvPr id="29" name="Oval 28">
                  <a:extLst>
                    <a:ext uri="{FF2B5EF4-FFF2-40B4-BE49-F238E27FC236}">
                      <a16:creationId xmlns:a16="http://schemas.microsoft.com/office/drawing/2014/main" id="{95C35AD7-9742-20BF-9837-B66E7F2894FF}"/>
                    </a:ext>
                  </a:extLst>
                </p:cNvPr>
                <p:cNvSpPr/>
                <p:nvPr/>
              </p:nvSpPr>
              <p:spPr>
                <a:xfrm>
                  <a:off x="7579737" y="2919013"/>
                  <a:ext cx="714664" cy="600318"/>
                </a:xfrm>
                <a:prstGeom prst="ellipse">
                  <a:avLst/>
                </a:prstGeom>
                <a:solidFill>
                  <a:srgbClr val="92D050"/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pic>
              <p:nvPicPr>
                <p:cNvPr id="30" name="Picture 29">
                  <a:extLst>
                    <a:ext uri="{FF2B5EF4-FFF2-40B4-BE49-F238E27FC236}">
                      <a16:creationId xmlns:a16="http://schemas.microsoft.com/office/drawing/2014/main" id="{A73ACFC3-D4E4-B37E-2D23-8946285643A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 flipH="1">
                  <a:off x="7727335" y="3009438"/>
                  <a:ext cx="419467" cy="419467"/>
                </a:xfrm>
                <a:prstGeom prst="rect">
                  <a:avLst/>
                </a:prstGeom>
              </p:spPr>
            </p:pic>
          </p:grpSp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5EBEF7FC-4FFE-9B70-B6D2-8157494F8CFC}"/>
                  </a:ext>
                </a:extLst>
              </p:cNvPr>
              <p:cNvGrpSpPr/>
              <p:nvPr/>
            </p:nvGrpSpPr>
            <p:grpSpPr>
              <a:xfrm>
                <a:off x="7625944" y="3780880"/>
                <a:ext cx="714664" cy="600318"/>
                <a:chOff x="7579737" y="2919013"/>
                <a:chExt cx="714664" cy="600318"/>
              </a:xfrm>
            </p:grpSpPr>
            <p:sp>
              <p:nvSpPr>
                <p:cNvPr id="27" name="Oval 26">
                  <a:extLst>
                    <a:ext uri="{FF2B5EF4-FFF2-40B4-BE49-F238E27FC236}">
                      <a16:creationId xmlns:a16="http://schemas.microsoft.com/office/drawing/2014/main" id="{D2B518D7-9F27-4BD0-39F3-EB33BBFAA3E9}"/>
                    </a:ext>
                  </a:extLst>
                </p:cNvPr>
                <p:cNvSpPr/>
                <p:nvPr/>
              </p:nvSpPr>
              <p:spPr>
                <a:xfrm>
                  <a:off x="7579737" y="2919013"/>
                  <a:ext cx="714664" cy="600318"/>
                </a:xfrm>
                <a:prstGeom prst="ellipse">
                  <a:avLst/>
                </a:prstGeom>
                <a:solidFill>
                  <a:srgbClr val="92D050"/>
                </a:solidFill>
                <a:ln w="5715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pic>
              <p:nvPicPr>
                <p:cNvPr id="28" name="Picture 27">
                  <a:extLst>
                    <a:ext uri="{FF2B5EF4-FFF2-40B4-BE49-F238E27FC236}">
                      <a16:creationId xmlns:a16="http://schemas.microsoft.com/office/drawing/2014/main" id="{92FE67DA-B5D5-9008-484F-367C6841DF8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 flipH="1">
                  <a:off x="7727335" y="3009438"/>
                  <a:ext cx="419467" cy="419467"/>
                </a:xfrm>
                <a:prstGeom prst="rect">
                  <a:avLst/>
                </a:prstGeom>
              </p:spPr>
            </p:pic>
          </p:grpSp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6CBD940E-B005-28FA-6E26-18ADF5024992}"/>
                  </a:ext>
                </a:extLst>
              </p:cNvPr>
              <p:cNvGrpSpPr/>
              <p:nvPr/>
            </p:nvGrpSpPr>
            <p:grpSpPr>
              <a:xfrm>
                <a:off x="5046843" y="2402034"/>
                <a:ext cx="1222464" cy="1026871"/>
                <a:chOff x="5046843" y="2402034"/>
                <a:chExt cx="1222464" cy="1026871"/>
              </a:xfrm>
            </p:grpSpPr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C605C95A-0AD4-0CC7-7F10-EF9AB183B296}"/>
                    </a:ext>
                  </a:extLst>
                </p:cNvPr>
                <p:cNvSpPr/>
                <p:nvPr/>
              </p:nvSpPr>
              <p:spPr>
                <a:xfrm>
                  <a:off x="5046843" y="2402034"/>
                  <a:ext cx="1222464" cy="1026871"/>
                </a:xfrm>
                <a:prstGeom prst="ellipse">
                  <a:avLst/>
                </a:prstGeom>
                <a:solidFill>
                  <a:srgbClr val="92D050"/>
                </a:solidFill>
                <a:ln w="5715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pic>
              <p:nvPicPr>
                <p:cNvPr id="25" name="Picture 24">
                  <a:extLst>
                    <a:ext uri="{FF2B5EF4-FFF2-40B4-BE49-F238E27FC236}">
                      <a16:creationId xmlns:a16="http://schemas.microsoft.com/office/drawing/2014/main" id="{0E369CC4-3D7A-D5EE-D899-AE22BCD096A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664290" y="2499286"/>
                  <a:ext cx="493365" cy="493365"/>
                </a:xfrm>
                <a:prstGeom prst="rect">
                  <a:avLst/>
                </a:prstGeom>
              </p:spPr>
            </p:pic>
            <p:pic>
              <p:nvPicPr>
                <p:cNvPr id="26" name="Picture 25">
                  <a:extLst>
                    <a:ext uri="{FF2B5EF4-FFF2-40B4-BE49-F238E27FC236}">
                      <a16:creationId xmlns:a16="http://schemas.microsoft.com/office/drawing/2014/main" id="{4A31F25A-2302-AE6F-45F6-BED18F91057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 flipH="1">
                  <a:off x="5213128" y="2819315"/>
                  <a:ext cx="502288" cy="502288"/>
                </a:xfrm>
                <a:prstGeom prst="rect">
                  <a:avLst/>
                </a:prstGeom>
              </p:spPr>
            </p:pic>
          </p:grpSp>
        </p:grp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410C2457-86C9-F071-26E7-C8E0A4E64B3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62411" y="3872772"/>
              <a:ext cx="415608" cy="415608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A8852B48-EB35-37A0-3B8B-ABE861A865B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88353" y="2112583"/>
              <a:ext cx="415608" cy="415608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01BBDB01-86E1-EB81-43ED-2275B56D05D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34787" y="3841646"/>
              <a:ext cx="415608" cy="415608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6CFDA47A-B808-143E-F308-162632C9512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32082" y="1958832"/>
              <a:ext cx="415608" cy="415608"/>
            </a:xfrm>
            <a:prstGeom prst="rect">
              <a:avLst/>
            </a:prstGeom>
          </p:spPr>
        </p:pic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184E4D13-01D8-8E3C-8199-4C22CA086C68}"/>
              </a:ext>
            </a:extLst>
          </p:cNvPr>
          <p:cNvSpPr txBox="1"/>
          <p:nvPr/>
        </p:nvSpPr>
        <p:spPr>
          <a:xfrm>
            <a:off x="6829250" y="272542"/>
            <a:ext cx="146651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NZ" sz="2800" dirty="0">
                <a:solidFill>
                  <a:schemeClr val="bg1"/>
                </a:solidFill>
              </a:rPr>
              <a:t>Present day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429421B4-2E94-09D6-7C60-A8A89421A2E8}"/>
              </a:ext>
            </a:extLst>
          </p:cNvPr>
          <p:cNvGrpSpPr/>
          <p:nvPr/>
        </p:nvGrpSpPr>
        <p:grpSpPr>
          <a:xfrm>
            <a:off x="6973088" y="1700332"/>
            <a:ext cx="2191640" cy="1568297"/>
            <a:chOff x="5157689" y="1660890"/>
            <a:chExt cx="4119323" cy="2947710"/>
          </a:xfrm>
        </p:grpSpPr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7DE4748E-5CBB-87AA-3456-CBD4FC778708}"/>
                </a:ext>
              </a:extLst>
            </p:cNvPr>
            <p:cNvGrpSpPr/>
            <p:nvPr/>
          </p:nvGrpSpPr>
          <p:grpSpPr>
            <a:xfrm>
              <a:off x="5179695" y="1660890"/>
              <a:ext cx="3689940" cy="2947710"/>
              <a:chOff x="4209306" y="1245600"/>
              <a:chExt cx="4380294" cy="3499200"/>
            </a:xfrm>
          </p:grpSpPr>
          <p:sp>
            <p:nvSpPr>
              <p:cNvPr id="79" name="Rectangle 78">
                <a:extLst>
                  <a:ext uri="{FF2B5EF4-FFF2-40B4-BE49-F238E27FC236}">
                    <a16:creationId xmlns:a16="http://schemas.microsoft.com/office/drawing/2014/main" id="{B9A8E854-2255-CB1C-2DA6-49C50308EFEF}"/>
                  </a:ext>
                </a:extLst>
              </p:cNvPr>
              <p:cNvSpPr/>
              <p:nvPr/>
            </p:nvSpPr>
            <p:spPr>
              <a:xfrm>
                <a:off x="4209306" y="1245600"/>
                <a:ext cx="4380294" cy="3499200"/>
              </a:xfrm>
              <a:prstGeom prst="rect">
                <a:avLst/>
              </a:prstGeom>
              <a:solidFill>
                <a:srgbClr val="1F497D">
                  <a:lumMod val="60000"/>
                  <a:lumOff val="40000"/>
                </a:srgbClr>
              </a:solidFill>
              <a:ln w="57150" cap="flat" cmpd="sng" algn="ctr">
                <a:solidFill>
                  <a:sysClr val="window" lastClr="FFFFFF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80" name="Oval 79">
                <a:extLst>
                  <a:ext uri="{FF2B5EF4-FFF2-40B4-BE49-F238E27FC236}">
                    <a16:creationId xmlns:a16="http://schemas.microsoft.com/office/drawing/2014/main" id="{9667CF90-0772-82DC-CA68-5F5056928E25}"/>
                  </a:ext>
                </a:extLst>
              </p:cNvPr>
              <p:cNvSpPr/>
              <p:nvPr/>
            </p:nvSpPr>
            <p:spPr>
              <a:xfrm>
                <a:off x="7162077" y="1522519"/>
                <a:ext cx="1204677" cy="1011929"/>
              </a:xfrm>
              <a:prstGeom prst="ellipse">
                <a:avLst/>
              </a:prstGeom>
              <a:solidFill>
                <a:srgbClr val="92D050"/>
              </a:solidFill>
              <a:ln w="762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81" name="Oval 80">
                <a:extLst>
                  <a:ext uri="{FF2B5EF4-FFF2-40B4-BE49-F238E27FC236}">
                    <a16:creationId xmlns:a16="http://schemas.microsoft.com/office/drawing/2014/main" id="{91A79196-B9C7-8880-EDB1-83035D9665DA}"/>
                  </a:ext>
                </a:extLst>
              </p:cNvPr>
              <p:cNvSpPr/>
              <p:nvPr/>
            </p:nvSpPr>
            <p:spPr>
              <a:xfrm>
                <a:off x="6257784" y="3791251"/>
                <a:ext cx="785385" cy="659723"/>
              </a:xfrm>
              <a:prstGeom prst="ellipse">
                <a:avLst/>
              </a:prstGeom>
              <a:solidFill>
                <a:srgbClr val="92D050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82" name="Oval 81">
                <a:extLst>
                  <a:ext uri="{FF2B5EF4-FFF2-40B4-BE49-F238E27FC236}">
                    <a16:creationId xmlns:a16="http://schemas.microsoft.com/office/drawing/2014/main" id="{44DB7BF4-38E9-057A-C442-FBE2126D0393}"/>
                  </a:ext>
                </a:extLst>
              </p:cNvPr>
              <p:cNvSpPr/>
              <p:nvPr/>
            </p:nvSpPr>
            <p:spPr>
              <a:xfrm>
                <a:off x="4426942" y="1508740"/>
                <a:ext cx="1037330" cy="871357"/>
              </a:xfrm>
              <a:prstGeom prst="ellipse">
                <a:avLst/>
              </a:prstGeom>
              <a:solidFill>
                <a:srgbClr val="92D050"/>
              </a:solidFill>
              <a:ln w="762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83" name="Oval 82">
                <a:extLst>
                  <a:ext uri="{FF2B5EF4-FFF2-40B4-BE49-F238E27FC236}">
                    <a16:creationId xmlns:a16="http://schemas.microsoft.com/office/drawing/2014/main" id="{C9EFB148-55F7-28EB-7D92-B747BE5553B7}"/>
                  </a:ext>
                </a:extLst>
              </p:cNvPr>
              <p:cNvSpPr/>
              <p:nvPr/>
            </p:nvSpPr>
            <p:spPr>
              <a:xfrm>
                <a:off x="4708749" y="3653556"/>
                <a:ext cx="1098619" cy="935114"/>
              </a:xfrm>
              <a:prstGeom prst="ellipse">
                <a:avLst/>
              </a:prstGeom>
              <a:solidFill>
                <a:srgbClr val="92D050"/>
              </a:solidFill>
              <a:ln w="571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84" name="Oval 83">
                <a:extLst>
                  <a:ext uri="{FF2B5EF4-FFF2-40B4-BE49-F238E27FC236}">
                    <a16:creationId xmlns:a16="http://schemas.microsoft.com/office/drawing/2014/main" id="{6D302011-25C2-86A4-0D0B-373CE80FA45B}"/>
                  </a:ext>
                </a:extLst>
              </p:cNvPr>
              <p:cNvSpPr/>
              <p:nvPr/>
            </p:nvSpPr>
            <p:spPr>
              <a:xfrm>
                <a:off x="6032664" y="1320117"/>
                <a:ext cx="919678" cy="772532"/>
              </a:xfrm>
              <a:prstGeom prst="ellipse">
                <a:avLst/>
              </a:prstGeom>
              <a:solidFill>
                <a:srgbClr val="92D050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85" name="Oval 84">
                <a:extLst>
                  <a:ext uri="{FF2B5EF4-FFF2-40B4-BE49-F238E27FC236}">
                    <a16:creationId xmlns:a16="http://schemas.microsoft.com/office/drawing/2014/main" id="{B425BBB8-8C6F-8D52-EBC5-7ED1A78EC94D}"/>
                  </a:ext>
                </a:extLst>
              </p:cNvPr>
              <p:cNvSpPr/>
              <p:nvPr/>
            </p:nvSpPr>
            <p:spPr>
              <a:xfrm>
                <a:off x="7579737" y="2919012"/>
                <a:ext cx="714664" cy="600318"/>
              </a:xfrm>
              <a:prstGeom prst="ellipse">
                <a:avLst/>
              </a:prstGeom>
              <a:solidFill>
                <a:srgbClr val="92D050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86" name="Oval 85">
                <a:extLst>
                  <a:ext uri="{FF2B5EF4-FFF2-40B4-BE49-F238E27FC236}">
                    <a16:creationId xmlns:a16="http://schemas.microsoft.com/office/drawing/2014/main" id="{C21277B1-0661-ABFB-06F4-31B6307CFCB0}"/>
                  </a:ext>
                </a:extLst>
              </p:cNvPr>
              <p:cNvSpPr/>
              <p:nvPr/>
            </p:nvSpPr>
            <p:spPr>
              <a:xfrm>
                <a:off x="6595012" y="2995200"/>
                <a:ext cx="714664" cy="600318"/>
              </a:xfrm>
              <a:prstGeom prst="ellipse">
                <a:avLst/>
              </a:prstGeom>
              <a:solidFill>
                <a:srgbClr val="92D050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87" name="Oval 86">
                <a:extLst>
                  <a:ext uri="{FF2B5EF4-FFF2-40B4-BE49-F238E27FC236}">
                    <a16:creationId xmlns:a16="http://schemas.microsoft.com/office/drawing/2014/main" id="{CBAAECF7-DC9B-1A33-F799-54661E66BCD5}"/>
                  </a:ext>
                </a:extLst>
              </p:cNvPr>
              <p:cNvSpPr/>
              <p:nvPr/>
            </p:nvSpPr>
            <p:spPr>
              <a:xfrm>
                <a:off x="7625945" y="3780880"/>
                <a:ext cx="714664" cy="600318"/>
              </a:xfrm>
              <a:prstGeom prst="ellipse">
                <a:avLst/>
              </a:prstGeom>
              <a:solidFill>
                <a:srgbClr val="92D050"/>
              </a:solidFill>
              <a:ln w="571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88" name="Oval 87">
                <a:extLst>
                  <a:ext uri="{FF2B5EF4-FFF2-40B4-BE49-F238E27FC236}">
                    <a16:creationId xmlns:a16="http://schemas.microsoft.com/office/drawing/2014/main" id="{6DC11950-A594-4E4E-1F73-4BA38BBE915C}"/>
                  </a:ext>
                </a:extLst>
              </p:cNvPr>
              <p:cNvSpPr/>
              <p:nvPr/>
            </p:nvSpPr>
            <p:spPr>
              <a:xfrm>
                <a:off x="5046843" y="2402034"/>
                <a:ext cx="1222464" cy="1026871"/>
              </a:xfrm>
              <a:prstGeom prst="ellipse">
                <a:avLst/>
              </a:prstGeom>
              <a:solidFill>
                <a:srgbClr val="92D050"/>
              </a:solidFill>
              <a:ln w="571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918249F9-1DD9-2CC3-5D99-3DFC0528A6A8}"/>
                </a:ext>
              </a:extLst>
            </p:cNvPr>
            <p:cNvSpPr txBox="1"/>
            <p:nvPr/>
          </p:nvSpPr>
          <p:spPr>
            <a:xfrm>
              <a:off x="5498658" y="3808732"/>
              <a:ext cx="1505828" cy="5206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NZ" sz="1200" dirty="0"/>
                <a:t>+1°C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166848DD-65E6-BE5E-93B1-C9ABD0A69133}"/>
                </a:ext>
              </a:extLst>
            </p:cNvPr>
            <p:cNvSpPr txBox="1"/>
            <p:nvPr/>
          </p:nvSpPr>
          <p:spPr>
            <a:xfrm>
              <a:off x="6496582" y="1809364"/>
              <a:ext cx="1879977" cy="5206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NZ" sz="1200" dirty="0"/>
                <a:t>+10°C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28109409-0665-D578-5E53-3DB6564410DD}"/>
                </a:ext>
              </a:extLst>
            </p:cNvPr>
            <p:cNvSpPr txBox="1"/>
            <p:nvPr/>
          </p:nvSpPr>
          <p:spPr>
            <a:xfrm>
              <a:off x="5851418" y="2779806"/>
              <a:ext cx="1455136" cy="5206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NZ" sz="1200" dirty="0"/>
                <a:t>+5°C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B38239E7-1842-05CE-4AFA-699C61E47E34}"/>
                </a:ext>
              </a:extLst>
            </p:cNvPr>
            <p:cNvSpPr txBox="1"/>
            <p:nvPr/>
          </p:nvSpPr>
          <p:spPr>
            <a:xfrm>
              <a:off x="5157689" y="1939103"/>
              <a:ext cx="1422249" cy="5206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NZ" sz="1200" dirty="0"/>
                <a:t>+2°C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D9AB15A3-1153-6124-E33F-E254BE34D59A}"/>
                </a:ext>
              </a:extLst>
            </p:cNvPr>
            <p:cNvSpPr txBox="1"/>
            <p:nvPr/>
          </p:nvSpPr>
          <p:spPr>
            <a:xfrm>
              <a:off x="7539855" y="2046668"/>
              <a:ext cx="1226497" cy="5206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NZ" sz="1200" dirty="0"/>
                <a:t>+12°C</a:t>
              </a: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C46105A6-33E6-9BFC-BD4F-8E934666EECB}"/>
                </a:ext>
              </a:extLst>
            </p:cNvPr>
            <p:cNvSpPr txBox="1"/>
            <p:nvPr/>
          </p:nvSpPr>
          <p:spPr>
            <a:xfrm>
              <a:off x="6954383" y="3126138"/>
              <a:ext cx="1505826" cy="5206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NZ" sz="1200" dirty="0"/>
                <a:t>+9°C</a:t>
              </a: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85DDF1F7-F665-99CE-72CE-369D6624EFFF}"/>
                </a:ext>
              </a:extLst>
            </p:cNvPr>
            <p:cNvSpPr txBox="1"/>
            <p:nvPr/>
          </p:nvSpPr>
          <p:spPr>
            <a:xfrm>
              <a:off x="6631406" y="3748295"/>
              <a:ext cx="1584478" cy="5206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NZ" sz="1200" dirty="0"/>
                <a:t>+4°C</a:t>
              </a: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5363AD0B-378E-435E-1259-9C1ABDFB1820}"/>
                </a:ext>
              </a:extLst>
            </p:cNvPr>
            <p:cNvSpPr txBox="1"/>
            <p:nvPr/>
          </p:nvSpPr>
          <p:spPr>
            <a:xfrm>
              <a:off x="7771186" y="3029062"/>
              <a:ext cx="1505826" cy="5206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NZ" sz="1200" dirty="0"/>
                <a:t>+7°C</a:t>
              </a: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E3D9A193-82B9-C9F1-FAF8-4EF63A1F20FD}"/>
                </a:ext>
              </a:extLst>
            </p:cNvPr>
            <p:cNvSpPr txBox="1"/>
            <p:nvPr/>
          </p:nvSpPr>
          <p:spPr>
            <a:xfrm>
              <a:off x="7829146" y="3791619"/>
              <a:ext cx="1380892" cy="5206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NZ" sz="1200" dirty="0"/>
                <a:t>+2°C</a:t>
              </a:r>
            </a:p>
          </p:txBody>
        </p:sp>
      </p:grpSp>
      <p:sp>
        <p:nvSpPr>
          <p:cNvPr id="112" name="TextBox 111">
            <a:extLst>
              <a:ext uri="{FF2B5EF4-FFF2-40B4-BE49-F238E27FC236}">
                <a16:creationId xmlns:a16="http://schemas.microsoft.com/office/drawing/2014/main" id="{AFA5786B-DE83-13A5-15DF-F307C38B8F0A}"/>
              </a:ext>
            </a:extLst>
          </p:cNvPr>
          <p:cNvSpPr txBox="1"/>
          <p:nvPr/>
        </p:nvSpPr>
        <p:spPr>
          <a:xfrm>
            <a:off x="5182573" y="2050938"/>
            <a:ext cx="146651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NZ" sz="2800" dirty="0">
                <a:solidFill>
                  <a:schemeClr val="bg1"/>
                </a:solidFill>
              </a:rPr>
              <a:t>Climate velocity</a:t>
            </a:r>
          </a:p>
        </p:txBody>
      </p: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63F723D2-D1A4-EA16-A7EC-85E5ECE12C28}"/>
              </a:ext>
            </a:extLst>
          </p:cNvPr>
          <p:cNvGrpSpPr/>
          <p:nvPr/>
        </p:nvGrpSpPr>
        <p:grpSpPr>
          <a:xfrm>
            <a:off x="4915690" y="3383178"/>
            <a:ext cx="2017583" cy="1611747"/>
            <a:chOff x="5179695" y="1660890"/>
            <a:chExt cx="3689940" cy="2947710"/>
          </a:xfrm>
        </p:grpSpPr>
        <p:grpSp>
          <p:nvGrpSpPr>
            <p:cNvPr id="115" name="Group 114">
              <a:extLst>
                <a:ext uri="{FF2B5EF4-FFF2-40B4-BE49-F238E27FC236}">
                  <a16:creationId xmlns:a16="http://schemas.microsoft.com/office/drawing/2014/main" id="{7DE62034-6635-E89B-38A1-AE181847B002}"/>
                </a:ext>
              </a:extLst>
            </p:cNvPr>
            <p:cNvGrpSpPr/>
            <p:nvPr/>
          </p:nvGrpSpPr>
          <p:grpSpPr>
            <a:xfrm>
              <a:off x="5179695" y="1660890"/>
              <a:ext cx="3689940" cy="2947710"/>
              <a:chOff x="4209306" y="1245600"/>
              <a:chExt cx="4380294" cy="3499200"/>
            </a:xfrm>
          </p:grpSpPr>
          <p:sp>
            <p:nvSpPr>
              <p:cNvPr id="120" name="Rectangle 119">
                <a:extLst>
                  <a:ext uri="{FF2B5EF4-FFF2-40B4-BE49-F238E27FC236}">
                    <a16:creationId xmlns:a16="http://schemas.microsoft.com/office/drawing/2014/main" id="{64420398-62A0-1495-D864-9B00CE06D0F1}"/>
                  </a:ext>
                </a:extLst>
              </p:cNvPr>
              <p:cNvSpPr/>
              <p:nvPr/>
            </p:nvSpPr>
            <p:spPr>
              <a:xfrm>
                <a:off x="4209306" y="1245600"/>
                <a:ext cx="4380294" cy="3499200"/>
              </a:xfrm>
              <a:prstGeom prst="rect">
                <a:avLst/>
              </a:prstGeom>
              <a:solidFill>
                <a:srgbClr val="1F497D">
                  <a:lumMod val="60000"/>
                  <a:lumOff val="40000"/>
                </a:srgbClr>
              </a:solidFill>
              <a:ln w="57150" cap="flat" cmpd="sng" algn="ctr">
                <a:solidFill>
                  <a:sysClr val="window" lastClr="FFFFFF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21" name="Oval 120">
                <a:extLst>
                  <a:ext uri="{FF2B5EF4-FFF2-40B4-BE49-F238E27FC236}">
                    <a16:creationId xmlns:a16="http://schemas.microsoft.com/office/drawing/2014/main" id="{FF99DA77-0F80-5F39-9F89-3F9D16D2A3B5}"/>
                  </a:ext>
                </a:extLst>
              </p:cNvPr>
              <p:cNvSpPr/>
              <p:nvPr/>
            </p:nvSpPr>
            <p:spPr>
              <a:xfrm>
                <a:off x="7162077" y="1522519"/>
                <a:ext cx="1204677" cy="1011929"/>
              </a:xfrm>
              <a:prstGeom prst="ellipse">
                <a:avLst/>
              </a:prstGeom>
              <a:solidFill>
                <a:srgbClr val="92D050"/>
              </a:solidFill>
              <a:ln w="762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22" name="Oval 121">
                <a:extLst>
                  <a:ext uri="{FF2B5EF4-FFF2-40B4-BE49-F238E27FC236}">
                    <a16:creationId xmlns:a16="http://schemas.microsoft.com/office/drawing/2014/main" id="{34DC85EB-BE4D-A171-8ADF-1C6C64E7FA85}"/>
                  </a:ext>
                </a:extLst>
              </p:cNvPr>
              <p:cNvSpPr/>
              <p:nvPr/>
            </p:nvSpPr>
            <p:spPr>
              <a:xfrm>
                <a:off x="6257784" y="3791251"/>
                <a:ext cx="785385" cy="659723"/>
              </a:xfrm>
              <a:prstGeom prst="ellipse">
                <a:avLst/>
              </a:prstGeom>
              <a:solidFill>
                <a:srgbClr val="92D050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23" name="Oval 122">
                <a:extLst>
                  <a:ext uri="{FF2B5EF4-FFF2-40B4-BE49-F238E27FC236}">
                    <a16:creationId xmlns:a16="http://schemas.microsoft.com/office/drawing/2014/main" id="{D3C6EDE9-B710-4E5B-38D0-3A9023930565}"/>
                  </a:ext>
                </a:extLst>
              </p:cNvPr>
              <p:cNvSpPr/>
              <p:nvPr/>
            </p:nvSpPr>
            <p:spPr>
              <a:xfrm>
                <a:off x="4426942" y="1508740"/>
                <a:ext cx="1037330" cy="871357"/>
              </a:xfrm>
              <a:prstGeom prst="ellipse">
                <a:avLst/>
              </a:prstGeom>
              <a:solidFill>
                <a:srgbClr val="92D050"/>
              </a:solidFill>
              <a:ln w="762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24" name="Oval 123">
                <a:extLst>
                  <a:ext uri="{FF2B5EF4-FFF2-40B4-BE49-F238E27FC236}">
                    <a16:creationId xmlns:a16="http://schemas.microsoft.com/office/drawing/2014/main" id="{A9702587-60C0-5A90-0C1C-F4E40B9A6AB1}"/>
                  </a:ext>
                </a:extLst>
              </p:cNvPr>
              <p:cNvSpPr/>
              <p:nvPr/>
            </p:nvSpPr>
            <p:spPr>
              <a:xfrm>
                <a:off x="4708749" y="3653556"/>
                <a:ext cx="1098619" cy="935114"/>
              </a:xfrm>
              <a:prstGeom prst="ellipse">
                <a:avLst/>
              </a:prstGeom>
              <a:solidFill>
                <a:srgbClr val="92D050"/>
              </a:solidFill>
              <a:ln w="57150" cap="flat" cmpd="sng" algn="ctr">
                <a:solidFill>
                  <a:srgbClr val="FFFF00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25" name="Oval 124">
                <a:extLst>
                  <a:ext uri="{FF2B5EF4-FFF2-40B4-BE49-F238E27FC236}">
                    <a16:creationId xmlns:a16="http://schemas.microsoft.com/office/drawing/2014/main" id="{58C88994-1B21-C688-5A68-4385F62E923D}"/>
                  </a:ext>
                </a:extLst>
              </p:cNvPr>
              <p:cNvSpPr/>
              <p:nvPr/>
            </p:nvSpPr>
            <p:spPr>
              <a:xfrm>
                <a:off x="6032664" y="1320117"/>
                <a:ext cx="919678" cy="772531"/>
              </a:xfrm>
              <a:prstGeom prst="ellipse">
                <a:avLst/>
              </a:prstGeom>
              <a:solidFill>
                <a:srgbClr val="92D050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grpSp>
            <p:nvGrpSpPr>
              <p:cNvPr id="126" name="Group 125">
                <a:extLst>
                  <a:ext uri="{FF2B5EF4-FFF2-40B4-BE49-F238E27FC236}">
                    <a16:creationId xmlns:a16="http://schemas.microsoft.com/office/drawing/2014/main" id="{9C06A835-3E1F-8A9A-B5A8-4F7F2636B301}"/>
                  </a:ext>
                </a:extLst>
              </p:cNvPr>
              <p:cNvGrpSpPr/>
              <p:nvPr/>
            </p:nvGrpSpPr>
            <p:grpSpPr>
              <a:xfrm>
                <a:off x="7579737" y="2919013"/>
                <a:ext cx="714664" cy="600318"/>
                <a:chOff x="7579737" y="2919013"/>
                <a:chExt cx="714664" cy="600318"/>
              </a:xfrm>
            </p:grpSpPr>
            <p:sp>
              <p:nvSpPr>
                <p:cNvPr id="137" name="Oval 136">
                  <a:extLst>
                    <a:ext uri="{FF2B5EF4-FFF2-40B4-BE49-F238E27FC236}">
                      <a16:creationId xmlns:a16="http://schemas.microsoft.com/office/drawing/2014/main" id="{70D31B16-421A-454E-A3A1-A0D711BF70F2}"/>
                    </a:ext>
                  </a:extLst>
                </p:cNvPr>
                <p:cNvSpPr/>
                <p:nvPr/>
              </p:nvSpPr>
              <p:spPr>
                <a:xfrm>
                  <a:off x="7579737" y="2919013"/>
                  <a:ext cx="714664" cy="600318"/>
                </a:xfrm>
                <a:prstGeom prst="ellipse">
                  <a:avLst/>
                </a:prstGeom>
                <a:solidFill>
                  <a:srgbClr val="92D050"/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pic>
              <p:nvPicPr>
                <p:cNvPr id="138" name="Picture 137">
                  <a:extLst>
                    <a:ext uri="{FF2B5EF4-FFF2-40B4-BE49-F238E27FC236}">
                      <a16:creationId xmlns:a16="http://schemas.microsoft.com/office/drawing/2014/main" id="{770D62E0-D527-E751-7B95-4E593692C1D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 flipH="1">
                  <a:off x="7727335" y="3009438"/>
                  <a:ext cx="419467" cy="419467"/>
                </a:xfrm>
                <a:prstGeom prst="rect">
                  <a:avLst/>
                </a:prstGeom>
              </p:spPr>
            </p:pic>
          </p:grpSp>
          <p:grpSp>
            <p:nvGrpSpPr>
              <p:cNvPr id="127" name="Group 126">
                <a:extLst>
                  <a:ext uri="{FF2B5EF4-FFF2-40B4-BE49-F238E27FC236}">
                    <a16:creationId xmlns:a16="http://schemas.microsoft.com/office/drawing/2014/main" id="{4F6552C6-CBAD-CEF4-4F8E-902C3DD0C236}"/>
                  </a:ext>
                </a:extLst>
              </p:cNvPr>
              <p:cNvGrpSpPr/>
              <p:nvPr/>
            </p:nvGrpSpPr>
            <p:grpSpPr>
              <a:xfrm>
                <a:off x="6595012" y="2995200"/>
                <a:ext cx="714664" cy="600318"/>
                <a:chOff x="7579737" y="2919013"/>
                <a:chExt cx="714664" cy="600318"/>
              </a:xfrm>
            </p:grpSpPr>
            <p:sp>
              <p:nvSpPr>
                <p:cNvPr id="135" name="Oval 134">
                  <a:extLst>
                    <a:ext uri="{FF2B5EF4-FFF2-40B4-BE49-F238E27FC236}">
                      <a16:creationId xmlns:a16="http://schemas.microsoft.com/office/drawing/2014/main" id="{3455254D-3DCC-7281-4ADF-71CF33F134F9}"/>
                    </a:ext>
                  </a:extLst>
                </p:cNvPr>
                <p:cNvSpPr/>
                <p:nvPr/>
              </p:nvSpPr>
              <p:spPr>
                <a:xfrm>
                  <a:off x="7579737" y="2919013"/>
                  <a:ext cx="714664" cy="600318"/>
                </a:xfrm>
                <a:prstGeom prst="ellipse">
                  <a:avLst/>
                </a:prstGeom>
                <a:solidFill>
                  <a:srgbClr val="92D050"/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pic>
              <p:nvPicPr>
                <p:cNvPr id="136" name="Picture 135">
                  <a:extLst>
                    <a:ext uri="{FF2B5EF4-FFF2-40B4-BE49-F238E27FC236}">
                      <a16:creationId xmlns:a16="http://schemas.microsoft.com/office/drawing/2014/main" id="{C8E67BE1-C6CF-DCB8-3165-F6B5DC9DC09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 flipH="1">
                  <a:off x="7727335" y="3009438"/>
                  <a:ext cx="419467" cy="419467"/>
                </a:xfrm>
                <a:prstGeom prst="rect">
                  <a:avLst/>
                </a:prstGeom>
              </p:spPr>
            </p:pic>
          </p:grpSp>
          <p:grpSp>
            <p:nvGrpSpPr>
              <p:cNvPr id="128" name="Group 127">
                <a:extLst>
                  <a:ext uri="{FF2B5EF4-FFF2-40B4-BE49-F238E27FC236}">
                    <a16:creationId xmlns:a16="http://schemas.microsoft.com/office/drawing/2014/main" id="{6F951ABD-A802-69DF-5C9D-19F1427C0A71}"/>
                  </a:ext>
                </a:extLst>
              </p:cNvPr>
              <p:cNvGrpSpPr/>
              <p:nvPr/>
            </p:nvGrpSpPr>
            <p:grpSpPr>
              <a:xfrm>
                <a:off x="7625944" y="3780880"/>
                <a:ext cx="714664" cy="600318"/>
                <a:chOff x="7579737" y="2919013"/>
                <a:chExt cx="714664" cy="600318"/>
              </a:xfrm>
            </p:grpSpPr>
            <p:sp>
              <p:nvSpPr>
                <p:cNvPr id="133" name="Oval 132">
                  <a:extLst>
                    <a:ext uri="{FF2B5EF4-FFF2-40B4-BE49-F238E27FC236}">
                      <a16:creationId xmlns:a16="http://schemas.microsoft.com/office/drawing/2014/main" id="{7ECD25A2-727D-F101-0E07-88220A29823F}"/>
                    </a:ext>
                  </a:extLst>
                </p:cNvPr>
                <p:cNvSpPr/>
                <p:nvPr/>
              </p:nvSpPr>
              <p:spPr>
                <a:xfrm>
                  <a:off x="7579737" y="2919013"/>
                  <a:ext cx="714664" cy="600318"/>
                </a:xfrm>
                <a:prstGeom prst="ellipse">
                  <a:avLst/>
                </a:prstGeom>
                <a:solidFill>
                  <a:srgbClr val="92D050"/>
                </a:solidFill>
                <a:ln w="57150" cap="flat" cmpd="sng" algn="ctr">
                  <a:solidFill>
                    <a:srgbClr val="FFFF00"/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pic>
              <p:nvPicPr>
                <p:cNvPr id="134" name="Picture 133">
                  <a:extLst>
                    <a:ext uri="{FF2B5EF4-FFF2-40B4-BE49-F238E27FC236}">
                      <a16:creationId xmlns:a16="http://schemas.microsoft.com/office/drawing/2014/main" id="{CC8FE162-D08B-E7A5-4CE9-D3DC158F805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 flipH="1">
                  <a:off x="7727335" y="3009438"/>
                  <a:ext cx="419467" cy="419467"/>
                </a:xfrm>
                <a:prstGeom prst="rect">
                  <a:avLst/>
                </a:prstGeom>
              </p:spPr>
            </p:pic>
          </p:grpSp>
          <p:grpSp>
            <p:nvGrpSpPr>
              <p:cNvPr id="129" name="Group 128">
                <a:extLst>
                  <a:ext uri="{FF2B5EF4-FFF2-40B4-BE49-F238E27FC236}">
                    <a16:creationId xmlns:a16="http://schemas.microsoft.com/office/drawing/2014/main" id="{92FC695D-704A-F8C9-CB72-FDBA2E5C543A}"/>
                  </a:ext>
                </a:extLst>
              </p:cNvPr>
              <p:cNvGrpSpPr/>
              <p:nvPr/>
            </p:nvGrpSpPr>
            <p:grpSpPr>
              <a:xfrm>
                <a:off x="5046843" y="2402034"/>
                <a:ext cx="1222464" cy="1026871"/>
                <a:chOff x="5046843" y="2402034"/>
                <a:chExt cx="1222464" cy="1026871"/>
              </a:xfrm>
            </p:grpSpPr>
            <p:sp>
              <p:nvSpPr>
                <p:cNvPr id="130" name="Oval 129">
                  <a:extLst>
                    <a:ext uri="{FF2B5EF4-FFF2-40B4-BE49-F238E27FC236}">
                      <a16:creationId xmlns:a16="http://schemas.microsoft.com/office/drawing/2014/main" id="{2EF9DCCD-EE4D-F6A5-4E26-1586B4CFFA64}"/>
                    </a:ext>
                  </a:extLst>
                </p:cNvPr>
                <p:cNvSpPr/>
                <p:nvPr/>
              </p:nvSpPr>
              <p:spPr>
                <a:xfrm>
                  <a:off x="5046843" y="2402034"/>
                  <a:ext cx="1222464" cy="1026871"/>
                </a:xfrm>
                <a:prstGeom prst="ellipse">
                  <a:avLst/>
                </a:prstGeom>
                <a:solidFill>
                  <a:srgbClr val="92D050"/>
                </a:solidFill>
                <a:ln w="57150" cap="flat" cmpd="sng" algn="ctr">
                  <a:solidFill>
                    <a:srgbClr val="FFFF00"/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pic>
              <p:nvPicPr>
                <p:cNvPr id="131" name="Picture 130">
                  <a:extLst>
                    <a:ext uri="{FF2B5EF4-FFF2-40B4-BE49-F238E27FC236}">
                      <a16:creationId xmlns:a16="http://schemas.microsoft.com/office/drawing/2014/main" id="{B4BE9004-D537-C7C1-B28D-C45165B5B73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664290" y="2499286"/>
                  <a:ext cx="493365" cy="493365"/>
                </a:xfrm>
                <a:prstGeom prst="rect">
                  <a:avLst/>
                </a:prstGeom>
              </p:spPr>
            </p:pic>
            <p:pic>
              <p:nvPicPr>
                <p:cNvPr id="132" name="Picture 131">
                  <a:extLst>
                    <a:ext uri="{FF2B5EF4-FFF2-40B4-BE49-F238E27FC236}">
                      <a16:creationId xmlns:a16="http://schemas.microsoft.com/office/drawing/2014/main" id="{3589103E-E52F-903C-1FC3-8E1EA8727FD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 flipH="1">
                  <a:off x="5213128" y="2819315"/>
                  <a:ext cx="502288" cy="502288"/>
                </a:xfrm>
                <a:prstGeom prst="rect">
                  <a:avLst/>
                </a:prstGeom>
              </p:spPr>
            </p:pic>
          </p:grpSp>
        </p:grpSp>
        <p:pic>
          <p:nvPicPr>
            <p:cNvPr id="116" name="Picture 115">
              <a:extLst>
                <a:ext uri="{FF2B5EF4-FFF2-40B4-BE49-F238E27FC236}">
                  <a16:creationId xmlns:a16="http://schemas.microsoft.com/office/drawing/2014/main" id="{539CC5F0-378B-984A-4EFB-27518F6F244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62411" y="3872772"/>
              <a:ext cx="415608" cy="415608"/>
            </a:xfrm>
            <a:prstGeom prst="rect">
              <a:avLst/>
            </a:prstGeom>
          </p:spPr>
        </p:pic>
        <p:pic>
          <p:nvPicPr>
            <p:cNvPr id="117" name="Picture 116">
              <a:extLst>
                <a:ext uri="{FF2B5EF4-FFF2-40B4-BE49-F238E27FC236}">
                  <a16:creationId xmlns:a16="http://schemas.microsoft.com/office/drawing/2014/main" id="{03BBC54C-57F8-1927-A1AE-D2D48508946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88353" y="2112583"/>
              <a:ext cx="415608" cy="415608"/>
            </a:xfrm>
            <a:prstGeom prst="rect">
              <a:avLst/>
            </a:prstGeom>
          </p:spPr>
        </p:pic>
        <p:pic>
          <p:nvPicPr>
            <p:cNvPr id="118" name="Picture 117">
              <a:extLst>
                <a:ext uri="{FF2B5EF4-FFF2-40B4-BE49-F238E27FC236}">
                  <a16:creationId xmlns:a16="http://schemas.microsoft.com/office/drawing/2014/main" id="{E5983337-4B98-5B9A-D027-F55AEE3EED8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34787" y="3841646"/>
              <a:ext cx="415608" cy="415608"/>
            </a:xfrm>
            <a:prstGeom prst="rect">
              <a:avLst/>
            </a:prstGeom>
          </p:spPr>
        </p:pic>
        <p:pic>
          <p:nvPicPr>
            <p:cNvPr id="119" name="Picture 118">
              <a:extLst>
                <a:ext uri="{FF2B5EF4-FFF2-40B4-BE49-F238E27FC236}">
                  <a16:creationId xmlns:a16="http://schemas.microsoft.com/office/drawing/2014/main" id="{43CB37F4-5206-1FC6-FD0A-F2B6A516735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32082" y="1958832"/>
              <a:ext cx="415608" cy="415608"/>
            </a:xfrm>
            <a:prstGeom prst="rect">
              <a:avLst/>
            </a:prstGeom>
          </p:spPr>
        </p:pic>
      </p:grpSp>
      <p:sp>
        <p:nvSpPr>
          <p:cNvPr id="66" name="TextBox 65">
            <a:extLst>
              <a:ext uri="{FF2B5EF4-FFF2-40B4-BE49-F238E27FC236}">
                <a16:creationId xmlns:a16="http://schemas.microsoft.com/office/drawing/2014/main" id="{583522EE-B2DF-3F66-988A-70E9C1F5AD62}"/>
              </a:ext>
            </a:extLst>
          </p:cNvPr>
          <p:cNvSpPr txBox="1"/>
          <p:nvPr/>
        </p:nvSpPr>
        <p:spPr>
          <a:xfrm>
            <a:off x="4877454" y="4325106"/>
            <a:ext cx="7553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+1°C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2A45C8C-C109-F204-3CAB-B1CAB4D06150}"/>
              </a:ext>
            </a:extLst>
          </p:cNvPr>
          <p:cNvSpPr txBox="1"/>
          <p:nvPr/>
        </p:nvSpPr>
        <p:spPr>
          <a:xfrm>
            <a:off x="4923756" y="3836984"/>
            <a:ext cx="7303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+5°C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F683FDFE-6B30-4BBC-F1AD-E81C19EF5001}"/>
              </a:ext>
            </a:extLst>
          </p:cNvPr>
          <p:cNvSpPr txBox="1"/>
          <p:nvPr/>
        </p:nvSpPr>
        <p:spPr>
          <a:xfrm>
            <a:off x="6073362" y="4686077"/>
            <a:ext cx="7706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+2°C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A4133F34-A99B-3738-F746-B13CFAA42084}"/>
              </a:ext>
            </a:extLst>
          </p:cNvPr>
          <p:cNvSpPr txBox="1"/>
          <p:nvPr/>
        </p:nvSpPr>
        <p:spPr>
          <a:xfrm>
            <a:off x="7072443" y="3565950"/>
            <a:ext cx="196319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sz="2400" dirty="0">
                <a:solidFill>
                  <a:schemeClr val="bg1"/>
                </a:solidFill>
              </a:rPr>
              <a:t>Total cost of priority areas  = +8°C</a:t>
            </a:r>
          </a:p>
        </p:txBody>
      </p:sp>
    </p:spTree>
    <p:extLst>
      <p:ext uri="{BB962C8B-B14F-4D97-AF65-F5344CB8AC3E}">
        <p14:creationId xmlns:p14="http://schemas.microsoft.com/office/powerpoint/2010/main" val="38279286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FFE0CBC-3056-CB77-F943-B13A71604B86}"/>
              </a:ext>
            </a:extLst>
          </p:cNvPr>
          <p:cNvSpPr/>
          <p:nvPr/>
        </p:nvSpPr>
        <p:spPr>
          <a:xfrm>
            <a:off x="7153579" y="4188090"/>
            <a:ext cx="1895171" cy="87500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417D22B-E687-8D50-083D-A02C6C5BB1E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0609" y="4255616"/>
            <a:ext cx="341279" cy="34127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163B37B-9FCB-FCE1-7E0E-304BA75592B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270609" y="4683728"/>
            <a:ext cx="322762" cy="29253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51052F1-6A4C-DE0F-2443-ECD99197BF25}"/>
              </a:ext>
            </a:extLst>
          </p:cNvPr>
          <p:cNvSpPr txBox="1"/>
          <p:nvPr/>
        </p:nvSpPr>
        <p:spPr>
          <a:xfrm>
            <a:off x="7620829" y="4284511"/>
            <a:ext cx="13271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≤ +3°C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EDF2ADE-BE2F-9E13-F910-E2B66AE9C94A}"/>
              </a:ext>
            </a:extLst>
          </p:cNvPr>
          <p:cNvSpPr txBox="1"/>
          <p:nvPr/>
        </p:nvSpPr>
        <p:spPr>
          <a:xfrm>
            <a:off x="7613303" y="4625593"/>
            <a:ext cx="15427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/>
              <a:t>≤ +9°C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0471381-C2FF-BB78-8FF5-5C7C5FB664E7}"/>
              </a:ext>
            </a:extLst>
          </p:cNvPr>
          <p:cNvSpPr txBox="1"/>
          <p:nvPr/>
        </p:nvSpPr>
        <p:spPr>
          <a:xfrm>
            <a:off x="42919" y="55434"/>
            <a:ext cx="4451184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NZ" sz="2400" dirty="0">
                <a:solidFill>
                  <a:srgbClr val="FFFF00"/>
                </a:solidFill>
              </a:rPr>
              <a:t>Prioritize selection of     refugia for species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NZ" sz="24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NZ" sz="2400" dirty="0">
                <a:solidFill>
                  <a:schemeClr val="bg1"/>
                </a:solidFill>
              </a:rPr>
              <a:t>Useful when conservation action does NOT abate threat (e.g., climate change)</a:t>
            </a:r>
          </a:p>
          <a:p>
            <a:endParaRPr lang="en-NZ" sz="24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NZ" sz="2400" dirty="0">
                <a:solidFill>
                  <a:schemeClr val="bg1"/>
                </a:solidFill>
              </a:rPr>
              <a:t>Mask feature values according to exposure thresholds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NZ" sz="24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NZ" sz="2400" dirty="0">
                <a:solidFill>
                  <a:schemeClr val="bg1"/>
                </a:solidFill>
              </a:rPr>
              <a:t>Requires threshold calibration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3238874-95D0-D121-ADCF-5192149AE9F6}"/>
              </a:ext>
            </a:extLst>
          </p:cNvPr>
          <p:cNvGrpSpPr/>
          <p:nvPr/>
        </p:nvGrpSpPr>
        <p:grpSpPr>
          <a:xfrm>
            <a:off x="4741679" y="93534"/>
            <a:ext cx="2017583" cy="1611747"/>
            <a:chOff x="5179695" y="1660890"/>
            <a:chExt cx="3689940" cy="2947710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EC39E3DE-45B0-2C07-DE30-8DADA88533D0}"/>
                </a:ext>
              </a:extLst>
            </p:cNvPr>
            <p:cNvGrpSpPr/>
            <p:nvPr/>
          </p:nvGrpSpPr>
          <p:grpSpPr>
            <a:xfrm>
              <a:off x="5179695" y="1660890"/>
              <a:ext cx="3689940" cy="2947710"/>
              <a:chOff x="4209306" y="1245600"/>
              <a:chExt cx="4380294" cy="3499200"/>
            </a:xfrm>
          </p:grpSpPr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93565FA0-E26E-169B-7973-C2DC58FBF457}"/>
                  </a:ext>
                </a:extLst>
              </p:cNvPr>
              <p:cNvSpPr/>
              <p:nvPr/>
            </p:nvSpPr>
            <p:spPr>
              <a:xfrm>
                <a:off x="4209306" y="1245600"/>
                <a:ext cx="4380294" cy="3499200"/>
              </a:xfrm>
              <a:prstGeom prst="rect">
                <a:avLst/>
              </a:prstGeom>
              <a:solidFill>
                <a:srgbClr val="1F497D">
                  <a:lumMod val="60000"/>
                  <a:lumOff val="40000"/>
                </a:srgbClr>
              </a:solidFill>
              <a:ln w="57150" cap="flat" cmpd="sng" algn="ctr">
                <a:solidFill>
                  <a:sysClr val="window" lastClr="FFFFFF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00A53865-AFCE-2BCC-AC69-653CD6CF3F54}"/>
                  </a:ext>
                </a:extLst>
              </p:cNvPr>
              <p:cNvSpPr/>
              <p:nvPr/>
            </p:nvSpPr>
            <p:spPr>
              <a:xfrm>
                <a:off x="7162077" y="1522519"/>
                <a:ext cx="1204677" cy="1011929"/>
              </a:xfrm>
              <a:prstGeom prst="ellipse">
                <a:avLst/>
              </a:prstGeom>
              <a:solidFill>
                <a:srgbClr val="92D050"/>
              </a:solidFill>
              <a:ln w="762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0E05382A-A11C-2657-C62F-CA48ABA1C4E8}"/>
                  </a:ext>
                </a:extLst>
              </p:cNvPr>
              <p:cNvSpPr/>
              <p:nvPr/>
            </p:nvSpPr>
            <p:spPr>
              <a:xfrm>
                <a:off x="6257784" y="3791251"/>
                <a:ext cx="785385" cy="659723"/>
              </a:xfrm>
              <a:prstGeom prst="ellipse">
                <a:avLst/>
              </a:prstGeom>
              <a:solidFill>
                <a:srgbClr val="92D050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8815DFB6-E369-654A-B1F9-9F242A081FD5}"/>
                  </a:ext>
                </a:extLst>
              </p:cNvPr>
              <p:cNvSpPr/>
              <p:nvPr/>
            </p:nvSpPr>
            <p:spPr>
              <a:xfrm>
                <a:off x="4426942" y="1508740"/>
                <a:ext cx="1037330" cy="871357"/>
              </a:xfrm>
              <a:prstGeom prst="ellipse">
                <a:avLst/>
              </a:prstGeom>
              <a:solidFill>
                <a:srgbClr val="92D050"/>
              </a:solidFill>
              <a:ln w="762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60" name="Oval 59">
                <a:extLst>
                  <a:ext uri="{FF2B5EF4-FFF2-40B4-BE49-F238E27FC236}">
                    <a16:creationId xmlns:a16="http://schemas.microsoft.com/office/drawing/2014/main" id="{DBAAD781-CE78-7FBF-306F-A41CF62979B7}"/>
                  </a:ext>
                </a:extLst>
              </p:cNvPr>
              <p:cNvSpPr/>
              <p:nvPr/>
            </p:nvSpPr>
            <p:spPr>
              <a:xfrm>
                <a:off x="4708749" y="3653556"/>
                <a:ext cx="1098619" cy="935114"/>
              </a:xfrm>
              <a:prstGeom prst="ellipse">
                <a:avLst/>
              </a:prstGeom>
              <a:solidFill>
                <a:srgbClr val="92D050"/>
              </a:solidFill>
              <a:ln w="571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88" name="Oval 87">
                <a:extLst>
                  <a:ext uri="{FF2B5EF4-FFF2-40B4-BE49-F238E27FC236}">
                    <a16:creationId xmlns:a16="http://schemas.microsoft.com/office/drawing/2014/main" id="{07907FAA-939E-8B94-BCC4-47BE5275AF6D}"/>
                  </a:ext>
                </a:extLst>
              </p:cNvPr>
              <p:cNvSpPr/>
              <p:nvPr/>
            </p:nvSpPr>
            <p:spPr>
              <a:xfrm>
                <a:off x="6032664" y="1320117"/>
                <a:ext cx="919678" cy="772531"/>
              </a:xfrm>
              <a:prstGeom prst="ellipse">
                <a:avLst/>
              </a:prstGeom>
              <a:solidFill>
                <a:srgbClr val="92D050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grpSp>
            <p:nvGrpSpPr>
              <p:cNvPr id="73" name="Group 72">
                <a:extLst>
                  <a:ext uri="{FF2B5EF4-FFF2-40B4-BE49-F238E27FC236}">
                    <a16:creationId xmlns:a16="http://schemas.microsoft.com/office/drawing/2014/main" id="{DAA7EECE-F8D4-0EFF-4F02-6E391453971A}"/>
                  </a:ext>
                </a:extLst>
              </p:cNvPr>
              <p:cNvGrpSpPr/>
              <p:nvPr/>
            </p:nvGrpSpPr>
            <p:grpSpPr>
              <a:xfrm>
                <a:off x="7579737" y="2919013"/>
                <a:ext cx="714664" cy="600318"/>
                <a:chOff x="7579737" y="2919013"/>
                <a:chExt cx="714664" cy="600318"/>
              </a:xfrm>
            </p:grpSpPr>
            <p:sp>
              <p:nvSpPr>
                <p:cNvPr id="86" name="Oval 85">
                  <a:extLst>
                    <a:ext uri="{FF2B5EF4-FFF2-40B4-BE49-F238E27FC236}">
                      <a16:creationId xmlns:a16="http://schemas.microsoft.com/office/drawing/2014/main" id="{6FF94BF5-5FEA-D40F-E7C4-BC8CA016772E}"/>
                    </a:ext>
                  </a:extLst>
                </p:cNvPr>
                <p:cNvSpPr/>
                <p:nvPr/>
              </p:nvSpPr>
              <p:spPr>
                <a:xfrm>
                  <a:off x="7579737" y="2919013"/>
                  <a:ext cx="714664" cy="600318"/>
                </a:xfrm>
                <a:prstGeom prst="ellipse">
                  <a:avLst/>
                </a:prstGeom>
                <a:solidFill>
                  <a:srgbClr val="92D050"/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pic>
              <p:nvPicPr>
                <p:cNvPr id="87" name="Picture 86">
                  <a:extLst>
                    <a:ext uri="{FF2B5EF4-FFF2-40B4-BE49-F238E27FC236}">
                      <a16:creationId xmlns:a16="http://schemas.microsoft.com/office/drawing/2014/main" id="{F9F8CC7A-B8A1-DE1B-EF54-1B4D22ACDF7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 flipH="1">
                  <a:off x="7727335" y="3009438"/>
                  <a:ext cx="419467" cy="419467"/>
                </a:xfrm>
                <a:prstGeom prst="rect">
                  <a:avLst/>
                </a:prstGeom>
              </p:spPr>
            </p:pic>
          </p:grpSp>
          <p:grpSp>
            <p:nvGrpSpPr>
              <p:cNvPr id="76" name="Group 75">
                <a:extLst>
                  <a:ext uri="{FF2B5EF4-FFF2-40B4-BE49-F238E27FC236}">
                    <a16:creationId xmlns:a16="http://schemas.microsoft.com/office/drawing/2014/main" id="{8324E866-D20A-5F5D-705E-24E7000EEC04}"/>
                  </a:ext>
                </a:extLst>
              </p:cNvPr>
              <p:cNvGrpSpPr/>
              <p:nvPr/>
            </p:nvGrpSpPr>
            <p:grpSpPr>
              <a:xfrm>
                <a:off x="6595012" y="2995200"/>
                <a:ext cx="714664" cy="600318"/>
                <a:chOff x="7579737" y="2919013"/>
                <a:chExt cx="714664" cy="600318"/>
              </a:xfrm>
            </p:grpSpPr>
            <p:sp>
              <p:nvSpPr>
                <p:cNvPr id="84" name="Oval 83">
                  <a:extLst>
                    <a:ext uri="{FF2B5EF4-FFF2-40B4-BE49-F238E27FC236}">
                      <a16:creationId xmlns:a16="http://schemas.microsoft.com/office/drawing/2014/main" id="{88BBE5AF-E10E-EAF2-6523-3BE07F94936A}"/>
                    </a:ext>
                  </a:extLst>
                </p:cNvPr>
                <p:cNvSpPr/>
                <p:nvPr/>
              </p:nvSpPr>
              <p:spPr>
                <a:xfrm>
                  <a:off x="7579737" y="2919013"/>
                  <a:ext cx="714664" cy="600318"/>
                </a:xfrm>
                <a:prstGeom prst="ellipse">
                  <a:avLst/>
                </a:prstGeom>
                <a:solidFill>
                  <a:srgbClr val="92D050"/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pic>
              <p:nvPicPr>
                <p:cNvPr id="85" name="Picture 84">
                  <a:extLst>
                    <a:ext uri="{FF2B5EF4-FFF2-40B4-BE49-F238E27FC236}">
                      <a16:creationId xmlns:a16="http://schemas.microsoft.com/office/drawing/2014/main" id="{EED5BB7C-14FD-8441-CB6D-35273C842F4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 flipH="1">
                  <a:off x="7727335" y="3009438"/>
                  <a:ext cx="419467" cy="419467"/>
                </a:xfrm>
                <a:prstGeom prst="rect">
                  <a:avLst/>
                </a:prstGeom>
              </p:spPr>
            </p:pic>
          </p:grpSp>
          <p:grpSp>
            <p:nvGrpSpPr>
              <p:cNvPr id="77" name="Group 76">
                <a:extLst>
                  <a:ext uri="{FF2B5EF4-FFF2-40B4-BE49-F238E27FC236}">
                    <a16:creationId xmlns:a16="http://schemas.microsoft.com/office/drawing/2014/main" id="{F649B74D-108D-06AB-3E77-C951C795F30B}"/>
                  </a:ext>
                </a:extLst>
              </p:cNvPr>
              <p:cNvGrpSpPr/>
              <p:nvPr/>
            </p:nvGrpSpPr>
            <p:grpSpPr>
              <a:xfrm>
                <a:off x="7625944" y="3780880"/>
                <a:ext cx="714664" cy="600318"/>
                <a:chOff x="7579737" y="2919013"/>
                <a:chExt cx="714664" cy="600318"/>
              </a:xfrm>
            </p:grpSpPr>
            <p:sp>
              <p:nvSpPr>
                <p:cNvPr id="82" name="Oval 81">
                  <a:extLst>
                    <a:ext uri="{FF2B5EF4-FFF2-40B4-BE49-F238E27FC236}">
                      <a16:creationId xmlns:a16="http://schemas.microsoft.com/office/drawing/2014/main" id="{EF5B5236-0F99-7AA3-F38F-E255ED622245}"/>
                    </a:ext>
                  </a:extLst>
                </p:cNvPr>
                <p:cNvSpPr/>
                <p:nvPr/>
              </p:nvSpPr>
              <p:spPr>
                <a:xfrm>
                  <a:off x="7579737" y="2919013"/>
                  <a:ext cx="714664" cy="600318"/>
                </a:xfrm>
                <a:prstGeom prst="ellipse">
                  <a:avLst/>
                </a:prstGeom>
                <a:solidFill>
                  <a:srgbClr val="92D050"/>
                </a:solidFill>
                <a:ln w="5715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pic>
              <p:nvPicPr>
                <p:cNvPr id="83" name="Picture 82">
                  <a:extLst>
                    <a:ext uri="{FF2B5EF4-FFF2-40B4-BE49-F238E27FC236}">
                      <a16:creationId xmlns:a16="http://schemas.microsoft.com/office/drawing/2014/main" id="{0682C574-27C2-AF30-0A24-B5D4CD534F1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 flipH="1">
                  <a:off x="7727335" y="3009438"/>
                  <a:ext cx="419467" cy="419467"/>
                </a:xfrm>
                <a:prstGeom prst="rect">
                  <a:avLst/>
                </a:prstGeom>
              </p:spPr>
            </p:pic>
          </p:grpSp>
          <p:grpSp>
            <p:nvGrpSpPr>
              <p:cNvPr id="78" name="Group 77">
                <a:extLst>
                  <a:ext uri="{FF2B5EF4-FFF2-40B4-BE49-F238E27FC236}">
                    <a16:creationId xmlns:a16="http://schemas.microsoft.com/office/drawing/2014/main" id="{82CE525B-E62A-8616-FBB7-D28B0C45F0AE}"/>
                  </a:ext>
                </a:extLst>
              </p:cNvPr>
              <p:cNvGrpSpPr/>
              <p:nvPr/>
            </p:nvGrpSpPr>
            <p:grpSpPr>
              <a:xfrm>
                <a:off x="5046843" y="2402034"/>
                <a:ext cx="1222464" cy="1026871"/>
                <a:chOff x="5046843" y="2402034"/>
                <a:chExt cx="1222464" cy="1026871"/>
              </a:xfrm>
            </p:grpSpPr>
            <p:sp>
              <p:nvSpPr>
                <p:cNvPr id="79" name="Oval 78">
                  <a:extLst>
                    <a:ext uri="{FF2B5EF4-FFF2-40B4-BE49-F238E27FC236}">
                      <a16:creationId xmlns:a16="http://schemas.microsoft.com/office/drawing/2014/main" id="{AE0D2263-6D53-9D97-9F97-5F091786C57F}"/>
                    </a:ext>
                  </a:extLst>
                </p:cNvPr>
                <p:cNvSpPr/>
                <p:nvPr/>
              </p:nvSpPr>
              <p:spPr>
                <a:xfrm>
                  <a:off x="5046843" y="2402034"/>
                  <a:ext cx="1222464" cy="1026871"/>
                </a:xfrm>
                <a:prstGeom prst="ellipse">
                  <a:avLst/>
                </a:prstGeom>
                <a:solidFill>
                  <a:srgbClr val="92D050"/>
                </a:solidFill>
                <a:ln w="5715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pic>
              <p:nvPicPr>
                <p:cNvPr id="80" name="Picture 79">
                  <a:extLst>
                    <a:ext uri="{FF2B5EF4-FFF2-40B4-BE49-F238E27FC236}">
                      <a16:creationId xmlns:a16="http://schemas.microsoft.com/office/drawing/2014/main" id="{1E55D91E-17F4-0D2B-BB6F-1EA79B0328A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664290" y="2499286"/>
                  <a:ext cx="493365" cy="493365"/>
                </a:xfrm>
                <a:prstGeom prst="rect">
                  <a:avLst/>
                </a:prstGeom>
              </p:spPr>
            </p:pic>
            <p:pic>
              <p:nvPicPr>
                <p:cNvPr id="81" name="Picture 80">
                  <a:extLst>
                    <a:ext uri="{FF2B5EF4-FFF2-40B4-BE49-F238E27FC236}">
                      <a16:creationId xmlns:a16="http://schemas.microsoft.com/office/drawing/2014/main" id="{7ED43D10-F46D-F9F5-AE62-6CDDA472AC8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 flipH="1">
                  <a:off x="5213128" y="2819315"/>
                  <a:ext cx="502288" cy="502288"/>
                </a:xfrm>
                <a:prstGeom prst="rect">
                  <a:avLst/>
                </a:prstGeom>
              </p:spPr>
            </p:pic>
          </p:grpSp>
        </p:grpSp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EB7581A4-4A9C-050A-B739-A97401AB281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62411" y="3872772"/>
              <a:ext cx="415608" cy="415608"/>
            </a:xfrm>
            <a:prstGeom prst="rect">
              <a:avLst/>
            </a:prstGeom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CA9FE3CA-00F1-AEF6-70BA-7FAA04927DF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88353" y="2112583"/>
              <a:ext cx="415608" cy="415608"/>
            </a:xfrm>
            <a:prstGeom prst="rect">
              <a:avLst/>
            </a:prstGeom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49913B09-77C9-AFCD-6852-46B74ADBB03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34787" y="3841646"/>
              <a:ext cx="415608" cy="415608"/>
            </a:xfrm>
            <a:prstGeom prst="rect">
              <a:avLst/>
            </a:prstGeom>
          </p:spPr>
        </p:pic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1BF1DCAE-A015-A0E5-F67C-6B867F645EF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32082" y="1958832"/>
              <a:ext cx="415608" cy="415608"/>
            </a:xfrm>
            <a:prstGeom prst="rect">
              <a:avLst/>
            </a:prstGeom>
          </p:spPr>
        </p:pic>
      </p:grpSp>
      <p:sp>
        <p:nvSpPr>
          <p:cNvPr id="90" name="TextBox 89">
            <a:extLst>
              <a:ext uri="{FF2B5EF4-FFF2-40B4-BE49-F238E27FC236}">
                <a16:creationId xmlns:a16="http://schemas.microsoft.com/office/drawing/2014/main" id="{8801CCCB-45D2-103D-F89D-67EC6EF2B251}"/>
              </a:ext>
            </a:extLst>
          </p:cNvPr>
          <p:cNvSpPr txBox="1"/>
          <p:nvPr/>
        </p:nvSpPr>
        <p:spPr>
          <a:xfrm>
            <a:off x="6829250" y="272542"/>
            <a:ext cx="146651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NZ" sz="2800" dirty="0">
                <a:solidFill>
                  <a:schemeClr val="bg1"/>
                </a:solidFill>
              </a:rPr>
              <a:t>Present day</a:t>
            </a:r>
          </a:p>
        </p:txBody>
      </p:sp>
      <p:grpSp>
        <p:nvGrpSpPr>
          <p:cNvPr id="91" name="Group 90">
            <a:extLst>
              <a:ext uri="{FF2B5EF4-FFF2-40B4-BE49-F238E27FC236}">
                <a16:creationId xmlns:a16="http://schemas.microsoft.com/office/drawing/2014/main" id="{D235C909-3B04-3D49-6AD4-2358EBE79894}"/>
              </a:ext>
            </a:extLst>
          </p:cNvPr>
          <p:cNvGrpSpPr/>
          <p:nvPr/>
        </p:nvGrpSpPr>
        <p:grpSpPr>
          <a:xfrm>
            <a:off x="6973088" y="1700332"/>
            <a:ext cx="2191640" cy="1568297"/>
            <a:chOff x="5157689" y="1660890"/>
            <a:chExt cx="4119323" cy="2947710"/>
          </a:xfrm>
        </p:grpSpPr>
        <p:grpSp>
          <p:nvGrpSpPr>
            <p:cNvPr id="92" name="Group 91">
              <a:extLst>
                <a:ext uri="{FF2B5EF4-FFF2-40B4-BE49-F238E27FC236}">
                  <a16:creationId xmlns:a16="http://schemas.microsoft.com/office/drawing/2014/main" id="{8F84C443-4366-0ABC-0DBC-6804E2C602DE}"/>
                </a:ext>
              </a:extLst>
            </p:cNvPr>
            <p:cNvGrpSpPr/>
            <p:nvPr/>
          </p:nvGrpSpPr>
          <p:grpSpPr>
            <a:xfrm>
              <a:off x="5179695" y="1660890"/>
              <a:ext cx="3689940" cy="2947710"/>
              <a:chOff x="4209306" y="1245600"/>
              <a:chExt cx="4380294" cy="3499200"/>
            </a:xfrm>
          </p:grpSpPr>
          <p:sp>
            <p:nvSpPr>
              <p:cNvPr id="106" name="Rectangle 105">
                <a:extLst>
                  <a:ext uri="{FF2B5EF4-FFF2-40B4-BE49-F238E27FC236}">
                    <a16:creationId xmlns:a16="http://schemas.microsoft.com/office/drawing/2014/main" id="{151E76E9-5AAD-5A48-8F9E-C11E784780E9}"/>
                  </a:ext>
                </a:extLst>
              </p:cNvPr>
              <p:cNvSpPr/>
              <p:nvPr/>
            </p:nvSpPr>
            <p:spPr>
              <a:xfrm>
                <a:off x="4209306" y="1245600"/>
                <a:ext cx="4380294" cy="3499200"/>
              </a:xfrm>
              <a:prstGeom prst="rect">
                <a:avLst/>
              </a:prstGeom>
              <a:solidFill>
                <a:srgbClr val="1F497D">
                  <a:lumMod val="60000"/>
                  <a:lumOff val="40000"/>
                </a:srgbClr>
              </a:solidFill>
              <a:ln w="57150" cap="flat" cmpd="sng" algn="ctr">
                <a:solidFill>
                  <a:sysClr val="window" lastClr="FFFFFF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07" name="Oval 106">
                <a:extLst>
                  <a:ext uri="{FF2B5EF4-FFF2-40B4-BE49-F238E27FC236}">
                    <a16:creationId xmlns:a16="http://schemas.microsoft.com/office/drawing/2014/main" id="{504CCC80-3703-38D9-6CA6-A32164368ACF}"/>
                  </a:ext>
                </a:extLst>
              </p:cNvPr>
              <p:cNvSpPr/>
              <p:nvPr/>
            </p:nvSpPr>
            <p:spPr>
              <a:xfrm>
                <a:off x="7162077" y="1522519"/>
                <a:ext cx="1204677" cy="1011929"/>
              </a:xfrm>
              <a:prstGeom prst="ellipse">
                <a:avLst/>
              </a:prstGeom>
              <a:solidFill>
                <a:srgbClr val="92D050"/>
              </a:solidFill>
              <a:ln w="762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08" name="Oval 107">
                <a:extLst>
                  <a:ext uri="{FF2B5EF4-FFF2-40B4-BE49-F238E27FC236}">
                    <a16:creationId xmlns:a16="http://schemas.microsoft.com/office/drawing/2014/main" id="{6546A29E-DE68-FDF2-7512-D15257B205C1}"/>
                  </a:ext>
                </a:extLst>
              </p:cNvPr>
              <p:cNvSpPr/>
              <p:nvPr/>
            </p:nvSpPr>
            <p:spPr>
              <a:xfrm>
                <a:off x="6257784" y="3791251"/>
                <a:ext cx="785385" cy="659723"/>
              </a:xfrm>
              <a:prstGeom prst="ellipse">
                <a:avLst/>
              </a:prstGeom>
              <a:solidFill>
                <a:srgbClr val="92D050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09" name="Oval 108">
                <a:extLst>
                  <a:ext uri="{FF2B5EF4-FFF2-40B4-BE49-F238E27FC236}">
                    <a16:creationId xmlns:a16="http://schemas.microsoft.com/office/drawing/2014/main" id="{E268CA2E-DEEF-5360-9FDE-1D243ED0852C}"/>
                  </a:ext>
                </a:extLst>
              </p:cNvPr>
              <p:cNvSpPr/>
              <p:nvPr/>
            </p:nvSpPr>
            <p:spPr>
              <a:xfrm>
                <a:off x="4426942" y="1508740"/>
                <a:ext cx="1037330" cy="871357"/>
              </a:xfrm>
              <a:prstGeom prst="ellipse">
                <a:avLst/>
              </a:prstGeom>
              <a:solidFill>
                <a:srgbClr val="92D050"/>
              </a:solidFill>
              <a:ln w="762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10" name="Oval 109">
                <a:extLst>
                  <a:ext uri="{FF2B5EF4-FFF2-40B4-BE49-F238E27FC236}">
                    <a16:creationId xmlns:a16="http://schemas.microsoft.com/office/drawing/2014/main" id="{7FD0D633-D9BF-BAC7-63DA-FEFADF04A4A8}"/>
                  </a:ext>
                </a:extLst>
              </p:cNvPr>
              <p:cNvSpPr/>
              <p:nvPr/>
            </p:nvSpPr>
            <p:spPr>
              <a:xfrm>
                <a:off x="4708749" y="3653556"/>
                <a:ext cx="1098619" cy="935114"/>
              </a:xfrm>
              <a:prstGeom prst="ellipse">
                <a:avLst/>
              </a:prstGeom>
              <a:solidFill>
                <a:srgbClr val="92D050"/>
              </a:solidFill>
              <a:ln w="571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25" name="Oval 124">
                <a:extLst>
                  <a:ext uri="{FF2B5EF4-FFF2-40B4-BE49-F238E27FC236}">
                    <a16:creationId xmlns:a16="http://schemas.microsoft.com/office/drawing/2014/main" id="{5D7AFF46-6C66-2647-5255-6482B6241C58}"/>
                  </a:ext>
                </a:extLst>
              </p:cNvPr>
              <p:cNvSpPr/>
              <p:nvPr/>
            </p:nvSpPr>
            <p:spPr>
              <a:xfrm>
                <a:off x="6032664" y="1320117"/>
                <a:ext cx="919678" cy="772532"/>
              </a:xfrm>
              <a:prstGeom prst="ellipse">
                <a:avLst/>
              </a:prstGeom>
              <a:solidFill>
                <a:srgbClr val="92D050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23" name="Oval 122">
                <a:extLst>
                  <a:ext uri="{FF2B5EF4-FFF2-40B4-BE49-F238E27FC236}">
                    <a16:creationId xmlns:a16="http://schemas.microsoft.com/office/drawing/2014/main" id="{5D402E3F-F51F-5170-5037-83C7BEDCC841}"/>
                  </a:ext>
                </a:extLst>
              </p:cNvPr>
              <p:cNvSpPr/>
              <p:nvPr/>
            </p:nvSpPr>
            <p:spPr>
              <a:xfrm>
                <a:off x="7579737" y="2919012"/>
                <a:ext cx="714664" cy="600318"/>
              </a:xfrm>
              <a:prstGeom prst="ellipse">
                <a:avLst/>
              </a:prstGeom>
              <a:solidFill>
                <a:srgbClr val="92D050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21" name="Oval 120">
                <a:extLst>
                  <a:ext uri="{FF2B5EF4-FFF2-40B4-BE49-F238E27FC236}">
                    <a16:creationId xmlns:a16="http://schemas.microsoft.com/office/drawing/2014/main" id="{58566F88-432D-1EC3-5D00-29ABF7137BD9}"/>
                  </a:ext>
                </a:extLst>
              </p:cNvPr>
              <p:cNvSpPr/>
              <p:nvPr/>
            </p:nvSpPr>
            <p:spPr>
              <a:xfrm>
                <a:off x="6595012" y="2995200"/>
                <a:ext cx="714664" cy="600318"/>
              </a:xfrm>
              <a:prstGeom prst="ellipse">
                <a:avLst/>
              </a:prstGeom>
              <a:solidFill>
                <a:srgbClr val="92D050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19" name="Oval 118">
                <a:extLst>
                  <a:ext uri="{FF2B5EF4-FFF2-40B4-BE49-F238E27FC236}">
                    <a16:creationId xmlns:a16="http://schemas.microsoft.com/office/drawing/2014/main" id="{DBBF0DE9-01D2-B084-E60E-C50CD16E1BB9}"/>
                  </a:ext>
                </a:extLst>
              </p:cNvPr>
              <p:cNvSpPr/>
              <p:nvPr/>
            </p:nvSpPr>
            <p:spPr>
              <a:xfrm>
                <a:off x="7625945" y="3780880"/>
                <a:ext cx="714664" cy="600318"/>
              </a:xfrm>
              <a:prstGeom prst="ellipse">
                <a:avLst/>
              </a:prstGeom>
              <a:solidFill>
                <a:srgbClr val="92D050"/>
              </a:solidFill>
              <a:ln w="571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16" name="Oval 115">
                <a:extLst>
                  <a:ext uri="{FF2B5EF4-FFF2-40B4-BE49-F238E27FC236}">
                    <a16:creationId xmlns:a16="http://schemas.microsoft.com/office/drawing/2014/main" id="{DE1E2656-9FC3-3EFA-3E7A-AF55E76D997F}"/>
                  </a:ext>
                </a:extLst>
              </p:cNvPr>
              <p:cNvSpPr/>
              <p:nvPr/>
            </p:nvSpPr>
            <p:spPr>
              <a:xfrm>
                <a:off x="5046843" y="2402034"/>
                <a:ext cx="1222464" cy="1026871"/>
              </a:xfrm>
              <a:prstGeom prst="ellipse">
                <a:avLst/>
              </a:prstGeom>
              <a:solidFill>
                <a:srgbClr val="92D050"/>
              </a:solidFill>
              <a:ln w="571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49DB4243-2897-C846-2B0C-036038DA8DA6}"/>
                </a:ext>
              </a:extLst>
            </p:cNvPr>
            <p:cNvSpPr txBox="1"/>
            <p:nvPr/>
          </p:nvSpPr>
          <p:spPr>
            <a:xfrm>
              <a:off x="5498658" y="3808732"/>
              <a:ext cx="1505828" cy="5206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NZ" sz="1200" dirty="0"/>
                <a:t>+1°C</a:t>
              </a: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5C6549C6-8FA3-5092-B58D-C548C6D7D9F8}"/>
                </a:ext>
              </a:extLst>
            </p:cNvPr>
            <p:cNvSpPr txBox="1"/>
            <p:nvPr/>
          </p:nvSpPr>
          <p:spPr>
            <a:xfrm>
              <a:off x="6496582" y="1809364"/>
              <a:ext cx="1879977" cy="5206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NZ" sz="1200" dirty="0"/>
                <a:t>+10°C</a:t>
              </a: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54536C4E-D5A1-D3C1-1F70-A0E805F2962A}"/>
                </a:ext>
              </a:extLst>
            </p:cNvPr>
            <p:cNvSpPr txBox="1"/>
            <p:nvPr/>
          </p:nvSpPr>
          <p:spPr>
            <a:xfrm>
              <a:off x="5851418" y="2779806"/>
              <a:ext cx="1455136" cy="5206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NZ" sz="1200" dirty="0"/>
                <a:t>+5°C</a:t>
              </a:r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BDE611A1-0A98-3430-9B9D-80F82780127B}"/>
                </a:ext>
              </a:extLst>
            </p:cNvPr>
            <p:cNvSpPr txBox="1"/>
            <p:nvPr/>
          </p:nvSpPr>
          <p:spPr>
            <a:xfrm>
              <a:off x="5157689" y="1939103"/>
              <a:ext cx="1422249" cy="5206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NZ" sz="1200" dirty="0"/>
                <a:t>+2°C</a:t>
              </a:r>
            </a:p>
          </p:txBody>
        </p: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AC1937DC-7CA9-DA30-8556-CB20434B604A}"/>
                </a:ext>
              </a:extLst>
            </p:cNvPr>
            <p:cNvSpPr txBox="1"/>
            <p:nvPr/>
          </p:nvSpPr>
          <p:spPr>
            <a:xfrm>
              <a:off x="7539855" y="2046668"/>
              <a:ext cx="1226497" cy="5206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NZ" sz="1200" dirty="0"/>
                <a:t>+12°C</a:t>
              </a:r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18FE0214-506B-DEBC-3E4D-368C3E0E31CB}"/>
                </a:ext>
              </a:extLst>
            </p:cNvPr>
            <p:cNvSpPr txBox="1"/>
            <p:nvPr/>
          </p:nvSpPr>
          <p:spPr>
            <a:xfrm>
              <a:off x="6954383" y="3126138"/>
              <a:ext cx="1505826" cy="5206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NZ" sz="1200" dirty="0"/>
                <a:t>+9°C</a:t>
              </a: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DBC27201-9401-198F-B384-20E92337340E}"/>
                </a:ext>
              </a:extLst>
            </p:cNvPr>
            <p:cNvSpPr txBox="1"/>
            <p:nvPr/>
          </p:nvSpPr>
          <p:spPr>
            <a:xfrm>
              <a:off x="6631406" y="3748295"/>
              <a:ext cx="1584478" cy="5206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NZ" sz="1200" dirty="0"/>
                <a:t>+4°C</a:t>
              </a:r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BF6B0A4D-CE89-7208-9616-207E81CB53B6}"/>
                </a:ext>
              </a:extLst>
            </p:cNvPr>
            <p:cNvSpPr txBox="1"/>
            <p:nvPr/>
          </p:nvSpPr>
          <p:spPr>
            <a:xfrm>
              <a:off x="7771186" y="3029062"/>
              <a:ext cx="1505826" cy="5206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NZ" sz="1200" dirty="0"/>
                <a:t>+7°C</a:t>
              </a:r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7BA1580B-2A8C-F537-A8EC-EFF2DFF31D95}"/>
                </a:ext>
              </a:extLst>
            </p:cNvPr>
            <p:cNvSpPr txBox="1"/>
            <p:nvPr/>
          </p:nvSpPr>
          <p:spPr>
            <a:xfrm>
              <a:off x="7829146" y="3791619"/>
              <a:ext cx="1380892" cy="5206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NZ" sz="1200" dirty="0"/>
                <a:t>+2°C</a:t>
              </a:r>
            </a:p>
          </p:txBody>
        </p:sp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A73C13EE-F731-336A-E445-41DE36B962E0}"/>
              </a:ext>
            </a:extLst>
          </p:cNvPr>
          <p:cNvGrpSpPr/>
          <p:nvPr/>
        </p:nvGrpSpPr>
        <p:grpSpPr>
          <a:xfrm>
            <a:off x="5011604" y="3405620"/>
            <a:ext cx="2017583" cy="1611747"/>
            <a:chOff x="5179695" y="1660890"/>
            <a:chExt cx="3689940" cy="2947710"/>
          </a:xfrm>
        </p:grpSpPr>
        <p:grpSp>
          <p:nvGrpSpPr>
            <p:cNvPr id="128" name="Group 127">
              <a:extLst>
                <a:ext uri="{FF2B5EF4-FFF2-40B4-BE49-F238E27FC236}">
                  <a16:creationId xmlns:a16="http://schemas.microsoft.com/office/drawing/2014/main" id="{25FCB010-A882-FEFB-8676-EB1EC9D33D77}"/>
                </a:ext>
              </a:extLst>
            </p:cNvPr>
            <p:cNvGrpSpPr/>
            <p:nvPr/>
          </p:nvGrpSpPr>
          <p:grpSpPr>
            <a:xfrm>
              <a:off x="5179695" y="1660890"/>
              <a:ext cx="3689940" cy="2947710"/>
              <a:chOff x="4209306" y="1245600"/>
              <a:chExt cx="4380294" cy="3499200"/>
            </a:xfrm>
          </p:grpSpPr>
          <p:sp>
            <p:nvSpPr>
              <p:cNvPr id="133" name="Rectangle 132">
                <a:extLst>
                  <a:ext uri="{FF2B5EF4-FFF2-40B4-BE49-F238E27FC236}">
                    <a16:creationId xmlns:a16="http://schemas.microsoft.com/office/drawing/2014/main" id="{E5D8906D-F8A5-6A19-4103-F3E1D1A21B1C}"/>
                  </a:ext>
                </a:extLst>
              </p:cNvPr>
              <p:cNvSpPr/>
              <p:nvPr/>
            </p:nvSpPr>
            <p:spPr>
              <a:xfrm>
                <a:off x="4209306" y="1245600"/>
                <a:ext cx="4380294" cy="3499200"/>
              </a:xfrm>
              <a:prstGeom prst="rect">
                <a:avLst/>
              </a:prstGeom>
              <a:solidFill>
                <a:srgbClr val="1F497D">
                  <a:lumMod val="60000"/>
                  <a:lumOff val="40000"/>
                </a:srgbClr>
              </a:solidFill>
              <a:ln w="57150" cap="flat" cmpd="sng" algn="ctr">
                <a:solidFill>
                  <a:sysClr val="window" lastClr="FFFFFF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34" name="Oval 133">
                <a:extLst>
                  <a:ext uri="{FF2B5EF4-FFF2-40B4-BE49-F238E27FC236}">
                    <a16:creationId xmlns:a16="http://schemas.microsoft.com/office/drawing/2014/main" id="{01371E4A-C3FD-B368-7F2F-FAD17451BFE3}"/>
                  </a:ext>
                </a:extLst>
              </p:cNvPr>
              <p:cNvSpPr/>
              <p:nvPr/>
            </p:nvSpPr>
            <p:spPr>
              <a:xfrm>
                <a:off x="7162077" y="1522519"/>
                <a:ext cx="1204677" cy="1011929"/>
              </a:xfrm>
              <a:prstGeom prst="ellipse">
                <a:avLst/>
              </a:prstGeom>
              <a:solidFill>
                <a:srgbClr val="92D050"/>
              </a:solidFill>
              <a:ln w="762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35" name="Oval 134">
                <a:extLst>
                  <a:ext uri="{FF2B5EF4-FFF2-40B4-BE49-F238E27FC236}">
                    <a16:creationId xmlns:a16="http://schemas.microsoft.com/office/drawing/2014/main" id="{B341F0C3-D887-9796-6780-E8DA0C2BE0A6}"/>
                  </a:ext>
                </a:extLst>
              </p:cNvPr>
              <p:cNvSpPr/>
              <p:nvPr/>
            </p:nvSpPr>
            <p:spPr>
              <a:xfrm>
                <a:off x="6257784" y="3791251"/>
                <a:ext cx="785385" cy="659723"/>
              </a:xfrm>
              <a:prstGeom prst="ellipse">
                <a:avLst/>
              </a:prstGeom>
              <a:solidFill>
                <a:srgbClr val="92D050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36" name="Oval 135">
                <a:extLst>
                  <a:ext uri="{FF2B5EF4-FFF2-40B4-BE49-F238E27FC236}">
                    <a16:creationId xmlns:a16="http://schemas.microsoft.com/office/drawing/2014/main" id="{EF8D490E-989F-93BC-64D1-62F14122CAFB}"/>
                  </a:ext>
                </a:extLst>
              </p:cNvPr>
              <p:cNvSpPr/>
              <p:nvPr/>
            </p:nvSpPr>
            <p:spPr>
              <a:xfrm>
                <a:off x="4426942" y="1508740"/>
                <a:ext cx="1037330" cy="871357"/>
              </a:xfrm>
              <a:prstGeom prst="ellipse">
                <a:avLst/>
              </a:prstGeom>
              <a:solidFill>
                <a:srgbClr val="92D050"/>
              </a:solidFill>
              <a:ln w="76200" cap="flat" cmpd="sng" algn="ctr">
                <a:solidFill>
                  <a:srgbClr val="FFFF00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37" name="Oval 136">
                <a:extLst>
                  <a:ext uri="{FF2B5EF4-FFF2-40B4-BE49-F238E27FC236}">
                    <a16:creationId xmlns:a16="http://schemas.microsoft.com/office/drawing/2014/main" id="{AE7D77A4-7C21-5FF4-A184-2637D983F8FC}"/>
                  </a:ext>
                </a:extLst>
              </p:cNvPr>
              <p:cNvSpPr/>
              <p:nvPr/>
            </p:nvSpPr>
            <p:spPr>
              <a:xfrm>
                <a:off x="4708749" y="3653556"/>
                <a:ext cx="1098619" cy="935114"/>
              </a:xfrm>
              <a:prstGeom prst="ellipse">
                <a:avLst/>
              </a:prstGeom>
              <a:solidFill>
                <a:srgbClr val="92D050"/>
              </a:solidFill>
              <a:ln w="57150" cap="flat" cmpd="sng" algn="ctr">
                <a:solidFill>
                  <a:srgbClr val="FFFF00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52" name="Oval 151">
                <a:extLst>
                  <a:ext uri="{FF2B5EF4-FFF2-40B4-BE49-F238E27FC236}">
                    <a16:creationId xmlns:a16="http://schemas.microsoft.com/office/drawing/2014/main" id="{318C769B-446F-488C-BE02-17922E6DE611}"/>
                  </a:ext>
                </a:extLst>
              </p:cNvPr>
              <p:cNvSpPr/>
              <p:nvPr/>
            </p:nvSpPr>
            <p:spPr>
              <a:xfrm>
                <a:off x="6032664" y="1320117"/>
                <a:ext cx="919678" cy="772531"/>
              </a:xfrm>
              <a:prstGeom prst="ellipse">
                <a:avLst/>
              </a:prstGeom>
              <a:solidFill>
                <a:srgbClr val="92D050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grpSp>
            <p:nvGrpSpPr>
              <p:cNvPr id="139" name="Group 138">
                <a:extLst>
                  <a:ext uri="{FF2B5EF4-FFF2-40B4-BE49-F238E27FC236}">
                    <a16:creationId xmlns:a16="http://schemas.microsoft.com/office/drawing/2014/main" id="{5E3E512A-A7A4-BD51-23E5-A3990A772609}"/>
                  </a:ext>
                </a:extLst>
              </p:cNvPr>
              <p:cNvGrpSpPr/>
              <p:nvPr/>
            </p:nvGrpSpPr>
            <p:grpSpPr>
              <a:xfrm>
                <a:off x="7579737" y="2919013"/>
                <a:ext cx="714664" cy="600318"/>
                <a:chOff x="7579737" y="2919013"/>
                <a:chExt cx="714664" cy="600318"/>
              </a:xfrm>
            </p:grpSpPr>
            <p:sp>
              <p:nvSpPr>
                <p:cNvPr id="150" name="Oval 149">
                  <a:extLst>
                    <a:ext uri="{FF2B5EF4-FFF2-40B4-BE49-F238E27FC236}">
                      <a16:creationId xmlns:a16="http://schemas.microsoft.com/office/drawing/2014/main" id="{04321E8C-EC26-628A-C351-AA0FE315BB36}"/>
                    </a:ext>
                  </a:extLst>
                </p:cNvPr>
                <p:cNvSpPr/>
                <p:nvPr/>
              </p:nvSpPr>
              <p:spPr>
                <a:xfrm>
                  <a:off x="7579737" y="2919013"/>
                  <a:ext cx="714664" cy="600318"/>
                </a:xfrm>
                <a:prstGeom prst="ellipse">
                  <a:avLst/>
                </a:prstGeom>
                <a:solidFill>
                  <a:srgbClr val="92D050"/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pic>
              <p:nvPicPr>
                <p:cNvPr id="151" name="Picture 150">
                  <a:extLst>
                    <a:ext uri="{FF2B5EF4-FFF2-40B4-BE49-F238E27FC236}">
                      <a16:creationId xmlns:a16="http://schemas.microsoft.com/office/drawing/2014/main" id="{1907C9B7-C36E-DF57-FBF2-3161491CD89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 flipH="1">
                  <a:off x="7727335" y="3009438"/>
                  <a:ext cx="419467" cy="419467"/>
                </a:xfrm>
                <a:prstGeom prst="rect">
                  <a:avLst/>
                </a:prstGeom>
              </p:spPr>
            </p:pic>
          </p:grpSp>
          <p:grpSp>
            <p:nvGrpSpPr>
              <p:cNvPr id="140" name="Group 139">
                <a:extLst>
                  <a:ext uri="{FF2B5EF4-FFF2-40B4-BE49-F238E27FC236}">
                    <a16:creationId xmlns:a16="http://schemas.microsoft.com/office/drawing/2014/main" id="{026E3AD0-CD01-AA87-1232-2F9A795B257F}"/>
                  </a:ext>
                </a:extLst>
              </p:cNvPr>
              <p:cNvGrpSpPr/>
              <p:nvPr/>
            </p:nvGrpSpPr>
            <p:grpSpPr>
              <a:xfrm>
                <a:off x="6595012" y="2995200"/>
                <a:ext cx="714664" cy="600318"/>
                <a:chOff x="7579737" y="2919013"/>
                <a:chExt cx="714664" cy="600318"/>
              </a:xfrm>
            </p:grpSpPr>
            <p:sp>
              <p:nvSpPr>
                <p:cNvPr id="148" name="Oval 147">
                  <a:extLst>
                    <a:ext uri="{FF2B5EF4-FFF2-40B4-BE49-F238E27FC236}">
                      <a16:creationId xmlns:a16="http://schemas.microsoft.com/office/drawing/2014/main" id="{1B4F6A07-56F8-5F26-9784-C01AB61A283C}"/>
                    </a:ext>
                  </a:extLst>
                </p:cNvPr>
                <p:cNvSpPr/>
                <p:nvPr/>
              </p:nvSpPr>
              <p:spPr>
                <a:xfrm>
                  <a:off x="7579737" y="2919013"/>
                  <a:ext cx="714664" cy="600318"/>
                </a:xfrm>
                <a:prstGeom prst="ellipse">
                  <a:avLst/>
                </a:prstGeom>
                <a:solidFill>
                  <a:srgbClr val="92D050"/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pic>
              <p:nvPicPr>
                <p:cNvPr id="149" name="Picture 148">
                  <a:extLst>
                    <a:ext uri="{FF2B5EF4-FFF2-40B4-BE49-F238E27FC236}">
                      <a16:creationId xmlns:a16="http://schemas.microsoft.com/office/drawing/2014/main" id="{1C10663C-82FE-C07A-779B-F68116080A0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 flipH="1">
                  <a:off x="7727335" y="3009438"/>
                  <a:ext cx="419467" cy="419467"/>
                </a:xfrm>
                <a:prstGeom prst="rect">
                  <a:avLst/>
                </a:prstGeom>
              </p:spPr>
            </p:pic>
          </p:grpSp>
          <p:grpSp>
            <p:nvGrpSpPr>
              <p:cNvPr id="141" name="Group 140">
                <a:extLst>
                  <a:ext uri="{FF2B5EF4-FFF2-40B4-BE49-F238E27FC236}">
                    <a16:creationId xmlns:a16="http://schemas.microsoft.com/office/drawing/2014/main" id="{099141B7-8F7F-7C5B-32E3-6116A0B213D5}"/>
                  </a:ext>
                </a:extLst>
              </p:cNvPr>
              <p:cNvGrpSpPr/>
              <p:nvPr/>
            </p:nvGrpSpPr>
            <p:grpSpPr>
              <a:xfrm>
                <a:off x="7625944" y="3780880"/>
                <a:ext cx="714664" cy="600318"/>
                <a:chOff x="7579737" y="2919013"/>
                <a:chExt cx="714664" cy="600318"/>
              </a:xfrm>
            </p:grpSpPr>
            <p:sp>
              <p:nvSpPr>
                <p:cNvPr id="146" name="Oval 145">
                  <a:extLst>
                    <a:ext uri="{FF2B5EF4-FFF2-40B4-BE49-F238E27FC236}">
                      <a16:creationId xmlns:a16="http://schemas.microsoft.com/office/drawing/2014/main" id="{D1D0AD10-C536-F431-DBA1-FFF2C037DBF6}"/>
                    </a:ext>
                  </a:extLst>
                </p:cNvPr>
                <p:cNvSpPr/>
                <p:nvPr/>
              </p:nvSpPr>
              <p:spPr>
                <a:xfrm>
                  <a:off x="7579737" y="2919013"/>
                  <a:ext cx="714664" cy="600318"/>
                </a:xfrm>
                <a:prstGeom prst="ellipse">
                  <a:avLst/>
                </a:prstGeom>
                <a:solidFill>
                  <a:srgbClr val="92D050"/>
                </a:solidFill>
                <a:ln w="57150" cap="flat" cmpd="sng" algn="ctr">
                  <a:solidFill>
                    <a:srgbClr val="FFFF00"/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pic>
              <p:nvPicPr>
                <p:cNvPr id="147" name="Picture 146">
                  <a:extLst>
                    <a:ext uri="{FF2B5EF4-FFF2-40B4-BE49-F238E27FC236}">
                      <a16:creationId xmlns:a16="http://schemas.microsoft.com/office/drawing/2014/main" id="{05852160-9066-F214-68B5-C409AEB7BC3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 flipH="1">
                  <a:off x="7727335" y="3009438"/>
                  <a:ext cx="419467" cy="419467"/>
                </a:xfrm>
                <a:prstGeom prst="rect">
                  <a:avLst/>
                </a:prstGeom>
              </p:spPr>
            </p:pic>
          </p:grpSp>
          <p:grpSp>
            <p:nvGrpSpPr>
              <p:cNvPr id="142" name="Group 141">
                <a:extLst>
                  <a:ext uri="{FF2B5EF4-FFF2-40B4-BE49-F238E27FC236}">
                    <a16:creationId xmlns:a16="http://schemas.microsoft.com/office/drawing/2014/main" id="{C0B16305-E859-2155-DA44-9E1471FCD71F}"/>
                  </a:ext>
                </a:extLst>
              </p:cNvPr>
              <p:cNvGrpSpPr/>
              <p:nvPr/>
            </p:nvGrpSpPr>
            <p:grpSpPr>
              <a:xfrm>
                <a:off x="5046843" y="2402034"/>
                <a:ext cx="1222464" cy="1026871"/>
                <a:chOff x="5046843" y="2402034"/>
                <a:chExt cx="1222464" cy="1026871"/>
              </a:xfrm>
            </p:grpSpPr>
            <p:sp>
              <p:nvSpPr>
                <p:cNvPr id="143" name="Oval 142">
                  <a:extLst>
                    <a:ext uri="{FF2B5EF4-FFF2-40B4-BE49-F238E27FC236}">
                      <a16:creationId xmlns:a16="http://schemas.microsoft.com/office/drawing/2014/main" id="{1AAD3959-1151-F8D0-9653-4D99B5905992}"/>
                    </a:ext>
                  </a:extLst>
                </p:cNvPr>
                <p:cNvSpPr/>
                <p:nvPr/>
              </p:nvSpPr>
              <p:spPr>
                <a:xfrm>
                  <a:off x="5046843" y="2402034"/>
                  <a:ext cx="1222464" cy="1026871"/>
                </a:xfrm>
                <a:prstGeom prst="ellipse">
                  <a:avLst/>
                </a:prstGeom>
                <a:solidFill>
                  <a:srgbClr val="92D050"/>
                </a:solidFill>
                <a:ln w="57150" cap="flat" cmpd="sng" algn="ctr">
                  <a:solidFill>
                    <a:srgbClr val="FFFF00"/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pic>
              <p:nvPicPr>
                <p:cNvPr id="145" name="Picture 144">
                  <a:extLst>
                    <a:ext uri="{FF2B5EF4-FFF2-40B4-BE49-F238E27FC236}">
                      <a16:creationId xmlns:a16="http://schemas.microsoft.com/office/drawing/2014/main" id="{11D7B3F9-2B57-0B75-94AB-089E1AF9971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 flipH="1">
                  <a:off x="5213128" y="2819315"/>
                  <a:ext cx="502288" cy="502288"/>
                </a:xfrm>
                <a:prstGeom prst="rect">
                  <a:avLst/>
                </a:prstGeom>
              </p:spPr>
            </p:pic>
          </p:grpSp>
        </p:grpSp>
        <p:pic>
          <p:nvPicPr>
            <p:cNvPr id="129" name="Picture 128">
              <a:extLst>
                <a:ext uri="{FF2B5EF4-FFF2-40B4-BE49-F238E27FC236}">
                  <a16:creationId xmlns:a16="http://schemas.microsoft.com/office/drawing/2014/main" id="{E767F64C-5F2C-F697-3E32-AEF6995FD3B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62411" y="3872772"/>
              <a:ext cx="415608" cy="415608"/>
            </a:xfrm>
            <a:prstGeom prst="rect">
              <a:avLst/>
            </a:prstGeom>
          </p:spPr>
        </p:pic>
        <p:pic>
          <p:nvPicPr>
            <p:cNvPr id="130" name="Picture 129">
              <a:extLst>
                <a:ext uri="{FF2B5EF4-FFF2-40B4-BE49-F238E27FC236}">
                  <a16:creationId xmlns:a16="http://schemas.microsoft.com/office/drawing/2014/main" id="{F5905C4C-5AA2-27D1-E6C6-C90DF153DC1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88353" y="2112583"/>
              <a:ext cx="415608" cy="415608"/>
            </a:xfrm>
            <a:prstGeom prst="rect">
              <a:avLst/>
            </a:prstGeom>
          </p:spPr>
        </p:pic>
        <p:pic>
          <p:nvPicPr>
            <p:cNvPr id="132" name="Picture 131">
              <a:extLst>
                <a:ext uri="{FF2B5EF4-FFF2-40B4-BE49-F238E27FC236}">
                  <a16:creationId xmlns:a16="http://schemas.microsoft.com/office/drawing/2014/main" id="{05FA1D3F-2305-7944-5559-BD3EA867161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32082" y="1958832"/>
              <a:ext cx="415608" cy="415608"/>
            </a:xfrm>
            <a:prstGeom prst="rect">
              <a:avLst/>
            </a:prstGeom>
          </p:spPr>
        </p:pic>
      </p:grpSp>
      <p:sp>
        <p:nvSpPr>
          <p:cNvPr id="154" name="TextBox 153">
            <a:extLst>
              <a:ext uri="{FF2B5EF4-FFF2-40B4-BE49-F238E27FC236}">
                <a16:creationId xmlns:a16="http://schemas.microsoft.com/office/drawing/2014/main" id="{FE97C034-81EC-5D72-FB44-434291A97FB0}"/>
              </a:ext>
            </a:extLst>
          </p:cNvPr>
          <p:cNvSpPr txBox="1"/>
          <p:nvPr/>
        </p:nvSpPr>
        <p:spPr>
          <a:xfrm>
            <a:off x="5182573" y="2050938"/>
            <a:ext cx="146651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NZ" sz="2800" dirty="0">
                <a:solidFill>
                  <a:schemeClr val="bg1"/>
                </a:solidFill>
              </a:rPr>
              <a:t>Climate velocity</a:t>
            </a:r>
          </a:p>
        </p:txBody>
      </p:sp>
      <p:sp>
        <p:nvSpPr>
          <p:cNvPr id="155" name="TextBox 154">
            <a:extLst>
              <a:ext uri="{FF2B5EF4-FFF2-40B4-BE49-F238E27FC236}">
                <a16:creationId xmlns:a16="http://schemas.microsoft.com/office/drawing/2014/main" id="{12B4EBEE-2EE3-6896-6A18-D57E6E2B0917}"/>
              </a:ext>
            </a:extLst>
          </p:cNvPr>
          <p:cNvSpPr txBox="1"/>
          <p:nvPr/>
        </p:nvSpPr>
        <p:spPr>
          <a:xfrm>
            <a:off x="7087894" y="3385993"/>
            <a:ext cx="176092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NZ" sz="2000" dirty="0">
                <a:solidFill>
                  <a:schemeClr val="bg1"/>
                </a:solidFill>
              </a:rPr>
              <a:t>Refugial populations</a:t>
            </a:r>
          </a:p>
        </p:txBody>
      </p:sp>
    </p:spTree>
    <p:extLst>
      <p:ext uri="{BB962C8B-B14F-4D97-AF65-F5344CB8AC3E}">
        <p14:creationId xmlns:p14="http://schemas.microsoft.com/office/powerpoint/2010/main" val="9748446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4AB2E8DD-83B6-53D6-015F-523F711D80D1}"/>
              </a:ext>
            </a:extLst>
          </p:cNvPr>
          <p:cNvGrpSpPr/>
          <p:nvPr/>
        </p:nvGrpSpPr>
        <p:grpSpPr>
          <a:xfrm>
            <a:off x="6884613" y="1360800"/>
            <a:ext cx="2158531" cy="1724343"/>
            <a:chOff x="5120979" y="1097895"/>
            <a:chExt cx="3689940" cy="2947710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CFF4DF13-ECA9-B0A9-A383-B9F02CDFDD1B}"/>
                </a:ext>
              </a:extLst>
            </p:cNvPr>
            <p:cNvGrpSpPr/>
            <p:nvPr/>
          </p:nvGrpSpPr>
          <p:grpSpPr>
            <a:xfrm>
              <a:off x="5120979" y="1097895"/>
              <a:ext cx="3689940" cy="2947710"/>
              <a:chOff x="4209306" y="1245600"/>
              <a:chExt cx="4380294" cy="3499200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56CBDC36-2E28-8D6B-F32B-AC40FBEEE421}"/>
                  </a:ext>
                </a:extLst>
              </p:cNvPr>
              <p:cNvSpPr/>
              <p:nvPr/>
            </p:nvSpPr>
            <p:spPr>
              <a:xfrm>
                <a:off x="4209306" y="1245600"/>
                <a:ext cx="4380294" cy="3499200"/>
              </a:xfrm>
              <a:prstGeom prst="rect">
                <a:avLst/>
              </a:prstGeom>
              <a:solidFill>
                <a:srgbClr val="1F497D">
                  <a:lumMod val="60000"/>
                  <a:lumOff val="40000"/>
                </a:srgbClr>
              </a:solidFill>
              <a:ln w="57150" cap="flat" cmpd="sng" algn="ctr">
                <a:solidFill>
                  <a:sysClr val="window" lastClr="FFFFFF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166B7A13-5611-4735-3204-80AF5127BDC3}"/>
                  </a:ext>
                </a:extLst>
              </p:cNvPr>
              <p:cNvSpPr/>
              <p:nvPr/>
            </p:nvSpPr>
            <p:spPr>
              <a:xfrm>
                <a:off x="7162077" y="1522519"/>
                <a:ext cx="1204677" cy="1011929"/>
              </a:xfrm>
              <a:prstGeom prst="ellipse">
                <a:avLst/>
              </a:prstGeom>
              <a:solidFill>
                <a:srgbClr val="92D050"/>
              </a:solidFill>
              <a:ln w="762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55307FDC-3349-417A-807C-5A5972DD29A1}"/>
                  </a:ext>
                </a:extLst>
              </p:cNvPr>
              <p:cNvSpPr/>
              <p:nvPr/>
            </p:nvSpPr>
            <p:spPr>
              <a:xfrm>
                <a:off x="6257784" y="3791251"/>
                <a:ext cx="785385" cy="659723"/>
              </a:xfrm>
              <a:prstGeom prst="ellipse">
                <a:avLst/>
              </a:prstGeom>
              <a:solidFill>
                <a:srgbClr val="92D050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95AB4080-9D79-A039-A9BC-4CE9D221571D}"/>
                  </a:ext>
                </a:extLst>
              </p:cNvPr>
              <p:cNvSpPr/>
              <p:nvPr/>
            </p:nvSpPr>
            <p:spPr>
              <a:xfrm>
                <a:off x="4426942" y="1508740"/>
                <a:ext cx="1037330" cy="871357"/>
              </a:xfrm>
              <a:prstGeom prst="ellipse">
                <a:avLst/>
              </a:prstGeom>
              <a:solidFill>
                <a:srgbClr val="92D050"/>
              </a:solidFill>
              <a:ln w="762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8275357A-B9D1-93B3-B4E7-C611F026AC6B}"/>
                  </a:ext>
                </a:extLst>
              </p:cNvPr>
              <p:cNvSpPr/>
              <p:nvPr/>
            </p:nvSpPr>
            <p:spPr>
              <a:xfrm>
                <a:off x="4708749" y="3653556"/>
                <a:ext cx="1098619" cy="935114"/>
              </a:xfrm>
              <a:prstGeom prst="ellipse">
                <a:avLst/>
              </a:prstGeom>
              <a:solidFill>
                <a:srgbClr val="92D050"/>
              </a:solidFill>
              <a:ln w="571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53EEF8BD-925C-14C0-71E4-BF11F987DA7C}"/>
                  </a:ext>
                </a:extLst>
              </p:cNvPr>
              <p:cNvSpPr/>
              <p:nvPr/>
            </p:nvSpPr>
            <p:spPr>
              <a:xfrm>
                <a:off x="6032666" y="1320117"/>
                <a:ext cx="919678" cy="772531"/>
              </a:xfrm>
              <a:prstGeom prst="ellipse">
                <a:avLst/>
              </a:prstGeom>
              <a:solidFill>
                <a:srgbClr val="92D050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0FE81C4B-DC7A-EEAF-4160-1AC965251F42}"/>
                  </a:ext>
                </a:extLst>
              </p:cNvPr>
              <p:cNvGrpSpPr/>
              <p:nvPr/>
            </p:nvGrpSpPr>
            <p:grpSpPr>
              <a:xfrm>
                <a:off x="6323144" y="1524951"/>
                <a:ext cx="1971257" cy="1994380"/>
                <a:chOff x="6323144" y="1524951"/>
                <a:chExt cx="1971257" cy="1994380"/>
              </a:xfrm>
            </p:grpSpPr>
            <p:sp>
              <p:nvSpPr>
                <p:cNvPr id="36" name="Oval 35">
                  <a:extLst>
                    <a:ext uri="{FF2B5EF4-FFF2-40B4-BE49-F238E27FC236}">
                      <a16:creationId xmlns:a16="http://schemas.microsoft.com/office/drawing/2014/main" id="{DE647C0A-8E44-00A5-9271-E217E81B3178}"/>
                    </a:ext>
                  </a:extLst>
                </p:cNvPr>
                <p:cNvSpPr/>
                <p:nvPr/>
              </p:nvSpPr>
              <p:spPr>
                <a:xfrm>
                  <a:off x="7579737" y="2919013"/>
                  <a:ext cx="714664" cy="600318"/>
                </a:xfrm>
                <a:prstGeom prst="ellipse">
                  <a:avLst/>
                </a:prstGeom>
                <a:solidFill>
                  <a:srgbClr val="92D050"/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pic>
              <p:nvPicPr>
                <p:cNvPr id="37" name="Picture 36">
                  <a:extLst>
                    <a:ext uri="{FF2B5EF4-FFF2-40B4-BE49-F238E27FC236}">
                      <a16:creationId xmlns:a16="http://schemas.microsoft.com/office/drawing/2014/main" id="{3AFBFA53-EF69-0983-0BE9-FE254882D6A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 flipH="1">
                  <a:off x="6323144" y="1524951"/>
                  <a:ext cx="419467" cy="419467"/>
                </a:xfrm>
                <a:prstGeom prst="rect">
                  <a:avLst/>
                </a:prstGeom>
              </p:spPr>
            </p:pic>
          </p:grp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25AE55E3-9AE8-7465-38EB-90AE0C74FCA5}"/>
                  </a:ext>
                </a:extLst>
              </p:cNvPr>
              <p:cNvSpPr/>
              <p:nvPr/>
            </p:nvSpPr>
            <p:spPr>
              <a:xfrm>
                <a:off x="6595011" y="2995201"/>
                <a:ext cx="714665" cy="600318"/>
              </a:xfrm>
              <a:prstGeom prst="ellipse">
                <a:avLst/>
              </a:prstGeom>
              <a:solidFill>
                <a:srgbClr val="92D050"/>
              </a:solidFill>
              <a:ln w="571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1459A042-D8D4-DFED-3E6D-E321FF9DBC0C}"/>
                  </a:ext>
                </a:extLst>
              </p:cNvPr>
              <p:cNvSpPr/>
              <p:nvPr/>
            </p:nvSpPr>
            <p:spPr>
              <a:xfrm>
                <a:off x="7625943" y="3780881"/>
                <a:ext cx="714665" cy="600318"/>
              </a:xfrm>
              <a:prstGeom prst="ellipse">
                <a:avLst/>
              </a:prstGeom>
              <a:solidFill>
                <a:srgbClr val="92D050"/>
              </a:solidFill>
              <a:ln w="571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BD850CB7-0D05-E817-5CDE-A20BE0F73E52}"/>
                  </a:ext>
                </a:extLst>
              </p:cNvPr>
              <p:cNvGrpSpPr/>
              <p:nvPr/>
            </p:nvGrpSpPr>
            <p:grpSpPr>
              <a:xfrm>
                <a:off x="5046843" y="2402034"/>
                <a:ext cx="1222464" cy="1026871"/>
                <a:chOff x="5046843" y="2402034"/>
                <a:chExt cx="1222464" cy="1026871"/>
              </a:xfrm>
            </p:grpSpPr>
            <p:sp>
              <p:nvSpPr>
                <p:cNvPr id="26" name="Oval 25">
                  <a:extLst>
                    <a:ext uri="{FF2B5EF4-FFF2-40B4-BE49-F238E27FC236}">
                      <a16:creationId xmlns:a16="http://schemas.microsoft.com/office/drawing/2014/main" id="{92E4BCAE-EC2C-CF37-A1D4-F63E2FE40268}"/>
                    </a:ext>
                  </a:extLst>
                </p:cNvPr>
                <p:cNvSpPr/>
                <p:nvPr/>
              </p:nvSpPr>
              <p:spPr>
                <a:xfrm>
                  <a:off x="5046843" y="2402034"/>
                  <a:ext cx="1222464" cy="1026871"/>
                </a:xfrm>
                <a:prstGeom prst="ellipse">
                  <a:avLst/>
                </a:prstGeom>
                <a:solidFill>
                  <a:srgbClr val="92D050"/>
                </a:solidFill>
                <a:ln w="5715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pic>
              <p:nvPicPr>
                <p:cNvPr id="27" name="Picture 26">
                  <a:extLst>
                    <a:ext uri="{FF2B5EF4-FFF2-40B4-BE49-F238E27FC236}">
                      <a16:creationId xmlns:a16="http://schemas.microsoft.com/office/drawing/2014/main" id="{0A7606B8-1C0A-5CFB-6E56-AE5B4CDF5EC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664290" y="2499286"/>
                  <a:ext cx="493365" cy="493365"/>
                </a:xfrm>
                <a:prstGeom prst="rect">
                  <a:avLst/>
                </a:prstGeom>
              </p:spPr>
            </p:pic>
          </p:grpSp>
        </p:grp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15F43253-C0F4-9A04-26DC-F2EF7B51788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03695" y="3309777"/>
              <a:ext cx="415608" cy="415608"/>
            </a:xfrm>
            <a:prstGeom prst="rect">
              <a:avLst/>
            </a:prstGeom>
          </p:spPr>
        </p:pic>
      </p:grpSp>
      <p:sp>
        <p:nvSpPr>
          <p:cNvPr id="60" name="TextBox 59">
            <a:extLst>
              <a:ext uri="{FF2B5EF4-FFF2-40B4-BE49-F238E27FC236}">
                <a16:creationId xmlns:a16="http://schemas.microsoft.com/office/drawing/2014/main" id="{553A259C-2C7C-5FF8-73E1-AD04A31A6B65}"/>
              </a:ext>
            </a:extLst>
          </p:cNvPr>
          <p:cNvSpPr txBox="1"/>
          <p:nvPr/>
        </p:nvSpPr>
        <p:spPr>
          <a:xfrm>
            <a:off x="5005619" y="2018485"/>
            <a:ext cx="175364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NZ" sz="2800" dirty="0">
                <a:solidFill>
                  <a:schemeClr val="bg1"/>
                </a:solidFill>
              </a:rPr>
              <a:t>Predicted future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E83BC98-0FBB-0D07-F010-9DE6BB8B2657}"/>
              </a:ext>
            </a:extLst>
          </p:cNvPr>
          <p:cNvSpPr txBox="1"/>
          <p:nvPr/>
        </p:nvSpPr>
        <p:spPr>
          <a:xfrm>
            <a:off x="198504" y="135674"/>
            <a:ext cx="4562779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NZ" sz="2400" dirty="0">
                <a:solidFill>
                  <a:srgbClr val="FFFF00"/>
                </a:solidFill>
              </a:rPr>
              <a:t>Prioritize selection of locations based on future predictions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NZ" sz="24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NZ" sz="2400" dirty="0">
                <a:solidFill>
                  <a:schemeClr val="bg1"/>
                </a:solidFill>
              </a:rPr>
              <a:t>Useful when conservation action does NOT abate threat (e.g., climate change)</a:t>
            </a:r>
          </a:p>
          <a:p>
            <a:endParaRPr lang="en-NZ" sz="24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NZ" sz="2400" dirty="0">
                <a:solidFill>
                  <a:schemeClr val="bg1"/>
                </a:solidFill>
              </a:rPr>
              <a:t>Set feature values according to future predictions (e.g., per statistical models)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NZ" sz="24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NZ" sz="2400" dirty="0">
                <a:solidFill>
                  <a:schemeClr val="bg1"/>
                </a:solidFill>
              </a:rPr>
              <a:t>High data requirements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D0E6D36-888F-C7AE-491E-52480DA17B9D}"/>
              </a:ext>
            </a:extLst>
          </p:cNvPr>
          <p:cNvGrpSpPr/>
          <p:nvPr/>
        </p:nvGrpSpPr>
        <p:grpSpPr>
          <a:xfrm>
            <a:off x="4741679" y="93534"/>
            <a:ext cx="2017583" cy="1611747"/>
            <a:chOff x="5179695" y="1660890"/>
            <a:chExt cx="3689940" cy="2947710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3DD66683-46F6-5A24-3A2E-503EA4D85118}"/>
                </a:ext>
              </a:extLst>
            </p:cNvPr>
            <p:cNvGrpSpPr/>
            <p:nvPr/>
          </p:nvGrpSpPr>
          <p:grpSpPr>
            <a:xfrm>
              <a:off x="5179695" y="1660890"/>
              <a:ext cx="3689940" cy="2947710"/>
              <a:chOff x="4209306" y="1245600"/>
              <a:chExt cx="4380294" cy="3499200"/>
            </a:xfrm>
          </p:grpSpPr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E9804B16-0D3D-AFEA-8893-29D1ABFBA520}"/>
                  </a:ext>
                </a:extLst>
              </p:cNvPr>
              <p:cNvSpPr/>
              <p:nvPr/>
            </p:nvSpPr>
            <p:spPr>
              <a:xfrm>
                <a:off x="4209306" y="1245600"/>
                <a:ext cx="4380294" cy="3499200"/>
              </a:xfrm>
              <a:prstGeom prst="rect">
                <a:avLst/>
              </a:prstGeom>
              <a:solidFill>
                <a:srgbClr val="1F497D">
                  <a:lumMod val="60000"/>
                  <a:lumOff val="40000"/>
                </a:srgbClr>
              </a:solidFill>
              <a:ln w="57150" cap="flat" cmpd="sng" algn="ctr">
                <a:solidFill>
                  <a:sysClr val="window" lastClr="FFFFFF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59F6FEC5-1532-9534-7F14-C551A4372DC4}"/>
                  </a:ext>
                </a:extLst>
              </p:cNvPr>
              <p:cNvSpPr/>
              <p:nvPr/>
            </p:nvSpPr>
            <p:spPr>
              <a:xfrm>
                <a:off x="7162077" y="1522519"/>
                <a:ext cx="1204677" cy="1011929"/>
              </a:xfrm>
              <a:prstGeom prst="ellipse">
                <a:avLst/>
              </a:prstGeom>
              <a:solidFill>
                <a:srgbClr val="92D050"/>
              </a:solidFill>
              <a:ln w="762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3A92C662-66A6-D2A7-7088-0E775FD6DF9F}"/>
                  </a:ext>
                </a:extLst>
              </p:cNvPr>
              <p:cNvSpPr/>
              <p:nvPr/>
            </p:nvSpPr>
            <p:spPr>
              <a:xfrm>
                <a:off x="6257784" y="3791251"/>
                <a:ext cx="785385" cy="659723"/>
              </a:xfrm>
              <a:prstGeom prst="ellipse">
                <a:avLst/>
              </a:prstGeom>
              <a:solidFill>
                <a:srgbClr val="92D050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61" name="Oval 60">
                <a:extLst>
                  <a:ext uri="{FF2B5EF4-FFF2-40B4-BE49-F238E27FC236}">
                    <a16:creationId xmlns:a16="http://schemas.microsoft.com/office/drawing/2014/main" id="{23FBF514-54BC-1547-6C86-D8D877FC5C99}"/>
                  </a:ext>
                </a:extLst>
              </p:cNvPr>
              <p:cNvSpPr/>
              <p:nvPr/>
            </p:nvSpPr>
            <p:spPr>
              <a:xfrm>
                <a:off x="4426942" y="1508740"/>
                <a:ext cx="1037330" cy="871357"/>
              </a:xfrm>
              <a:prstGeom prst="ellipse">
                <a:avLst/>
              </a:prstGeom>
              <a:solidFill>
                <a:srgbClr val="92D050"/>
              </a:solidFill>
              <a:ln w="762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66" name="Oval 65">
                <a:extLst>
                  <a:ext uri="{FF2B5EF4-FFF2-40B4-BE49-F238E27FC236}">
                    <a16:creationId xmlns:a16="http://schemas.microsoft.com/office/drawing/2014/main" id="{81D9D1C1-E446-2206-4379-1819E0521EEF}"/>
                  </a:ext>
                </a:extLst>
              </p:cNvPr>
              <p:cNvSpPr/>
              <p:nvPr/>
            </p:nvSpPr>
            <p:spPr>
              <a:xfrm>
                <a:off x="4708749" y="3653556"/>
                <a:ext cx="1098619" cy="935114"/>
              </a:xfrm>
              <a:prstGeom prst="ellipse">
                <a:avLst/>
              </a:prstGeom>
              <a:solidFill>
                <a:srgbClr val="92D050"/>
              </a:solidFill>
              <a:ln w="571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83" name="Oval 82">
                <a:extLst>
                  <a:ext uri="{FF2B5EF4-FFF2-40B4-BE49-F238E27FC236}">
                    <a16:creationId xmlns:a16="http://schemas.microsoft.com/office/drawing/2014/main" id="{A0BEB7FA-6A9D-C2B3-9014-2896052A6AE7}"/>
                  </a:ext>
                </a:extLst>
              </p:cNvPr>
              <p:cNvSpPr/>
              <p:nvPr/>
            </p:nvSpPr>
            <p:spPr>
              <a:xfrm>
                <a:off x="6032664" y="1320117"/>
                <a:ext cx="919678" cy="772531"/>
              </a:xfrm>
              <a:prstGeom prst="ellipse">
                <a:avLst/>
              </a:prstGeom>
              <a:solidFill>
                <a:srgbClr val="92D050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grpSp>
            <p:nvGrpSpPr>
              <p:cNvPr id="68" name="Group 67">
                <a:extLst>
                  <a:ext uri="{FF2B5EF4-FFF2-40B4-BE49-F238E27FC236}">
                    <a16:creationId xmlns:a16="http://schemas.microsoft.com/office/drawing/2014/main" id="{1A144752-450B-1D0B-04D6-DCE3D44056B5}"/>
                  </a:ext>
                </a:extLst>
              </p:cNvPr>
              <p:cNvGrpSpPr/>
              <p:nvPr/>
            </p:nvGrpSpPr>
            <p:grpSpPr>
              <a:xfrm>
                <a:off x="7579737" y="2919013"/>
                <a:ext cx="714664" cy="600318"/>
                <a:chOff x="7579737" y="2919013"/>
                <a:chExt cx="714664" cy="600318"/>
              </a:xfrm>
            </p:grpSpPr>
            <p:sp>
              <p:nvSpPr>
                <p:cNvPr id="81" name="Oval 80">
                  <a:extLst>
                    <a:ext uri="{FF2B5EF4-FFF2-40B4-BE49-F238E27FC236}">
                      <a16:creationId xmlns:a16="http://schemas.microsoft.com/office/drawing/2014/main" id="{D6A050F1-DEDF-3892-DAC9-30C2D3075D35}"/>
                    </a:ext>
                  </a:extLst>
                </p:cNvPr>
                <p:cNvSpPr/>
                <p:nvPr/>
              </p:nvSpPr>
              <p:spPr>
                <a:xfrm>
                  <a:off x="7579737" y="2919013"/>
                  <a:ext cx="714664" cy="600318"/>
                </a:xfrm>
                <a:prstGeom prst="ellipse">
                  <a:avLst/>
                </a:prstGeom>
                <a:solidFill>
                  <a:srgbClr val="92D050"/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pic>
              <p:nvPicPr>
                <p:cNvPr id="82" name="Picture 81">
                  <a:extLst>
                    <a:ext uri="{FF2B5EF4-FFF2-40B4-BE49-F238E27FC236}">
                      <a16:creationId xmlns:a16="http://schemas.microsoft.com/office/drawing/2014/main" id="{20FF9B4E-6D1C-7CBA-0895-D365D8421D8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 flipH="1">
                  <a:off x="7727335" y="3009438"/>
                  <a:ext cx="419467" cy="419467"/>
                </a:xfrm>
                <a:prstGeom prst="rect">
                  <a:avLst/>
                </a:prstGeom>
              </p:spPr>
            </p:pic>
          </p:grpSp>
          <p:grpSp>
            <p:nvGrpSpPr>
              <p:cNvPr id="69" name="Group 68">
                <a:extLst>
                  <a:ext uri="{FF2B5EF4-FFF2-40B4-BE49-F238E27FC236}">
                    <a16:creationId xmlns:a16="http://schemas.microsoft.com/office/drawing/2014/main" id="{7ADBABFD-5FA7-7C61-C56B-2845AC4A2159}"/>
                  </a:ext>
                </a:extLst>
              </p:cNvPr>
              <p:cNvGrpSpPr/>
              <p:nvPr/>
            </p:nvGrpSpPr>
            <p:grpSpPr>
              <a:xfrm>
                <a:off x="6595012" y="2995200"/>
                <a:ext cx="714664" cy="600318"/>
                <a:chOff x="7579737" y="2919013"/>
                <a:chExt cx="714664" cy="600318"/>
              </a:xfrm>
            </p:grpSpPr>
            <p:sp>
              <p:nvSpPr>
                <p:cNvPr id="79" name="Oval 78">
                  <a:extLst>
                    <a:ext uri="{FF2B5EF4-FFF2-40B4-BE49-F238E27FC236}">
                      <a16:creationId xmlns:a16="http://schemas.microsoft.com/office/drawing/2014/main" id="{3020852C-DE86-3884-5EC2-948F066F60D7}"/>
                    </a:ext>
                  </a:extLst>
                </p:cNvPr>
                <p:cNvSpPr/>
                <p:nvPr/>
              </p:nvSpPr>
              <p:spPr>
                <a:xfrm>
                  <a:off x="7579737" y="2919013"/>
                  <a:ext cx="714664" cy="600318"/>
                </a:xfrm>
                <a:prstGeom prst="ellipse">
                  <a:avLst/>
                </a:prstGeom>
                <a:solidFill>
                  <a:srgbClr val="92D050"/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pic>
              <p:nvPicPr>
                <p:cNvPr id="80" name="Picture 79">
                  <a:extLst>
                    <a:ext uri="{FF2B5EF4-FFF2-40B4-BE49-F238E27FC236}">
                      <a16:creationId xmlns:a16="http://schemas.microsoft.com/office/drawing/2014/main" id="{BF9DEA83-89F7-8CFF-DB77-BCF6A5BEF48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 flipH="1">
                  <a:off x="7727335" y="3009438"/>
                  <a:ext cx="419467" cy="419467"/>
                </a:xfrm>
                <a:prstGeom prst="rect">
                  <a:avLst/>
                </a:prstGeom>
              </p:spPr>
            </p:pic>
          </p:grpSp>
          <p:grpSp>
            <p:nvGrpSpPr>
              <p:cNvPr id="70" name="Group 69">
                <a:extLst>
                  <a:ext uri="{FF2B5EF4-FFF2-40B4-BE49-F238E27FC236}">
                    <a16:creationId xmlns:a16="http://schemas.microsoft.com/office/drawing/2014/main" id="{46E441CE-4A3E-75E1-96E6-8C4DD432FC03}"/>
                  </a:ext>
                </a:extLst>
              </p:cNvPr>
              <p:cNvGrpSpPr/>
              <p:nvPr/>
            </p:nvGrpSpPr>
            <p:grpSpPr>
              <a:xfrm>
                <a:off x="7625944" y="3780880"/>
                <a:ext cx="714664" cy="600318"/>
                <a:chOff x="7579737" y="2919013"/>
                <a:chExt cx="714664" cy="600318"/>
              </a:xfrm>
            </p:grpSpPr>
            <p:sp>
              <p:nvSpPr>
                <p:cNvPr id="77" name="Oval 76">
                  <a:extLst>
                    <a:ext uri="{FF2B5EF4-FFF2-40B4-BE49-F238E27FC236}">
                      <a16:creationId xmlns:a16="http://schemas.microsoft.com/office/drawing/2014/main" id="{780B0C66-7934-2FB8-0AF3-EBB14D760562}"/>
                    </a:ext>
                  </a:extLst>
                </p:cNvPr>
                <p:cNvSpPr/>
                <p:nvPr/>
              </p:nvSpPr>
              <p:spPr>
                <a:xfrm>
                  <a:off x="7579737" y="2919013"/>
                  <a:ext cx="714664" cy="600318"/>
                </a:xfrm>
                <a:prstGeom prst="ellipse">
                  <a:avLst/>
                </a:prstGeom>
                <a:solidFill>
                  <a:srgbClr val="92D050"/>
                </a:solidFill>
                <a:ln w="5715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pic>
              <p:nvPicPr>
                <p:cNvPr id="78" name="Picture 77">
                  <a:extLst>
                    <a:ext uri="{FF2B5EF4-FFF2-40B4-BE49-F238E27FC236}">
                      <a16:creationId xmlns:a16="http://schemas.microsoft.com/office/drawing/2014/main" id="{0BFC6744-4ED7-91A3-1565-B279B0B870A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 flipH="1">
                  <a:off x="7727335" y="3009438"/>
                  <a:ext cx="419467" cy="419467"/>
                </a:xfrm>
                <a:prstGeom prst="rect">
                  <a:avLst/>
                </a:prstGeom>
              </p:spPr>
            </p:pic>
          </p:grpSp>
          <p:grpSp>
            <p:nvGrpSpPr>
              <p:cNvPr id="71" name="Group 70">
                <a:extLst>
                  <a:ext uri="{FF2B5EF4-FFF2-40B4-BE49-F238E27FC236}">
                    <a16:creationId xmlns:a16="http://schemas.microsoft.com/office/drawing/2014/main" id="{0CB22A09-1360-523E-74E4-B7AFC00B37EF}"/>
                  </a:ext>
                </a:extLst>
              </p:cNvPr>
              <p:cNvGrpSpPr/>
              <p:nvPr/>
            </p:nvGrpSpPr>
            <p:grpSpPr>
              <a:xfrm>
                <a:off x="5046843" y="2402034"/>
                <a:ext cx="1222464" cy="1026871"/>
                <a:chOff x="5046843" y="2402034"/>
                <a:chExt cx="1222464" cy="1026871"/>
              </a:xfrm>
            </p:grpSpPr>
            <p:sp>
              <p:nvSpPr>
                <p:cNvPr id="72" name="Oval 71">
                  <a:extLst>
                    <a:ext uri="{FF2B5EF4-FFF2-40B4-BE49-F238E27FC236}">
                      <a16:creationId xmlns:a16="http://schemas.microsoft.com/office/drawing/2014/main" id="{98E83F06-1D75-C9A3-F819-CF60B91A0B8F}"/>
                    </a:ext>
                  </a:extLst>
                </p:cNvPr>
                <p:cNvSpPr/>
                <p:nvPr/>
              </p:nvSpPr>
              <p:spPr>
                <a:xfrm>
                  <a:off x="5046843" y="2402034"/>
                  <a:ext cx="1222464" cy="1026871"/>
                </a:xfrm>
                <a:prstGeom prst="ellipse">
                  <a:avLst/>
                </a:prstGeom>
                <a:solidFill>
                  <a:srgbClr val="92D050"/>
                </a:solidFill>
                <a:ln w="5715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pic>
              <p:nvPicPr>
                <p:cNvPr id="74" name="Picture 73">
                  <a:extLst>
                    <a:ext uri="{FF2B5EF4-FFF2-40B4-BE49-F238E27FC236}">
                      <a16:creationId xmlns:a16="http://schemas.microsoft.com/office/drawing/2014/main" id="{9BF8366E-E4CE-CB12-887D-B1117825013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664290" y="2499286"/>
                  <a:ext cx="493365" cy="493365"/>
                </a:xfrm>
                <a:prstGeom prst="rect">
                  <a:avLst/>
                </a:prstGeom>
              </p:spPr>
            </p:pic>
            <p:pic>
              <p:nvPicPr>
                <p:cNvPr id="75" name="Picture 74">
                  <a:extLst>
                    <a:ext uri="{FF2B5EF4-FFF2-40B4-BE49-F238E27FC236}">
                      <a16:creationId xmlns:a16="http://schemas.microsoft.com/office/drawing/2014/main" id="{396565F8-E160-2714-46DB-2B6047B3661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 flipH="1">
                  <a:off x="5213128" y="2819315"/>
                  <a:ext cx="502288" cy="502288"/>
                </a:xfrm>
                <a:prstGeom prst="rect">
                  <a:avLst/>
                </a:prstGeom>
              </p:spPr>
            </p:pic>
          </p:grpSp>
        </p:grp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185FC4A8-AF25-3371-1120-EAC1335A79B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62411" y="3872772"/>
              <a:ext cx="415608" cy="415608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739566C6-6717-9BFE-A15F-E411E3A5D6B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88353" y="2112583"/>
              <a:ext cx="415608" cy="415608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971166B0-A945-09B1-2900-554DE8E301C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34787" y="3841646"/>
              <a:ext cx="415608" cy="415608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53B315C3-E709-076C-C8C4-9A407BABFA9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32082" y="1958832"/>
              <a:ext cx="415608" cy="415608"/>
            </a:xfrm>
            <a:prstGeom prst="rect">
              <a:avLst/>
            </a:prstGeom>
          </p:spPr>
        </p:pic>
      </p:grpSp>
      <p:sp>
        <p:nvSpPr>
          <p:cNvPr id="85" name="TextBox 84">
            <a:extLst>
              <a:ext uri="{FF2B5EF4-FFF2-40B4-BE49-F238E27FC236}">
                <a16:creationId xmlns:a16="http://schemas.microsoft.com/office/drawing/2014/main" id="{A3D745FF-559D-CAC3-57DA-F10ED1E2B06B}"/>
              </a:ext>
            </a:extLst>
          </p:cNvPr>
          <p:cNvSpPr txBox="1"/>
          <p:nvPr/>
        </p:nvSpPr>
        <p:spPr>
          <a:xfrm>
            <a:off x="6829250" y="272542"/>
            <a:ext cx="146651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NZ" sz="2800" dirty="0">
                <a:solidFill>
                  <a:schemeClr val="bg1"/>
                </a:solidFill>
              </a:rPr>
              <a:t>Present day</a:t>
            </a:r>
          </a:p>
        </p:txBody>
      </p:sp>
      <p:grpSp>
        <p:nvGrpSpPr>
          <p:cNvPr id="86" name="Group 85">
            <a:extLst>
              <a:ext uri="{FF2B5EF4-FFF2-40B4-BE49-F238E27FC236}">
                <a16:creationId xmlns:a16="http://schemas.microsoft.com/office/drawing/2014/main" id="{170D0C98-5FA4-61DC-46B4-6E9387397DF8}"/>
              </a:ext>
            </a:extLst>
          </p:cNvPr>
          <p:cNvGrpSpPr/>
          <p:nvPr/>
        </p:nvGrpSpPr>
        <p:grpSpPr>
          <a:xfrm>
            <a:off x="4805465" y="3325623"/>
            <a:ext cx="2158531" cy="1724343"/>
            <a:chOff x="5120979" y="1097895"/>
            <a:chExt cx="3689940" cy="2947710"/>
          </a:xfrm>
        </p:grpSpPr>
        <p:grpSp>
          <p:nvGrpSpPr>
            <p:cNvPr id="87" name="Group 86">
              <a:extLst>
                <a:ext uri="{FF2B5EF4-FFF2-40B4-BE49-F238E27FC236}">
                  <a16:creationId xmlns:a16="http://schemas.microsoft.com/office/drawing/2014/main" id="{2859C0C7-54B8-45FB-90C7-7D1CFCD52D7F}"/>
                </a:ext>
              </a:extLst>
            </p:cNvPr>
            <p:cNvGrpSpPr/>
            <p:nvPr/>
          </p:nvGrpSpPr>
          <p:grpSpPr>
            <a:xfrm>
              <a:off x="5120979" y="1097895"/>
              <a:ext cx="3689940" cy="2947710"/>
              <a:chOff x="4209306" y="1245600"/>
              <a:chExt cx="4380294" cy="3499200"/>
            </a:xfrm>
          </p:grpSpPr>
          <p:sp>
            <p:nvSpPr>
              <p:cNvPr id="89" name="Rectangle 88">
                <a:extLst>
                  <a:ext uri="{FF2B5EF4-FFF2-40B4-BE49-F238E27FC236}">
                    <a16:creationId xmlns:a16="http://schemas.microsoft.com/office/drawing/2014/main" id="{11C52A96-0DC2-BCD1-ECDE-1ED19EC5B80D}"/>
                  </a:ext>
                </a:extLst>
              </p:cNvPr>
              <p:cNvSpPr/>
              <p:nvPr/>
            </p:nvSpPr>
            <p:spPr>
              <a:xfrm>
                <a:off x="4209306" y="1245600"/>
                <a:ext cx="4380294" cy="3499200"/>
              </a:xfrm>
              <a:prstGeom prst="rect">
                <a:avLst/>
              </a:prstGeom>
              <a:solidFill>
                <a:srgbClr val="1F497D">
                  <a:lumMod val="60000"/>
                  <a:lumOff val="40000"/>
                </a:srgbClr>
              </a:solidFill>
              <a:ln w="57150" cap="flat" cmpd="sng" algn="ctr">
                <a:solidFill>
                  <a:sysClr val="window" lastClr="FFFFFF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90" name="Oval 89">
                <a:extLst>
                  <a:ext uri="{FF2B5EF4-FFF2-40B4-BE49-F238E27FC236}">
                    <a16:creationId xmlns:a16="http://schemas.microsoft.com/office/drawing/2014/main" id="{6854DD41-40A9-8B67-238E-E508BF93D502}"/>
                  </a:ext>
                </a:extLst>
              </p:cNvPr>
              <p:cNvSpPr/>
              <p:nvPr/>
            </p:nvSpPr>
            <p:spPr>
              <a:xfrm>
                <a:off x="7162077" y="1522519"/>
                <a:ext cx="1204677" cy="1011929"/>
              </a:xfrm>
              <a:prstGeom prst="ellipse">
                <a:avLst/>
              </a:prstGeom>
              <a:solidFill>
                <a:srgbClr val="92D050"/>
              </a:solidFill>
              <a:ln w="762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91" name="Oval 90">
                <a:extLst>
                  <a:ext uri="{FF2B5EF4-FFF2-40B4-BE49-F238E27FC236}">
                    <a16:creationId xmlns:a16="http://schemas.microsoft.com/office/drawing/2014/main" id="{12126258-DC34-97E5-12F5-B2B0209FCFC8}"/>
                  </a:ext>
                </a:extLst>
              </p:cNvPr>
              <p:cNvSpPr/>
              <p:nvPr/>
            </p:nvSpPr>
            <p:spPr>
              <a:xfrm>
                <a:off x="6257784" y="3791251"/>
                <a:ext cx="785385" cy="659723"/>
              </a:xfrm>
              <a:prstGeom prst="ellipse">
                <a:avLst/>
              </a:prstGeom>
              <a:solidFill>
                <a:srgbClr val="92D050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92" name="Oval 91">
                <a:extLst>
                  <a:ext uri="{FF2B5EF4-FFF2-40B4-BE49-F238E27FC236}">
                    <a16:creationId xmlns:a16="http://schemas.microsoft.com/office/drawing/2014/main" id="{C4F6DE7B-7430-D249-1FAD-BFB7D819FAB2}"/>
                  </a:ext>
                </a:extLst>
              </p:cNvPr>
              <p:cNvSpPr/>
              <p:nvPr/>
            </p:nvSpPr>
            <p:spPr>
              <a:xfrm>
                <a:off x="4426942" y="1508740"/>
                <a:ext cx="1037330" cy="871357"/>
              </a:xfrm>
              <a:prstGeom prst="ellipse">
                <a:avLst/>
              </a:prstGeom>
              <a:solidFill>
                <a:srgbClr val="92D050"/>
              </a:solidFill>
              <a:ln w="762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93" name="Oval 92">
                <a:extLst>
                  <a:ext uri="{FF2B5EF4-FFF2-40B4-BE49-F238E27FC236}">
                    <a16:creationId xmlns:a16="http://schemas.microsoft.com/office/drawing/2014/main" id="{0DB05F74-D6BB-5D8E-7578-931E8071EB8A}"/>
                  </a:ext>
                </a:extLst>
              </p:cNvPr>
              <p:cNvSpPr/>
              <p:nvPr/>
            </p:nvSpPr>
            <p:spPr>
              <a:xfrm>
                <a:off x="4708749" y="3653556"/>
                <a:ext cx="1098619" cy="935114"/>
              </a:xfrm>
              <a:prstGeom prst="ellipse">
                <a:avLst/>
              </a:prstGeom>
              <a:solidFill>
                <a:srgbClr val="92D050"/>
              </a:solidFill>
              <a:ln w="57150" cap="flat" cmpd="sng" algn="ctr">
                <a:solidFill>
                  <a:srgbClr val="FFFF00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94" name="Oval 93">
                <a:extLst>
                  <a:ext uri="{FF2B5EF4-FFF2-40B4-BE49-F238E27FC236}">
                    <a16:creationId xmlns:a16="http://schemas.microsoft.com/office/drawing/2014/main" id="{B6587F5A-85DC-CCDF-0F97-53C6E6462137}"/>
                  </a:ext>
                </a:extLst>
              </p:cNvPr>
              <p:cNvSpPr/>
              <p:nvPr/>
            </p:nvSpPr>
            <p:spPr>
              <a:xfrm>
                <a:off x="6032666" y="1320117"/>
                <a:ext cx="919678" cy="772531"/>
              </a:xfrm>
              <a:prstGeom prst="ellipse">
                <a:avLst/>
              </a:prstGeom>
              <a:solidFill>
                <a:srgbClr val="92D050"/>
              </a:solidFill>
              <a:ln w="57150" cap="flat" cmpd="sng" algn="ctr">
                <a:solidFill>
                  <a:srgbClr val="FFFF00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05" name="Oval 104">
                <a:extLst>
                  <a:ext uri="{FF2B5EF4-FFF2-40B4-BE49-F238E27FC236}">
                    <a16:creationId xmlns:a16="http://schemas.microsoft.com/office/drawing/2014/main" id="{68560E4A-50B0-C440-822B-9C167AC19F78}"/>
                  </a:ext>
                </a:extLst>
              </p:cNvPr>
              <p:cNvSpPr/>
              <p:nvPr/>
            </p:nvSpPr>
            <p:spPr>
              <a:xfrm>
                <a:off x="7579736" y="2919013"/>
                <a:ext cx="714665" cy="600318"/>
              </a:xfrm>
              <a:prstGeom prst="ellipse">
                <a:avLst/>
              </a:prstGeom>
              <a:solidFill>
                <a:srgbClr val="92D050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grpSp>
            <p:nvGrpSpPr>
              <p:cNvPr id="96" name="Group 95">
                <a:extLst>
                  <a:ext uri="{FF2B5EF4-FFF2-40B4-BE49-F238E27FC236}">
                    <a16:creationId xmlns:a16="http://schemas.microsoft.com/office/drawing/2014/main" id="{1D17EAC6-1C6C-88DF-BB3E-A6CA676831CE}"/>
                  </a:ext>
                </a:extLst>
              </p:cNvPr>
              <p:cNvGrpSpPr/>
              <p:nvPr/>
            </p:nvGrpSpPr>
            <p:grpSpPr>
              <a:xfrm>
                <a:off x="6595012" y="2995200"/>
                <a:ext cx="714664" cy="600318"/>
                <a:chOff x="7579737" y="2919013"/>
                <a:chExt cx="714664" cy="600318"/>
              </a:xfrm>
            </p:grpSpPr>
            <p:sp>
              <p:nvSpPr>
                <p:cNvPr id="103" name="Oval 102">
                  <a:extLst>
                    <a:ext uri="{FF2B5EF4-FFF2-40B4-BE49-F238E27FC236}">
                      <a16:creationId xmlns:a16="http://schemas.microsoft.com/office/drawing/2014/main" id="{33139B8B-7940-32CD-1089-52E53802BFA2}"/>
                    </a:ext>
                  </a:extLst>
                </p:cNvPr>
                <p:cNvSpPr/>
                <p:nvPr/>
              </p:nvSpPr>
              <p:spPr>
                <a:xfrm>
                  <a:off x="7579737" y="2919013"/>
                  <a:ext cx="714664" cy="600318"/>
                </a:xfrm>
                <a:prstGeom prst="ellipse">
                  <a:avLst/>
                </a:prstGeom>
                <a:solidFill>
                  <a:srgbClr val="92D050"/>
                </a:solidFill>
                <a:ln w="57150" cap="flat" cmpd="sng" algn="ctr">
                  <a:solidFill>
                    <a:srgbClr val="FFFF00"/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pic>
              <p:nvPicPr>
                <p:cNvPr id="104" name="Picture 103">
                  <a:extLst>
                    <a:ext uri="{FF2B5EF4-FFF2-40B4-BE49-F238E27FC236}">
                      <a16:creationId xmlns:a16="http://schemas.microsoft.com/office/drawing/2014/main" id="{5A763153-434C-62AA-39A7-3834412360B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 flipH="1">
                  <a:off x="7727335" y="3009438"/>
                  <a:ext cx="419467" cy="419467"/>
                </a:xfrm>
                <a:prstGeom prst="rect">
                  <a:avLst/>
                </a:prstGeom>
              </p:spPr>
            </p:pic>
          </p:grpSp>
          <p:grpSp>
            <p:nvGrpSpPr>
              <p:cNvPr id="97" name="Group 96">
                <a:extLst>
                  <a:ext uri="{FF2B5EF4-FFF2-40B4-BE49-F238E27FC236}">
                    <a16:creationId xmlns:a16="http://schemas.microsoft.com/office/drawing/2014/main" id="{62C2BD11-8AF0-1C00-10DF-A3B633AD6788}"/>
                  </a:ext>
                </a:extLst>
              </p:cNvPr>
              <p:cNvGrpSpPr/>
              <p:nvPr/>
            </p:nvGrpSpPr>
            <p:grpSpPr>
              <a:xfrm>
                <a:off x="6257787" y="1516699"/>
                <a:ext cx="2082821" cy="2864499"/>
                <a:chOff x="6211580" y="654832"/>
                <a:chExt cx="2082821" cy="2864499"/>
              </a:xfrm>
            </p:grpSpPr>
            <p:sp>
              <p:nvSpPr>
                <p:cNvPr id="101" name="Oval 100">
                  <a:extLst>
                    <a:ext uri="{FF2B5EF4-FFF2-40B4-BE49-F238E27FC236}">
                      <a16:creationId xmlns:a16="http://schemas.microsoft.com/office/drawing/2014/main" id="{3D64F85A-FAD8-377A-85F7-921FBA1DA723}"/>
                    </a:ext>
                  </a:extLst>
                </p:cNvPr>
                <p:cNvSpPr/>
                <p:nvPr/>
              </p:nvSpPr>
              <p:spPr>
                <a:xfrm>
                  <a:off x="7579737" y="2919013"/>
                  <a:ext cx="714664" cy="600318"/>
                </a:xfrm>
                <a:prstGeom prst="ellipse">
                  <a:avLst/>
                </a:prstGeom>
                <a:solidFill>
                  <a:srgbClr val="92D050"/>
                </a:solidFill>
                <a:ln w="5715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pic>
              <p:nvPicPr>
                <p:cNvPr id="102" name="Picture 101">
                  <a:extLst>
                    <a:ext uri="{FF2B5EF4-FFF2-40B4-BE49-F238E27FC236}">
                      <a16:creationId xmlns:a16="http://schemas.microsoft.com/office/drawing/2014/main" id="{ED1C69AF-702A-19A1-F939-3B960707FF1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 flipH="1">
                  <a:off x="6211580" y="654832"/>
                  <a:ext cx="419467" cy="419467"/>
                </a:xfrm>
                <a:prstGeom prst="rect">
                  <a:avLst/>
                </a:prstGeom>
              </p:spPr>
            </p:pic>
          </p:grpSp>
          <p:grpSp>
            <p:nvGrpSpPr>
              <p:cNvPr id="98" name="Group 97">
                <a:extLst>
                  <a:ext uri="{FF2B5EF4-FFF2-40B4-BE49-F238E27FC236}">
                    <a16:creationId xmlns:a16="http://schemas.microsoft.com/office/drawing/2014/main" id="{91537675-4790-013F-4861-EE8CD2C7B082}"/>
                  </a:ext>
                </a:extLst>
              </p:cNvPr>
              <p:cNvGrpSpPr/>
              <p:nvPr/>
            </p:nvGrpSpPr>
            <p:grpSpPr>
              <a:xfrm>
                <a:off x="5046843" y="2402034"/>
                <a:ext cx="1222464" cy="1026871"/>
                <a:chOff x="5046843" y="2402034"/>
                <a:chExt cx="1222464" cy="1026871"/>
              </a:xfrm>
            </p:grpSpPr>
            <p:sp>
              <p:nvSpPr>
                <p:cNvPr id="99" name="Oval 98">
                  <a:extLst>
                    <a:ext uri="{FF2B5EF4-FFF2-40B4-BE49-F238E27FC236}">
                      <a16:creationId xmlns:a16="http://schemas.microsoft.com/office/drawing/2014/main" id="{85710FE0-F5F7-E946-A4D6-5DC599DEF4BB}"/>
                    </a:ext>
                  </a:extLst>
                </p:cNvPr>
                <p:cNvSpPr/>
                <p:nvPr/>
              </p:nvSpPr>
              <p:spPr>
                <a:xfrm>
                  <a:off x="5046843" y="2402034"/>
                  <a:ext cx="1222464" cy="1026871"/>
                </a:xfrm>
                <a:prstGeom prst="ellipse">
                  <a:avLst/>
                </a:prstGeom>
                <a:solidFill>
                  <a:srgbClr val="92D050"/>
                </a:solidFill>
                <a:ln w="57150" cap="flat" cmpd="sng" algn="ctr">
                  <a:solidFill>
                    <a:srgbClr val="FFFF00"/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pic>
              <p:nvPicPr>
                <p:cNvPr id="100" name="Picture 99">
                  <a:extLst>
                    <a:ext uri="{FF2B5EF4-FFF2-40B4-BE49-F238E27FC236}">
                      <a16:creationId xmlns:a16="http://schemas.microsoft.com/office/drawing/2014/main" id="{6F85ED2D-DDB5-94D2-F68C-572588C217B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664290" y="2499286"/>
                  <a:ext cx="493365" cy="493365"/>
                </a:xfrm>
                <a:prstGeom prst="rect">
                  <a:avLst/>
                </a:prstGeom>
              </p:spPr>
            </p:pic>
          </p:grpSp>
        </p:grpSp>
        <p:pic>
          <p:nvPicPr>
            <p:cNvPr id="88" name="Picture 87">
              <a:extLst>
                <a:ext uri="{FF2B5EF4-FFF2-40B4-BE49-F238E27FC236}">
                  <a16:creationId xmlns:a16="http://schemas.microsoft.com/office/drawing/2014/main" id="{7F586419-D8A1-61B8-0FD8-CBD7C94D9B6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03695" y="3309777"/>
              <a:ext cx="415608" cy="415608"/>
            </a:xfrm>
            <a:prstGeom prst="rect">
              <a:avLst/>
            </a:prstGeom>
          </p:spPr>
        </p:pic>
      </p:grpSp>
      <p:sp>
        <p:nvSpPr>
          <p:cNvPr id="107" name="TextBox 106">
            <a:extLst>
              <a:ext uri="{FF2B5EF4-FFF2-40B4-BE49-F238E27FC236}">
                <a16:creationId xmlns:a16="http://schemas.microsoft.com/office/drawing/2014/main" id="{12F7D8A8-8DE7-10A0-52B8-D66303348CEC}"/>
              </a:ext>
            </a:extLst>
          </p:cNvPr>
          <p:cNvSpPr txBox="1"/>
          <p:nvPr/>
        </p:nvSpPr>
        <p:spPr>
          <a:xfrm>
            <a:off x="7003830" y="3431953"/>
            <a:ext cx="209301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NZ" sz="2400" dirty="0">
                <a:solidFill>
                  <a:schemeClr val="bg1"/>
                </a:solidFill>
              </a:rPr>
              <a:t>Priorities for present and future populations</a:t>
            </a:r>
          </a:p>
        </p:txBody>
      </p:sp>
      <p:pic>
        <p:nvPicPr>
          <p:cNvPr id="110" name="Picture 109">
            <a:extLst>
              <a:ext uri="{FF2B5EF4-FFF2-40B4-BE49-F238E27FC236}">
                <a16:creationId xmlns:a16="http://schemas.microsoft.com/office/drawing/2014/main" id="{9169EF58-8E79-29E4-1B91-30CDC466B9C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291361" y="4120290"/>
            <a:ext cx="231356" cy="231356"/>
          </a:xfrm>
          <a:prstGeom prst="rect">
            <a:avLst/>
          </a:prstGeom>
        </p:spPr>
      </p:pic>
      <p:pic>
        <p:nvPicPr>
          <p:cNvPr id="112" name="Picture 111">
            <a:extLst>
              <a:ext uri="{FF2B5EF4-FFF2-40B4-BE49-F238E27FC236}">
                <a16:creationId xmlns:a16="http://schemas.microsoft.com/office/drawing/2014/main" id="{3C301046-D7ED-0FD3-4712-19B447A856C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7361710" y="2155467"/>
            <a:ext cx="231356" cy="231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52327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TextBox 75">
            <a:extLst>
              <a:ext uri="{FF2B5EF4-FFF2-40B4-BE49-F238E27FC236}">
                <a16:creationId xmlns:a16="http://schemas.microsoft.com/office/drawing/2014/main" id="{CE83BC98-0FBB-0D07-F010-9DE6BB8B2657}"/>
              </a:ext>
            </a:extLst>
          </p:cNvPr>
          <p:cNvSpPr txBox="1"/>
          <p:nvPr/>
        </p:nvSpPr>
        <p:spPr>
          <a:xfrm>
            <a:off x="72218" y="105839"/>
            <a:ext cx="4396168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NZ" sz="2400" dirty="0">
                <a:solidFill>
                  <a:srgbClr val="FFFF00"/>
                </a:solidFill>
              </a:rPr>
              <a:t>Integrated spatial planning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NZ" sz="24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NZ" sz="2400" dirty="0">
                <a:solidFill>
                  <a:schemeClr val="bg1"/>
                </a:solidFill>
              </a:rPr>
              <a:t>Useful when conservation action does abate threat (e.g., land use change)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NZ" sz="24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NZ" sz="2400" dirty="0">
                <a:solidFill>
                  <a:schemeClr val="bg1"/>
                </a:solidFill>
              </a:rPr>
              <a:t>Prioritize multiple land use types with zones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NZ" sz="24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NZ" sz="2400" dirty="0">
                <a:solidFill>
                  <a:schemeClr val="bg1"/>
                </a:solidFill>
              </a:rPr>
              <a:t>Requires objectives for each land use types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NZ" sz="24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NZ" sz="2400" dirty="0">
                <a:solidFill>
                  <a:schemeClr val="bg1"/>
                </a:solidFill>
              </a:rPr>
              <a:t>Very high data requirements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4B29EA2-CC99-CD08-5DCE-9FA261B26E3A}"/>
              </a:ext>
            </a:extLst>
          </p:cNvPr>
          <p:cNvGrpSpPr/>
          <p:nvPr/>
        </p:nvGrpSpPr>
        <p:grpSpPr>
          <a:xfrm>
            <a:off x="4469495" y="214974"/>
            <a:ext cx="2072648" cy="1655735"/>
            <a:chOff x="5120979" y="1097895"/>
            <a:chExt cx="3689940" cy="2947710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293D95E0-5615-767C-727C-55AD480A1602}"/>
                </a:ext>
              </a:extLst>
            </p:cNvPr>
            <p:cNvGrpSpPr/>
            <p:nvPr/>
          </p:nvGrpSpPr>
          <p:grpSpPr>
            <a:xfrm>
              <a:off x="5120979" y="1097895"/>
              <a:ext cx="3689940" cy="2947710"/>
              <a:chOff x="4209306" y="1245600"/>
              <a:chExt cx="4380294" cy="3499200"/>
            </a:xfrm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77A16446-5113-1D36-E48E-ADDDD1D6CEC4}"/>
                  </a:ext>
                </a:extLst>
              </p:cNvPr>
              <p:cNvSpPr/>
              <p:nvPr/>
            </p:nvSpPr>
            <p:spPr>
              <a:xfrm>
                <a:off x="4209306" y="1245600"/>
                <a:ext cx="4380294" cy="3499200"/>
              </a:xfrm>
              <a:prstGeom prst="rect">
                <a:avLst/>
              </a:prstGeom>
              <a:solidFill>
                <a:srgbClr val="1F497D">
                  <a:lumMod val="60000"/>
                  <a:lumOff val="40000"/>
                </a:srgbClr>
              </a:solidFill>
              <a:ln w="57150" cap="flat" cmpd="sng" algn="ctr">
                <a:solidFill>
                  <a:sysClr val="window" lastClr="FFFFFF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0C323996-468C-8F1C-8B9D-E5F935D90599}"/>
                  </a:ext>
                </a:extLst>
              </p:cNvPr>
              <p:cNvSpPr/>
              <p:nvPr/>
            </p:nvSpPr>
            <p:spPr>
              <a:xfrm>
                <a:off x="7162077" y="1522519"/>
                <a:ext cx="1204677" cy="1011929"/>
              </a:xfrm>
              <a:prstGeom prst="ellipse">
                <a:avLst/>
              </a:prstGeom>
              <a:solidFill>
                <a:srgbClr val="92D050"/>
              </a:solidFill>
              <a:ln w="762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79390BE7-20B6-9849-0C3F-9812FC9A6857}"/>
                  </a:ext>
                </a:extLst>
              </p:cNvPr>
              <p:cNvSpPr/>
              <p:nvPr/>
            </p:nvSpPr>
            <p:spPr>
              <a:xfrm>
                <a:off x="6257784" y="3791251"/>
                <a:ext cx="785385" cy="659723"/>
              </a:xfrm>
              <a:prstGeom prst="ellipse">
                <a:avLst/>
              </a:prstGeom>
              <a:solidFill>
                <a:srgbClr val="92D050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4D3E6B62-E505-B9FA-C386-80C331838B1E}"/>
                  </a:ext>
                </a:extLst>
              </p:cNvPr>
              <p:cNvSpPr/>
              <p:nvPr/>
            </p:nvSpPr>
            <p:spPr>
              <a:xfrm>
                <a:off x="4426942" y="1508740"/>
                <a:ext cx="1037330" cy="871357"/>
              </a:xfrm>
              <a:prstGeom prst="ellipse">
                <a:avLst/>
              </a:prstGeom>
              <a:solidFill>
                <a:srgbClr val="92D050"/>
              </a:solidFill>
              <a:ln w="762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51ECDEBB-B8CE-C596-B5DB-4B5BF1587FF5}"/>
                  </a:ext>
                </a:extLst>
              </p:cNvPr>
              <p:cNvSpPr/>
              <p:nvPr/>
            </p:nvSpPr>
            <p:spPr>
              <a:xfrm>
                <a:off x="4708749" y="3653556"/>
                <a:ext cx="1098619" cy="935114"/>
              </a:xfrm>
              <a:prstGeom prst="ellipse">
                <a:avLst/>
              </a:prstGeom>
              <a:solidFill>
                <a:srgbClr val="92D050"/>
              </a:solidFill>
              <a:ln w="762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8" name="Oval 27">
                <a:extLst>
                  <a:ext uri="{FF2B5EF4-FFF2-40B4-BE49-F238E27FC236}">
                    <a16:creationId xmlns:a16="http://schemas.microsoft.com/office/drawing/2014/main" id="{4494564B-42D8-23BC-0EA8-22479B976528}"/>
                  </a:ext>
                </a:extLst>
              </p:cNvPr>
              <p:cNvSpPr/>
              <p:nvPr/>
            </p:nvSpPr>
            <p:spPr>
              <a:xfrm>
                <a:off x="6032666" y="1320118"/>
                <a:ext cx="919679" cy="772532"/>
              </a:xfrm>
              <a:prstGeom prst="ellipse">
                <a:avLst/>
              </a:prstGeom>
              <a:solidFill>
                <a:srgbClr val="92D050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832A9CD3-E385-7FCB-4A9A-53C823B0ED8D}"/>
                  </a:ext>
                </a:extLst>
              </p:cNvPr>
              <p:cNvGrpSpPr/>
              <p:nvPr/>
            </p:nvGrpSpPr>
            <p:grpSpPr>
              <a:xfrm>
                <a:off x="7579737" y="2919013"/>
                <a:ext cx="714664" cy="600318"/>
                <a:chOff x="7579737" y="2919013"/>
                <a:chExt cx="714664" cy="600318"/>
              </a:xfrm>
            </p:grpSpPr>
            <p:sp>
              <p:nvSpPr>
                <p:cNvPr id="26" name="Oval 25">
                  <a:extLst>
                    <a:ext uri="{FF2B5EF4-FFF2-40B4-BE49-F238E27FC236}">
                      <a16:creationId xmlns:a16="http://schemas.microsoft.com/office/drawing/2014/main" id="{0189CE43-022E-0EC9-C2D6-AA6A44C70751}"/>
                    </a:ext>
                  </a:extLst>
                </p:cNvPr>
                <p:cNvSpPr/>
                <p:nvPr/>
              </p:nvSpPr>
              <p:spPr>
                <a:xfrm>
                  <a:off x="7579737" y="2919013"/>
                  <a:ext cx="714664" cy="600318"/>
                </a:xfrm>
                <a:prstGeom prst="ellipse">
                  <a:avLst/>
                </a:prstGeom>
                <a:solidFill>
                  <a:srgbClr val="92D050"/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pic>
              <p:nvPicPr>
                <p:cNvPr id="27" name="Picture 26">
                  <a:extLst>
                    <a:ext uri="{FF2B5EF4-FFF2-40B4-BE49-F238E27FC236}">
                      <a16:creationId xmlns:a16="http://schemas.microsoft.com/office/drawing/2014/main" id="{748F3971-DAEB-637E-AB5B-07D41790ED6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 flipH="1">
                  <a:off x="7727335" y="3009438"/>
                  <a:ext cx="419467" cy="419467"/>
                </a:xfrm>
                <a:prstGeom prst="rect">
                  <a:avLst/>
                </a:prstGeom>
              </p:spPr>
            </p:pic>
          </p:grpSp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F653515E-90B1-AC07-5ABC-4D3FA2343B50}"/>
                  </a:ext>
                </a:extLst>
              </p:cNvPr>
              <p:cNvGrpSpPr/>
              <p:nvPr/>
            </p:nvGrpSpPr>
            <p:grpSpPr>
              <a:xfrm>
                <a:off x="6595012" y="2995200"/>
                <a:ext cx="714664" cy="600318"/>
                <a:chOff x="7579737" y="2919013"/>
                <a:chExt cx="714664" cy="600318"/>
              </a:xfrm>
            </p:grpSpPr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03F57F30-DBC6-DC53-0DC7-EC39CEAC2092}"/>
                    </a:ext>
                  </a:extLst>
                </p:cNvPr>
                <p:cNvSpPr/>
                <p:nvPr/>
              </p:nvSpPr>
              <p:spPr>
                <a:xfrm>
                  <a:off x="7579737" y="2919013"/>
                  <a:ext cx="714664" cy="600318"/>
                </a:xfrm>
                <a:prstGeom prst="ellipse">
                  <a:avLst/>
                </a:prstGeom>
                <a:solidFill>
                  <a:srgbClr val="92D050"/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pic>
              <p:nvPicPr>
                <p:cNvPr id="25" name="Picture 24">
                  <a:extLst>
                    <a:ext uri="{FF2B5EF4-FFF2-40B4-BE49-F238E27FC236}">
                      <a16:creationId xmlns:a16="http://schemas.microsoft.com/office/drawing/2014/main" id="{F44FC8DB-425F-749D-4BD7-11F3E633A5C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 flipH="1">
                  <a:off x="7727335" y="3009438"/>
                  <a:ext cx="419467" cy="419467"/>
                </a:xfrm>
                <a:prstGeom prst="rect">
                  <a:avLst/>
                </a:prstGeom>
              </p:spPr>
            </p:pic>
          </p:grpSp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B8F26AF9-583B-EA54-6987-F353FB619C0F}"/>
                  </a:ext>
                </a:extLst>
              </p:cNvPr>
              <p:cNvGrpSpPr/>
              <p:nvPr/>
            </p:nvGrpSpPr>
            <p:grpSpPr>
              <a:xfrm>
                <a:off x="7625944" y="3780880"/>
                <a:ext cx="714664" cy="600318"/>
                <a:chOff x="7579737" y="2919013"/>
                <a:chExt cx="714664" cy="600318"/>
              </a:xfrm>
            </p:grpSpPr>
            <p:sp>
              <p:nvSpPr>
                <p:cNvPr id="22" name="Oval 21">
                  <a:extLst>
                    <a:ext uri="{FF2B5EF4-FFF2-40B4-BE49-F238E27FC236}">
                      <a16:creationId xmlns:a16="http://schemas.microsoft.com/office/drawing/2014/main" id="{F4F208B0-7BE7-93BD-26A6-0010FAC3734F}"/>
                    </a:ext>
                  </a:extLst>
                </p:cNvPr>
                <p:cNvSpPr/>
                <p:nvPr/>
              </p:nvSpPr>
              <p:spPr>
                <a:xfrm>
                  <a:off x="7579737" y="2919013"/>
                  <a:ext cx="714664" cy="600318"/>
                </a:xfrm>
                <a:prstGeom prst="ellipse">
                  <a:avLst/>
                </a:prstGeom>
                <a:solidFill>
                  <a:srgbClr val="92D050"/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pic>
              <p:nvPicPr>
                <p:cNvPr id="23" name="Picture 22">
                  <a:extLst>
                    <a:ext uri="{FF2B5EF4-FFF2-40B4-BE49-F238E27FC236}">
                      <a16:creationId xmlns:a16="http://schemas.microsoft.com/office/drawing/2014/main" id="{3F54504D-A2F1-00CE-4091-06F34E8CF5A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 flipH="1">
                  <a:off x="7727335" y="3009438"/>
                  <a:ext cx="419467" cy="419467"/>
                </a:xfrm>
                <a:prstGeom prst="rect">
                  <a:avLst/>
                </a:prstGeom>
              </p:spPr>
            </p:pic>
          </p:grpSp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CFCD3770-B4B5-4414-9B7D-F09FC29064DD}"/>
                  </a:ext>
                </a:extLst>
              </p:cNvPr>
              <p:cNvGrpSpPr/>
              <p:nvPr/>
            </p:nvGrpSpPr>
            <p:grpSpPr>
              <a:xfrm>
                <a:off x="5046843" y="2402034"/>
                <a:ext cx="1222464" cy="1026871"/>
                <a:chOff x="5046843" y="2402034"/>
                <a:chExt cx="1222464" cy="1026871"/>
              </a:xfrm>
            </p:grpSpPr>
            <p:sp>
              <p:nvSpPr>
                <p:cNvPr id="19" name="Oval 18">
                  <a:extLst>
                    <a:ext uri="{FF2B5EF4-FFF2-40B4-BE49-F238E27FC236}">
                      <a16:creationId xmlns:a16="http://schemas.microsoft.com/office/drawing/2014/main" id="{DAE26C6A-A517-B02A-D257-E146A6A985DA}"/>
                    </a:ext>
                  </a:extLst>
                </p:cNvPr>
                <p:cNvSpPr/>
                <p:nvPr/>
              </p:nvSpPr>
              <p:spPr>
                <a:xfrm>
                  <a:off x="5046843" y="2402034"/>
                  <a:ext cx="1222464" cy="1026871"/>
                </a:xfrm>
                <a:prstGeom prst="ellipse">
                  <a:avLst/>
                </a:prstGeom>
                <a:solidFill>
                  <a:srgbClr val="92D050"/>
                </a:solidFill>
                <a:ln w="2540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pic>
              <p:nvPicPr>
                <p:cNvPr id="20" name="Picture 19">
                  <a:extLst>
                    <a:ext uri="{FF2B5EF4-FFF2-40B4-BE49-F238E27FC236}">
                      <a16:creationId xmlns:a16="http://schemas.microsoft.com/office/drawing/2014/main" id="{56A70FDB-6D69-10E9-39BA-399674F676E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664290" y="2499286"/>
                  <a:ext cx="493365" cy="493365"/>
                </a:xfrm>
                <a:prstGeom prst="rect">
                  <a:avLst/>
                </a:prstGeom>
              </p:spPr>
            </p:pic>
            <p:pic>
              <p:nvPicPr>
                <p:cNvPr id="21" name="Picture 20">
                  <a:extLst>
                    <a:ext uri="{FF2B5EF4-FFF2-40B4-BE49-F238E27FC236}">
                      <a16:creationId xmlns:a16="http://schemas.microsoft.com/office/drawing/2014/main" id="{DADD0AB9-DB59-340E-D856-F18857D1A07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 flipH="1">
                  <a:off x="5213128" y="2819315"/>
                  <a:ext cx="502288" cy="502288"/>
                </a:xfrm>
                <a:prstGeom prst="rect">
                  <a:avLst/>
                </a:prstGeom>
              </p:spPr>
            </p:pic>
          </p:grpSp>
        </p:grp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1547FAD1-0C8E-7160-FEDA-10CE17CD6DB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03695" y="3309777"/>
              <a:ext cx="415608" cy="415608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E62E9EBA-6EE3-0D86-6710-1605BFC8E58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29637" y="1549588"/>
              <a:ext cx="415608" cy="415608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1366C1DF-A030-885E-22C4-CC565DD0B10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76071" y="3278651"/>
              <a:ext cx="415608" cy="415608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0E6CBF87-3081-5129-48D0-DC587BCE19D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73366" y="1395837"/>
              <a:ext cx="415608" cy="415608"/>
            </a:xfrm>
            <a:prstGeom prst="rect">
              <a:avLst/>
            </a:prstGeom>
          </p:spPr>
        </p:pic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C6FBFD80-6CC6-5C34-3904-F31C6EFBBF8F}"/>
              </a:ext>
            </a:extLst>
          </p:cNvPr>
          <p:cNvGrpSpPr/>
          <p:nvPr/>
        </p:nvGrpSpPr>
        <p:grpSpPr>
          <a:xfrm>
            <a:off x="4671529" y="3090893"/>
            <a:ext cx="2416641" cy="1930534"/>
            <a:chOff x="5120979" y="1097895"/>
            <a:chExt cx="3689940" cy="2947710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DD61ADAD-8AC9-9A57-9564-D1E746689317}"/>
                </a:ext>
              </a:extLst>
            </p:cNvPr>
            <p:cNvGrpSpPr/>
            <p:nvPr/>
          </p:nvGrpSpPr>
          <p:grpSpPr>
            <a:xfrm>
              <a:off x="5120979" y="1097895"/>
              <a:ext cx="3689940" cy="2947710"/>
              <a:chOff x="4209306" y="1245600"/>
              <a:chExt cx="4380294" cy="3499200"/>
            </a:xfrm>
          </p:grpSpPr>
          <p:sp>
            <p:nvSpPr>
              <p:cNvPr id="36" name="Rectangle 35">
                <a:extLst>
                  <a:ext uri="{FF2B5EF4-FFF2-40B4-BE49-F238E27FC236}">
                    <a16:creationId xmlns:a16="http://schemas.microsoft.com/office/drawing/2014/main" id="{8FBBDB05-7D9C-7574-57B5-D2C61AF5B8F6}"/>
                  </a:ext>
                </a:extLst>
              </p:cNvPr>
              <p:cNvSpPr/>
              <p:nvPr/>
            </p:nvSpPr>
            <p:spPr>
              <a:xfrm>
                <a:off x="4209306" y="1245600"/>
                <a:ext cx="4380294" cy="3499200"/>
              </a:xfrm>
              <a:prstGeom prst="rect">
                <a:avLst/>
              </a:prstGeom>
              <a:solidFill>
                <a:srgbClr val="1F497D">
                  <a:lumMod val="60000"/>
                  <a:lumOff val="40000"/>
                </a:srgbClr>
              </a:solidFill>
              <a:ln w="57150" cap="flat" cmpd="sng" algn="ctr">
                <a:solidFill>
                  <a:sysClr val="window" lastClr="FFFFFF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1E558E19-A915-6CF7-AF3B-159A7F218AA8}"/>
                  </a:ext>
                </a:extLst>
              </p:cNvPr>
              <p:cNvSpPr/>
              <p:nvPr/>
            </p:nvSpPr>
            <p:spPr>
              <a:xfrm>
                <a:off x="7162078" y="1522520"/>
                <a:ext cx="1204676" cy="1011929"/>
              </a:xfrm>
              <a:prstGeom prst="ellipse">
                <a:avLst/>
              </a:prstGeom>
              <a:solidFill>
                <a:srgbClr val="92D050"/>
              </a:solidFill>
              <a:ln w="57150" cap="flat" cmpd="sng" algn="ctr">
                <a:solidFill>
                  <a:srgbClr val="DE8942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F8AC5A94-B999-804D-2EAD-EB8BED27EB0C}"/>
                  </a:ext>
                </a:extLst>
              </p:cNvPr>
              <p:cNvSpPr/>
              <p:nvPr/>
            </p:nvSpPr>
            <p:spPr>
              <a:xfrm>
                <a:off x="6257784" y="3791251"/>
                <a:ext cx="785385" cy="659723"/>
              </a:xfrm>
              <a:prstGeom prst="ellipse">
                <a:avLst/>
              </a:prstGeom>
              <a:solidFill>
                <a:srgbClr val="92D050"/>
              </a:solidFill>
              <a:ln w="57150" cap="flat" cmpd="sng" algn="ctr">
                <a:solidFill>
                  <a:srgbClr val="DE8942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F3847C86-52E7-6027-F713-4F5954F286AA}"/>
                  </a:ext>
                </a:extLst>
              </p:cNvPr>
              <p:cNvSpPr/>
              <p:nvPr/>
            </p:nvSpPr>
            <p:spPr>
              <a:xfrm>
                <a:off x="4426943" y="1508741"/>
                <a:ext cx="1037330" cy="871357"/>
              </a:xfrm>
              <a:prstGeom prst="ellipse">
                <a:avLst/>
              </a:prstGeom>
              <a:solidFill>
                <a:srgbClr val="92D050"/>
              </a:solidFill>
              <a:ln w="57150" cap="flat" cmpd="sng" algn="ctr">
                <a:solidFill>
                  <a:srgbClr val="DE8942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BE5C9D01-EC02-A4AB-B2AD-AEF9282AA01D}"/>
                  </a:ext>
                </a:extLst>
              </p:cNvPr>
              <p:cNvSpPr/>
              <p:nvPr/>
            </p:nvSpPr>
            <p:spPr>
              <a:xfrm>
                <a:off x="4708749" y="3653556"/>
                <a:ext cx="1098619" cy="935114"/>
              </a:xfrm>
              <a:prstGeom prst="ellipse">
                <a:avLst/>
              </a:prstGeom>
              <a:solidFill>
                <a:srgbClr val="92D050"/>
              </a:solidFill>
              <a:ln w="57150" cap="flat" cmpd="sng" algn="ctr">
                <a:solidFill>
                  <a:srgbClr val="FFFF00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55" name="Oval 54">
                <a:extLst>
                  <a:ext uri="{FF2B5EF4-FFF2-40B4-BE49-F238E27FC236}">
                    <a16:creationId xmlns:a16="http://schemas.microsoft.com/office/drawing/2014/main" id="{D1656B1D-3C89-90F7-3E3C-856189071F61}"/>
                  </a:ext>
                </a:extLst>
              </p:cNvPr>
              <p:cNvSpPr/>
              <p:nvPr/>
            </p:nvSpPr>
            <p:spPr>
              <a:xfrm>
                <a:off x="6032666" y="1320118"/>
                <a:ext cx="919679" cy="772533"/>
              </a:xfrm>
              <a:prstGeom prst="ellipse">
                <a:avLst/>
              </a:prstGeom>
              <a:solidFill>
                <a:srgbClr val="92D050"/>
              </a:solidFill>
              <a:ln w="57150" cap="flat" cmpd="sng" algn="ctr">
                <a:solidFill>
                  <a:srgbClr val="DE8942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grpSp>
            <p:nvGrpSpPr>
              <p:cNvPr id="42" name="Group 41">
                <a:extLst>
                  <a:ext uri="{FF2B5EF4-FFF2-40B4-BE49-F238E27FC236}">
                    <a16:creationId xmlns:a16="http://schemas.microsoft.com/office/drawing/2014/main" id="{726F70BA-C675-5146-9236-8FCD069F3F5F}"/>
                  </a:ext>
                </a:extLst>
              </p:cNvPr>
              <p:cNvGrpSpPr/>
              <p:nvPr/>
            </p:nvGrpSpPr>
            <p:grpSpPr>
              <a:xfrm>
                <a:off x="7579737" y="2919013"/>
                <a:ext cx="714664" cy="600318"/>
                <a:chOff x="7579737" y="2919013"/>
                <a:chExt cx="714664" cy="600318"/>
              </a:xfrm>
            </p:grpSpPr>
            <p:sp>
              <p:nvSpPr>
                <p:cNvPr id="53" name="Oval 52">
                  <a:extLst>
                    <a:ext uri="{FF2B5EF4-FFF2-40B4-BE49-F238E27FC236}">
                      <a16:creationId xmlns:a16="http://schemas.microsoft.com/office/drawing/2014/main" id="{3B4C5E61-682E-D2BF-2FC1-FC3227A2E5ED}"/>
                    </a:ext>
                  </a:extLst>
                </p:cNvPr>
                <p:cNvSpPr/>
                <p:nvPr/>
              </p:nvSpPr>
              <p:spPr>
                <a:xfrm>
                  <a:off x="7579737" y="2919013"/>
                  <a:ext cx="714664" cy="600318"/>
                </a:xfrm>
                <a:prstGeom prst="ellipse">
                  <a:avLst/>
                </a:prstGeom>
                <a:solidFill>
                  <a:srgbClr val="92D050"/>
                </a:solidFill>
                <a:ln w="57150" cap="flat" cmpd="sng" algn="ctr">
                  <a:noFill/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pic>
              <p:nvPicPr>
                <p:cNvPr id="54" name="Picture 53">
                  <a:extLst>
                    <a:ext uri="{FF2B5EF4-FFF2-40B4-BE49-F238E27FC236}">
                      <a16:creationId xmlns:a16="http://schemas.microsoft.com/office/drawing/2014/main" id="{CBE1CF87-183C-D421-7C97-151B896C470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 flipH="1">
                  <a:off x="7727335" y="3009438"/>
                  <a:ext cx="419467" cy="419467"/>
                </a:xfrm>
                <a:prstGeom prst="rect">
                  <a:avLst/>
                </a:prstGeom>
              </p:spPr>
            </p:pic>
          </p:grpSp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82091D23-C26E-3A6C-F1E2-83FE6DF40F26}"/>
                  </a:ext>
                </a:extLst>
              </p:cNvPr>
              <p:cNvSpPr/>
              <p:nvPr/>
            </p:nvSpPr>
            <p:spPr>
              <a:xfrm>
                <a:off x="6595011" y="2995200"/>
                <a:ext cx="714664" cy="600319"/>
              </a:xfrm>
              <a:prstGeom prst="ellipse">
                <a:avLst/>
              </a:prstGeom>
              <a:solidFill>
                <a:srgbClr val="92D050"/>
              </a:solidFill>
              <a:ln w="57150" cap="flat" cmpd="sng" algn="ctr">
                <a:solidFill>
                  <a:srgbClr val="DE8942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49" name="Oval 48">
                <a:extLst>
                  <a:ext uri="{FF2B5EF4-FFF2-40B4-BE49-F238E27FC236}">
                    <a16:creationId xmlns:a16="http://schemas.microsoft.com/office/drawing/2014/main" id="{E7C94595-5835-22D8-EA6B-55FA59565BF0}"/>
                  </a:ext>
                </a:extLst>
              </p:cNvPr>
              <p:cNvSpPr/>
              <p:nvPr/>
            </p:nvSpPr>
            <p:spPr>
              <a:xfrm>
                <a:off x="7625944" y="3780880"/>
                <a:ext cx="714665" cy="600318"/>
              </a:xfrm>
              <a:prstGeom prst="ellipse">
                <a:avLst/>
              </a:prstGeom>
              <a:solidFill>
                <a:srgbClr val="92D050"/>
              </a:solidFill>
              <a:ln w="57150" cap="flat" cmpd="sng" algn="ctr">
                <a:solidFill>
                  <a:srgbClr val="DE8942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grpSp>
            <p:nvGrpSpPr>
              <p:cNvPr id="45" name="Group 44">
                <a:extLst>
                  <a:ext uri="{FF2B5EF4-FFF2-40B4-BE49-F238E27FC236}">
                    <a16:creationId xmlns:a16="http://schemas.microsoft.com/office/drawing/2014/main" id="{9EF07EF3-8BDF-9E23-DB5C-5960EA3636FE}"/>
                  </a:ext>
                </a:extLst>
              </p:cNvPr>
              <p:cNvGrpSpPr/>
              <p:nvPr/>
            </p:nvGrpSpPr>
            <p:grpSpPr>
              <a:xfrm>
                <a:off x="5046843" y="2402034"/>
                <a:ext cx="1222464" cy="1026871"/>
                <a:chOff x="5046843" y="2402034"/>
                <a:chExt cx="1222464" cy="1026871"/>
              </a:xfrm>
            </p:grpSpPr>
            <p:sp>
              <p:nvSpPr>
                <p:cNvPr id="46" name="Oval 45">
                  <a:extLst>
                    <a:ext uri="{FF2B5EF4-FFF2-40B4-BE49-F238E27FC236}">
                      <a16:creationId xmlns:a16="http://schemas.microsoft.com/office/drawing/2014/main" id="{E56725A7-B056-5451-26EF-C3CEBD447073}"/>
                    </a:ext>
                  </a:extLst>
                </p:cNvPr>
                <p:cNvSpPr/>
                <p:nvPr/>
              </p:nvSpPr>
              <p:spPr>
                <a:xfrm>
                  <a:off x="5046843" y="2402034"/>
                  <a:ext cx="1222464" cy="1026871"/>
                </a:xfrm>
                <a:prstGeom prst="ellipse">
                  <a:avLst/>
                </a:prstGeom>
                <a:solidFill>
                  <a:srgbClr val="92D050"/>
                </a:solidFill>
                <a:ln w="57150" cap="flat" cmpd="sng" algn="ctr">
                  <a:solidFill>
                    <a:srgbClr val="FFFF00"/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AU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Calibri"/>
                    <a:ea typeface="+mn-ea"/>
                    <a:cs typeface="+mn-cs"/>
                  </a:endParaRPr>
                </a:p>
              </p:txBody>
            </p:sp>
            <p:pic>
              <p:nvPicPr>
                <p:cNvPr id="47" name="Picture 46">
                  <a:extLst>
                    <a:ext uri="{FF2B5EF4-FFF2-40B4-BE49-F238E27FC236}">
                      <a16:creationId xmlns:a16="http://schemas.microsoft.com/office/drawing/2014/main" id="{83E8EA42-370D-441E-857E-EC6BF93FA50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664290" y="2499286"/>
                  <a:ext cx="493365" cy="493365"/>
                </a:xfrm>
                <a:prstGeom prst="rect">
                  <a:avLst/>
                </a:prstGeom>
              </p:spPr>
            </p:pic>
            <p:pic>
              <p:nvPicPr>
                <p:cNvPr id="48" name="Picture 47">
                  <a:extLst>
                    <a:ext uri="{FF2B5EF4-FFF2-40B4-BE49-F238E27FC236}">
                      <a16:creationId xmlns:a16="http://schemas.microsoft.com/office/drawing/2014/main" id="{35B45142-B909-4B89-1CF5-B7931C4A354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 flipH="1">
                  <a:off x="5213128" y="2819315"/>
                  <a:ext cx="502288" cy="502288"/>
                </a:xfrm>
                <a:prstGeom prst="rect">
                  <a:avLst/>
                </a:prstGeom>
              </p:spPr>
            </p:pic>
          </p:grpSp>
        </p:grpSp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CE652899-8E77-22D8-655D-C8B7784A014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703695" y="3309777"/>
              <a:ext cx="415608" cy="415608"/>
            </a:xfrm>
            <a:prstGeom prst="rect">
              <a:avLst/>
            </a:prstGeom>
          </p:spPr>
        </p:pic>
      </p:grpSp>
      <p:sp>
        <p:nvSpPr>
          <p:cNvPr id="57" name="TextBox 56">
            <a:extLst>
              <a:ext uri="{FF2B5EF4-FFF2-40B4-BE49-F238E27FC236}">
                <a16:creationId xmlns:a16="http://schemas.microsoft.com/office/drawing/2014/main" id="{59068CEE-496F-32B9-8968-0C583A564212}"/>
              </a:ext>
            </a:extLst>
          </p:cNvPr>
          <p:cNvSpPr txBox="1"/>
          <p:nvPr/>
        </p:nvSpPr>
        <p:spPr>
          <a:xfrm>
            <a:off x="4309859" y="1978892"/>
            <a:ext cx="240545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NZ" sz="2800" dirty="0">
                <a:solidFill>
                  <a:schemeClr val="bg1"/>
                </a:solidFill>
              </a:rPr>
              <a:t>Future land use scenario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8E84051B-5CAD-BEFB-D073-516CE6668B47}"/>
              </a:ext>
            </a:extLst>
          </p:cNvPr>
          <p:cNvSpPr txBox="1"/>
          <p:nvPr/>
        </p:nvSpPr>
        <p:spPr>
          <a:xfrm>
            <a:off x="6446073" y="172285"/>
            <a:ext cx="24054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NZ" sz="2800" dirty="0">
                <a:solidFill>
                  <a:schemeClr val="bg1"/>
                </a:solidFill>
              </a:rPr>
              <a:t>Present day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B53F2AC8-1849-C214-48D3-556268E1A21F}"/>
              </a:ext>
            </a:extLst>
          </p:cNvPr>
          <p:cNvSpPr txBox="1"/>
          <p:nvPr/>
        </p:nvSpPr>
        <p:spPr>
          <a:xfrm>
            <a:off x="7012372" y="3210148"/>
            <a:ext cx="202497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NZ" sz="2400" dirty="0">
                <a:solidFill>
                  <a:srgbClr val="FFFF00"/>
                </a:solidFill>
              </a:rPr>
              <a:t>Priorities for conservation</a:t>
            </a:r>
          </a:p>
        </p:txBody>
      </p:sp>
      <p:pic>
        <p:nvPicPr>
          <p:cNvPr id="95" name="Picture 2" descr="Farmer Icon Images – Browse 199,463 Stock Photos, Vectors, and ...">
            <a:extLst>
              <a:ext uri="{FF2B5EF4-FFF2-40B4-BE49-F238E27FC236}">
                <a16:creationId xmlns:a16="http://schemas.microsoft.com/office/drawing/2014/main" id="{34FBA729-0876-71C2-3BA4-9D6CCFB7FE9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4444" b="45278" l="6444" r="20818">
                        <a14:foregroundMark x1="12763" y1="23611" x2="14374" y2="24167"/>
                        <a14:foregroundMark x1="6444" y1="22500" x2="7931" y2="23333"/>
                        <a14:foregroundMark x1="8550" y1="14722" x2="8674" y2="18889"/>
                        <a14:foregroundMark x1="12268" y1="38611" x2="12887" y2="38056"/>
                        <a14:foregroundMark x1="12268" y1="42222" x2="13259" y2="42222"/>
                        <a14:foregroundMark x1="13259" y1="45000" x2="12392" y2="45278"/>
                        <a14:foregroundMark x1="12144" y1="38611" x2="12763" y2="38611"/>
                        <a14:backgroundMark x1="2230" y1="4444" x2="21066" y2="6389"/>
                        <a14:backgroundMark x1="21066" y1="6389" x2="26642" y2="18611"/>
                        <a14:backgroundMark x1="26642" y1="18611" x2="23544" y2="53333"/>
                        <a14:backgroundMark x1="23544" y1="53333" x2="5576" y2="53611"/>
                        <a14:backgroundMark x1="5576" y1="53611" x2="1983" y2="77222"/>
                        <a14:backgroundMark x1="1983" y1="77222" x2="8302" y2="93333"/>
                        <a14:backgroundMark x1="8302" y1="93333" x2="44734" y2="96944"/>
                        <a14:backgroundMark x1="44734" y1="96944" x2="48203" y2="9611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236" t="12299" r="77317" b="52532"/>
          <a:stretch/>
        </p:blipFill>
        <p:spPr bwMode="auto">
          <a:xfrm>
            <a:off x="4962131" y="3381183"/>
            <a:ext cx="202124" cy="1817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6" name="Picture 2" descr="Farmer Icon Images – Browse 199,463 Stock Photos, Vectors, and ...">
            <a:extLst>
              <a:ext uri="{FF2B5EF4-FFF2-40B4-BE49-F238E27FC236}">
                <a16:creationId xmlns:a16="http://schemas.microsoft.com/office/drawing/2014/main" id="{DFB867CC-12D0-8353-2BB7-068A4582938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4444" b="45278" l="6444" r="20818">
                        <a14:foregroundMark x1="12763" y1="23611" x2="14374" y2="24167"/>
                        <a14:foregroundMark x1="6444" y1="22500" x2="7931" y2="23333"/>
                        <a14:foregroundMark x1="8550" y1="14722" x2="8674" y2="18889"/>
                        <a14:foregroundMark x1="12268" y1="38611" x2="12887" y2="38056"/>
                        <a14:foregroundMark x1="12268" y1="42222" x2="13259" y2="42222"/>
                        <a14:foregroundMark x1="13259" y1="45000" x2="12392" y2="45278"/>
                        <a14:foregroundMark x1="12144" y1="38611" x2="12763" y2="38611"/>
                        <a14:backgroundMark x1="2230" y1="4444" x2="21066" y2="6389"/>
                        <a14:backgroundMark x1="21066" y1="6389" x2="26642" y2="18611"/>
                        <a14:backgroundMark x1="26642" y1="18611" x2="23544" y2="53333"/>
                        <a14:backgroundMark x1="23544" y1="53333" x2="5576" y2="53611"/>
                        <a14:backgroundMark x1="5576" y1="53611" x2="1983" y2="77222"/>
                        <a14:backgroundMark x1="1983" y1="77222" x2="8302" y2="93333"/>
                        <a14:backgroundMark x1="8302" y1="93333" x2="44734" y2="96944"/>
                        <a14:backgroundMark x1="44734" y1="96944" x2="48203" y2="9611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236" t="12299" r="77317" b="52532"/>
          <a:stretch/>
        </p:blipFill>
        <p:spPr bwMode="auto">
          <a:xfrm>
            <a:off x="5825692" y="3236070"/>
            <a:ext cx="202124" cy="1817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7" name="Picture 2" descr="Farmer Icon Images – Browse 199,463 Stock Photos, Vectors, and ...">
            <a:extLst>
              <a:ext uri="{FF2B5EF4-FFF2-40B4-BE49-F238E27FC236}">
                <a16:creationId xmlns:a16="http://schemas.microsoft.com/office/drawing/2014/main" id="{11F1D22E-DCDE-B465-306D-3147F7B58AF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4444" b="45278" l="6444" r="20818">
                        <a14:foregroundMark x1="12763" y1="23611" x2="14374" y2="24167"/>
                        <a14:foregroundMark x1="6444" y1="22500" x2="7931" y2="23333"/>
                        <a14:foregroundMark x1="8550" y1="14722" x2="8674" y2="18889"/>
                        <a14:foregroundMark x1="12268" y1="38611" x2="12887" y2="38056"/>
                        <a14:foregroundMark x1="12268" y1="42222" x2="13259" y2="42222"/>
                        <a14:foregroundMark x1="13259" y1="45000" x2="12392" y2="45278"/>
                        <a14:foregroundMark x1="12144" y1="38611" x2="12763" y2="38611"/>
                        <a14:backgroundMark x1="2230" y1="4444" x2="21066" y2="6389"/>
                        <a14:backgroundMark x1="21066" y1="6389" x2="26642" y2="18611"/>
                        <a14:backgroundMark x1="26642" y1="18611" x2="23544" y2="53333"/>
                        <a14:backgroundMark x1="23544" y1="53333" x2="5576" y2="53611"/>
                        <a14:backgroundMark x1="5576" y1="53611" x2="1983" y2="77222"/>
                        <a14:backgroundMark x1="1983" y1="77222" x2="8302" y2="93333"/>
                        <a14:backgroundMark x1="8302" y1="93333" x2="44734" y2="96944"/>
                        <a14:backgroundMark x1="44734" y1="96944" x2="48203" y2="9611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236" t="12299" r="77317" b="52532"/>
          <a:stretch/>
        </p:blipFill>
        <p:spPr bwMode="auto">
          <a:xfrm>
            <a:off x="6482037" y="3405213"/>
            <a:ext cx="202124" cy="1817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8" name="Picture 2" descr="Farmer Icon Images – Browse 199,463 Stock Photos, Vectors, and ...">
            <a:extLst>
              <a:ext uri="{FF2B5EF4-FFF2-40B4-BE49-F238E27FC236}">
                <a16:creationId xmlns:a16="http://schemas.microsoft.com/office/drawing/2014/main" id="{B7EBD029-7000-9F8A-7EAB-A62DF9BAABE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4444" b="45278" l="6444" r="20818">
                        <a14:foregroundMark x1="12763" y1="23611" x2="14374" y2="24167"/>
                        <a14:foregroundMark x1="6444" y1="22500" x2="7931" y2="23333"/>
                        <a14:foregroundMark x1="8550" y1="14722" x2="8674" y2="18889"/>
                        <a14:foregroundMark x1="12268" y1="38611" x2="12887" y2="38056"/>
                        <a14:foregroundMark x1="12268" y1="42222" x2="13259" y2="42222"/>
                        <a14:foregroundMark x1="13259" y1="45000" x2="12392" y2="45278"/>
                        <a14:foregroundMark x1="12144" y1="38611" x2="12763" y2="38611"/>
                        <a14:backgroundMark x1="2230" y1="4444" x2="21066" y2="6389"/>
                        <a14:backgroundMark x1="21066" y1="6389" x2="26642" y2="18611"/>
                        <a14:backgroundMark x1="26642" y1="18611" x2="23544" y2="53333"/>
                        <a14:backgroundMark x1="23544" y1="53333" x2="5576" y2="53611"/>
                        <a14:backgroundMark x1="5576" y1="53611" x2="1983" y2="77222"/>
                        <a14:backgroundMark x1="1983" y1="77222" x2="8302" y2="93333"/>
                        <a14:backgroundMark x1="8302" y1="93333" x2="44734" y2="96944"/>
                        <a14:backgroundMark x1="44734" y1="96944" x2="48203" y2="9611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236" t="12299" r="77317" b="52532"/>
          <a:stretch/>
        </p:blipFill>
        <p:spPr bwMode="auto">
          <a:xfrm>
            <a:off x="6051563" y="4125509"/>
            <a:ext cx="202124" cy="1817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9" name="Picture 2" descr="Farmer Icon Images – Browse 199,463 Stock Photos, Vectors, and ...">
            <a:extLst>
              <a:ext uri="{FF2B5EF4-FFF2-40B4-BE49-F238E27FC236}">
                <a16:creationId xmlns:a16="http://schemas.microsoft.com/office/drawing/2014/main" id="{98A215BD-3262-09B3-75D2-18D49BB1BD2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4444" b="45278" l="6444" r="20818">
                        <a14:foregroundMark x1="12763" y1="23611" x2="14374" y2="24167"/>
                        <a14:foregroundMark x1="6444" y1="22500" x2="7931" y2="23333"/>
                        <a14:foregroundMark x1="8550" y1="14722" x2="8674" y2="18889"/>
                        <a14:foregroundMark x1="12268" y1="38611" x2="12887" y2="38056"/>
                        <a14:foregroundMark x1="12268" y1="42222" x2="13259" y2="42222"/>
                        <a14:foregroundMark x1="13259" y1="45000" x2="12392" y2="45278"/>
                        <a14:foregroundMark x1="12144" y1="38611" x2="12763" y2="38611"/>
                        <a14:backgroundMark x1="2230" y1="4444" x2="21066" y2="6389"/>
                        <a14:backgroundMark x1="21066" y1="6389" x2="26642" y2="18611"/>
                        <a14:backgroundMark x1="26642" y1="18611" x2="23544" y2="53333"/>
                        <a14:backgroundMark x1="23544" y1="53333" x2="5576" y2="53611"/>
                        <a14:backgroundMark x1="5576" y1="53611" x2="1983" y2="77222"/>
                        <a14:backgroundMark x1="1983" y1="77222" x2="8302" y2="93333"/>
                        <a14:backgroundMark x1="8302" y1="93333" x2="44734" y2="96944"/>
                        <a14:backgroundMark x1="44734" y1="96944" x2="48203" y2="9611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236" t="12299" r="77317" b="52532"/>
          <a:stretch/>
        </p:blipFill>
        <p:spPr bwMode="auto">
          <a:xfrm>
            <a:off x="6688091" y="4584733"/>
            <a:ext cx="202124" cy="1817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0" name="Picture 2" descr="Farmer Icon Images – Browse 199,463 Stock Photos, Vectors, and ...">
            <a:extLst>
              <a:ext uri="{FF2B5EF4-FFF2-40B4-BE49-F238E27FC236}">
                <a16:creationId xmlns:a16="http://schemas.microsoft.com/office/drawing/2014/main" id="{5848F4AF-5FAC-9629-1172-B8EAF8817B4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4444" b="45278" l="6444" r="20818">
                        <a14:foregroundMark x1="12763" y1="23611" x2="14374" y2="24167"/>
                        <a14:foregroundMark x1="6444" y1="22500" x2="7931" y2="23333"/>
                        <a14:foregroundMark x1="8550" y1="14722" x2="8674" y2="18889"/>
                        <a14:foregroundMark x1="12268" y1="38611" x2="12887" y2="38056"/>
                        <a14:foregroundMark x1="12268" y1="42222" x2="13259" y2="42222"/>
                        <a14:foregroundMark x1="13259" y1="45000" x2="12392" y2="45278"/>
                        <a14:foregroundMark x1="12144" y1="38611" x2="12763" y2="38611"/>
                        <a14:backgroundMark x1="2230" y1="4444" x2="21066" y2="6389"/>
                        <a14:backgroundMark x1="21066" y1="6389" x2="26642" y2="18611"/>
                        <a14:backgroundMark x1="26642" y1="18611" x2="23544" y2="53333"/>
                        <a14:backgroundMark x1="23544" y1="53333" x2="5576" y2="53611"/>
                        <a14:backgroundMark x1="5576" y1="53611" x2="1983" y2="77222"/>
                        <a14:backgroundMark x1="1983" y1="77222" x2="8302" y2="93333"/>
                        <a14:backgroundMark x1="8302" y1="93333" x2="44734" y2="96944"/>
                        <a14:backgroundMark x1="44734" y1="96944" x2="48203" y2="9611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236" t="12299" r="77317" b="52532"/>
          <a:stretch/>
        </p:blipFill>
        <p:spPr bwMode="auto">
          <a:xfrm>
            <a:off x="5909212" y="4600183"/>
            <a:ext cx="202124" cy="1817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1" name="TextBox 100">
            <a:extLst>
              <a:ext uri="{FF2B5EF4-FFF2-40B4-BE49-F238E27FC236}">
                <a16:creationId xmlns:a16="http://schemas.microsoft.com/office/drawing/2014/main" id="{0806FE97-B7C0-5C3E-3755-AB243BB49C7B}"/>
              </a:ext>
            </a:extLst>
          </p:cNvPr>
          <p:cNvSpPr txBox="1"/>
          <p:nvPr/>
        </p:nvSpPr>
        <p:spPr>
          <a:xfrm>
            <a:off x="6542143" y="4121165"/>
            <a:ext cx="29425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NZ" sz="2400" dirty="0">
                <a:solidFill>
                  <a:srgbClr val="DE8942"/>
                </a:solidFill>
              </a:rPr>
              <a:t>Priorities for agriculture</a:t>
            </a:r>
          </a:p>
        </p:txBody>
      </p: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7B19E857-01D8-8B9F-1FCF-7E5F08104D8E}"/>
              </a:ext>
            </a:extLst>
          </p:cNvPr>
          <p:cNvGrpSpPr/>
          <p:nvPr/>
        </p:nvGrpSpPr>
        <p:grpSpPr>
          <a:xfrm>
            <a:off x="6755269" y="1159661"/>
            <a:ext cx="2227805" cy="1760083"/>
            <a:chOff x="6884815" y="2117281"/>
            <a:chExt cx="2072648" cy="1655735"/>
          </a:xfrm>
        </p:grpSpPr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27739DF5-815F-387B-9754-2F2B947C38F2}"/>
                </a:ext>
              </a:extLst>
            </p:cNvPr>
            <p:cNvGrpSpPr/>
            <p:nvPr/>
          </p:nvGrpSpPr>
          <p:grpSpPr>
            <a:xfrm>
              <a:off x="6884815" y="2117281"/>
              <a:ext cx="2072648" cy="1655735"/>
              <a:chOff x="4209306" y="1245600"/>
              <a:chExt cx="4380294" cy="3499200"/>
            </a:xfrm>
          </p:grpSpPr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8AD30292-AE65-69A3-53A8-F3E19FF7DE5D}"/>
                  </a:ext>
                </a:extLst>
              </p:cNvPr>
              <p:cNvSpPr/>
              <p:nvPr/>
            </p:nvSpPr>
            <p:spPr>
              <a:xfrm>
                <a:off x="4209306" y="1245600"/>
                <a:ext cx="4380294" cy="3499200"/>
              </a:xfrm>
              <a:prstGeom prst="rect">
                <a:avLst/>
              </a:prstGeom>
              <a:solidFill>
                <a:srgbClr val="1F497D">
                  <a:lumMod val="60000"/>
                  <a:lumOff val="40000"/>
                </a:srgbClr>
              </a:solidFill>
              <a:ln w="57150" cap="flat" cmpd="sng" algn="ctr">
                <a:solidFill>
                  <a:sysClr val="window" lastClr="FFFFFF"/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65" name="Oval 64">
                <a:extLst>
                  <a:ext uri="{FF2B5EF4-FFF2-40B4-BE49-F238E27FC236}">
                    <a16:creationId xmlns:a16="http://schemas.microsoft.com/office/drawing/2014/main" id="{86A5771C-D83F-6EB9-FC55-71D49BA94C00}"/>
                  </a:ext>
                </a:extLst>
              </p:cNvPr>
              <p:cNvSpPr/>
              <p:nvPr/>
            </p:nvSpPr>
            <p:spPr>
              <a:xfrm>
                <a:off x="7162077" y="1522519"/>
                <a:ext cx="1204677" cy="1011929"/>
              </a:xfrm>
              <a:prstGeom prst="ellipse">
                <a:avLst/>
              </a:prstGeom>
              <a:solidFill>
                <a:srgbClr val="92D050"/>
              </a:solidFill>
              <a:ln w="762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66" name="Oval 65">
                <a:extLst>
                  <a:ext uri="{FF2B5EF4-FFF2-40B4-BE49-F238E27FC236}">
                    <a16:creationId xmlns:a16="http://schemas.microsoft.com/office/drawing/2014/main" id="{44812A73-1060-F7BF-E6AC-E1566FA772DC}"/>
                  </a:ext>
                </a:extLst>
              </p:cNvPr>
              <p:cNvSpPr/>
              <p:nvPr/>
            </p:nvSpPr>
            <p:spPr>
              <a:xfrm>
                <a:off x="6257784" y="3791251"/>
                <a:ext cx="785385" cy="659723"/>
              </a:xfrm>
              <a:prstGeom prst="ellipse">
                <a:avLst/>
              </a:prstGeom>
              <a:solidFill>
                <a:srgbClr val="92D050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67" name="Oval 66">
                <a:extLst>
                  <a:ext uri="{FF2B5EF4-FFF2-40B4-BE49-F238E27FC236}">
                    <a16:creationId xmlns:a16="http://schemas.microsoft.com/office/drawing/2014/main" id="{4576702C-ABF9-9741-63A1-B9B9E3BAA9B6}"/>
                  </a:ext>
                </a:extLst>
              </p:cNvPr>
              <p:cNvSpPr/>
              <p:nvPr/>
            </p:nvSpPr>
            <p:spPr>
              <a:xfrm>
                <a:off x="4426942" y="1508740"/>
                <a:ext cx="1037330" cy="871357"/>
              </a:xfrm>
              <a:prstGeom prst="ellipse">
                <a:avLst/>
              </a:prstGeom>
              <a:solidFill>
                <a:srgbClr val="92D050"/>
              </a:solidFill>
              <a:ln w="762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68" name="Oval 67">
                <a:extLst>
                  <a:ext uri="{FF2B5EF4-FFF2-40B4-BE49-F238E27FC236}">
                    <a16:creationId xmlns:a16="http://schemas.microsoft.com/office/drawing/2014/main" id="{C3933B4C-9844-0279-1BEA-B9F86F997F0B}"/>
                  </a:ext>
                </a:extLst>
              </p:cNvPr>
              <p:cNvSpPr/>
              <p:nvPr/>
            </p:nvSpPr>
            <p:spPr>
              <a:xfrm>
                <a:off x="4708749" y="3653556"/>
                <a:ext cx="1098619" cy="935114"/>
              </a:xfrm>
              <a:prstGeom prst="ellipse">
                <a:avLst/>
              </a:prstGeom>
              <a:solidFill>
                <a:srgbClr val="92D050"/>
              </a:solidFill>
              <a:ln w="762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84" name="Oval 83">
                <a:extLst>
                  <a:ext uri="{FF2B5EF4-FFF2-40B4-BE49-F238E27FC236}">
                    <a16:creationId xmlns:a16="http://schemas.microsoft.com/office/drawing/2014/main" id="{F8F0541A-E7DF-9840-C43C-770229F87F0C}"/>
                  </a:ext>
                </a:extLst>
              </p:cNvPr>
              <p:cNvSpPr/>
              <p:nvPr/>
            </p:nvSpPr>
            <p:spPr>
              <a:xfrm>
                <a:off x="6032666" y="1320118"/>
                <a:ext cx="919679" cy="772532"/>
              </a:xfrm>
              <a:prstGeom prst="ellipse">
                <a:avLst/>
              </a:prstGeom>
              <a:solidFill>
                <a:srgbClr val="92D050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82" name="Oval 81">
                <a:extLst>
                  <a:ext uri="{FF2B5EF4-FFF2-40B4-BE49-F238E27FC236}">
                    <a16:creationId xmlns:a16="http://schemas.microsoft.com/office/drawing/2014/main" id="{C01A696F-82E1-8C38-2DA8-41E48BEA401F}"/>
                  </a:ext>
                </a:extLst>
              </p:cNvPr>
              <p:cNvSpPr/>
              <p:nvPr/>
            </p:nvSpPr>
            <p:spPr>
              <a:xfrm>
                <a:off x="7579738" y="2919014"/>
                <a:ext cx="714665" cy="600319"/>
              </a:xfrm>
              <a:prstGeom prst="ellipse">
                <a:avLst/>
              </a:prstGeom>
              <a:solidFill>
                <a:srgbClr val="92D050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80" name="Oval 79">
                <a:extLst>
                  <a:ext uri="{FF2B5EF4-FFF2-40B4-BE49-F238E27FC236}">
                    <a16:creationId xmlns:a16="http://schemas.microsoft.com/office/drawing/2014/main" id="{6858A9EC-E00E-AAD9-4D98-3DBF7E2E4D55}"/>
                  </a:ext>
                </a:extLst>
              </p:cNvPr>
              <p:cNvSpPr/>
              <p:nvPr/>
            </p:nvSpPr>
            <p:spPr>
              <a:xfrm>
                <a:off x="6595011" y="2995201"/>
                <a:ext cx="714665" cy="600318"/>
              </a:xfrm>
              <a:prstGeom prst="ellipse">
                <a:avLst/>
              </a:prstGeom>
              <a:solidFill>
                <a:srgbClr val="92D050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78" name="Oval 77">
                <a:extLst>
                  <a:ext uri="{FF2B5EF4-FFF2-40B4-BE49-F238E27FC236}">
                    <a16:creationId xmlns:a16="http://schemas.microsoft.com/office/drawing/2014/main" id="{55880B10-366A-36D0-23CC-6DA27479F976}"/>
                  </a:ext>
                </a:extLst>
              </p:cNvPr>
              <p:cNvSpPr/>
              <p:nvPr/>
            </p:nvSpPr>
            <p:spPr>
              <a:xfrm>
                <a:off x="7625944" y="3780880"/>
                <a:ext cx="714665" cy="600318"/>
              </a:xfrm>
              <a:prstGeom prst="ellipse">
                <a:avLst/>
              </a:prstGeom>
              <a:solidFill>
                <a:srgbClr val="92D050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74" name="Oval 73">
                <a:extLst>
                  <a:ext uri="{FF2B5EF4-FFF2-40B4-BE49-F238E27FC236}">
                    <a16:creationId xmlns:a16="http://schemas.microsoft.com/office/drawing/2014/main" id="{14B5FF54-B592-D742-7DD1-805626A966CC}"/>
                  </a:ext>
                </a:extLst>
              </p:cNvPr>
              <p:cNvSpPr/>
              <p:nvPr/>
            </p:nvSpPr>
            <p:spPr>
              <a:xfrm>
                <a:off x="5046842" y="2402033"/>
                <a:ext cx="1222464" cy="1026872"/>
              </a:xfrm>
              <a:prstGeom prst="ellipse">
                <a:avLst/>
              </a:prstGeom>
              <a:solidFill>
                <a:srgbClr val="92D050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AU" sz="18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</p:grpSp>
        <p:pic>
          <p:nvPicPr>
            <p:cNvPr id="1026" name="Picture 2" descr="Farmer Icon Images – Browse 199,463 Stock Photos, Vectors, and ...">
              <a:extLst>
                <a:ext uri="{FF2B5EF4-FFF2-40B4-BE49-F238E27FC236}">
                  <a16:creationId xmlns:a16="http://schemas.microsoft.com/office/drawing/2014/main" id="{ECB2939D-F296-7611-70B8-15B3C8DAA02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4444" b="45278" l="6444" r="20818">
                          <a14:foregroundMark x1="12763" y1="23611" x2="14374" y2="24167"/>
                          <a14:foregroundMark x1="6444" y1="22500" x2="7931" y2="23333"/>
                          <a14:foregroundMark x1="8550" y1="14722" x2="8674" y2="18889"/>
                          <a14:foregroundMark x1="12268" y1="38611" x2="12887" y2="38056"/>
                          <a14:foregroundMark x1="12268" y1="42222" x2="13259" y2="42222"/>
                          <a14:foregroundMark x1="13259" y1="45000" x2="12392" y2="45278"/>
                          <a14:foregroundMark x1="12144" y1="38611" x2="12763" y2="38611"/>
                          <a14:backgroundMark x1="2230" y1="4444" x2="21066" y2="6389"/>
                          <a14:backgroundMark x1="21066" y1="6389" x2="26642" y2="18611"/>
                          <a14:backgroundMark x1="26642" y1="18611" x2="23544" y2="53333"/>
                          <a14:backgroundMark x1="23544" y1="53333" x2="5576" y2="53611"/>
                          <a14:backgroundMark x1="5576" y1="53611" x2="1983" y2="77222"/>
                          <a14:backgroundMark x1="1983" y1="77222" x2="8302" y2="93333"/>
                          <a14:backgroundMark x1="8302" y1="93333" x2="44734" y2="96944"/>
                          <a14:backgroundMark x1="44734" y1="96944" x2="48203" y2="96111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36" t="12299" r="77317" b="52532"/>
            <a:stretch/>
          </p:blipFill>
          <p:spPr bwMode="auto">
            <a:xfrm>
              <a:off x="7118073" y="2362114"/>
              <a:ext cx="202124" cy="18175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7" name="Picture 2" descr="Farmer Icon Images – Browse 199,463 Stock Photos, Vectors, and ...">
              <a:extLst>
                <a:ext uri="{FF2B5EF4-FFF2-40B4-BE49-F238E27FC236}">
                  <a16:creationId xmlns:a16="http://schemas.microsoft.com/office/drawing/2014/main" id="{C01E5282-D2E5-ACB5-5CBB-A546239DA96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4444" b="45278" l="6444" r="20818">
                          <a14:foregroundMark x1="12763" y1="23611" x2="14374" y2="24167"/>
                          <a14:foregroundMark x1="6444" y1="22500" x2="7931" y2="23333"/>
                          <a14:foregroundMark x1="8550" y1="14722" x2="8674" y2="18889"/>
                          <a14:foregroundMark x1="12268" y1="38611" x2="12887" y2="38056"/>
                          <a14:foregroundMark x1="12268" y1="42222" x2="13259" y2="42222"/>
                          <a14:foregroundMark x1="13259" y1="45000" x2="12392" y2="45278"/>
                          <a14:foregroundMark x1="12144" y1="38611" x2="12763" y2="38611"/>
                          <a14:backgroundMark x1="2230" y1="4444" x2="21066" y2="6389"/>
                          <a14:backgroundMark x1="21066" y1="6389" x2="26642" y2="18611"/>
                          <a14:backgroundMark x1="26642" y1="18611" x2="23544" y2="53333"/>
                          <a14:backgroundMark x1="23544" y1="53333" x2="5576" y2="53611"/>
                          <a14:backgroundMark x1="5576" y1="53611" x2="1983" y2="77222"/>
                          <a14:backgroundMark x1="1983" y1="77222" x2="8302" y2="93333"/>
                          <a14:backgroundMark x1="8302" y1="93333" x2="44734" y2="96944"/>
                          <a14:backgroundMark x1="44734" y1="96944" x2="48203" y2="96111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36" t="12299" r="77317" b="52532"/>
            <a:stretch/>
          </p:blipFill>
          <p:spPr bwMode="auto">
            <a:xfrm>
              <a:off x="7478634" y="2829647"/>
              <a:ext cx="202124" cy="18175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0" name="Picture 2" descr="Farmer Icon Images – Browse 199,463 Stock Photos, Vectors, and ...">
              <a:extLst>
                <a:ext uri="{FF2B5EF4-FFF2-40B4-BE49-F238E27FC236}">
                  <a16:creationId xmlns:a16="http://schemas.microsoft.com/office/drawing/2014/main" id="{77E034B2-CC6A-34D2-7BD8-4FA85B06E49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4444" b="45278" l="6444" r="20818">
                          <a14:foregroundMark x1="12763" y1="23611" x2="14374" y2="24167"/>
                          <a14:foregroundMark x1="6444" y1="22500" x2="7931" y2="23333"/>
                          <a14:foregroundMark x1="8550" y1="14722" x2="8674" y2="18889"/>
                          <a14:foregroundMark x1="12268" y1="38611" x2="12887" y2="38056"/>
                          <a14:foregroundMark x1="12268" y1="42222" x2="13259" y2="42222"/>
                          <a14:foregroundMark x1="13259" y1="45000" x2="12392" y2="45278"/>
                          <a14:foregroundMark x1="12144" y1="38611" x2="12763" y2="38611"/>
                          <a14:backgroundMark x1="2230" y1="4444" x2="21066" y2="6389"/>
                          <a14:backgroundMark x1="21066" y1="6389" x2="26642" y2="18611"/>
                          <a14:backgroundMark x1="26642" y1="18611" x2="23544" y2="53333"/>
                          <a14:backgroundMark x1="23544" y1="53333" x2="5576" y2="53611"/>
                          <a14:backgroundMark x1="5576" y1="53611" x2="1983" y2="77222"/>
                          <a14:backgroundMark x1="1983" y1="77222" x2="8302" y2="93333"/>
                          <a14:backgroundMark x1="8302" y1="93333" x2="44734" y2="96944"/>
                          <a14:backgroundMark x1="44734" y1="96944" x2="48203" y2="96111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36" t="12299" r="77317" b="52532"/>
            <a:stretch/>
          </p:blipFill>
          <p:spPr bwMode="auto">
            <a:xfrm>
              <a:off x="8088024" y="3011401"/>
              <a:ext cx="202124" cy="18175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1" name="Picture 2" descr="Farmer Icon Images – Browse 199,463 Stock Photos, Vectors, and ...">
              <a:extLst>
                <a:ext uri="{FF2B5EF4-FFF2-40B4-BE49-F238E27FC236}">
                  <a16:creationId xmlns:a16="http://schemas.microsoft.com/office/drawing/2014/main" id="{2050D446-28A3-CBA9-A5D0-F7E8E42CB4C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4444" b="45278" l="6444" r="20818">
                          <a14:foregroundMark x1="12763" y1="23611" x2="14374" y2="24167"/>
                          <a14:foregroundMark x1="6444" y1="22500" x2="7931" y2="23333"/>
                          <a14:foregroundMark x1="8550" y1="14722" x2="8674" y2="18889"/>
                          <a14:foregroundMark x1="12268" y1="38611" x2="12887" y2="38056"/>
                          <a14:foregroundMark x1="12268" y1="42222" x2="13259" y2="42222"/>
                          <a14:foregroundMark x1="13259" y1="45000" x2="12392" y2="45278"/>
                          <a14:foregroundMark x1="12144" y1="38611" x2="12763" y2="38611"/>
                          <a14:backgroundMark x1="2230" y1="4444" x2="21066" y2="6389"/>
                          <a14:backgroundMark x1="21066" y1="6389" x2="26642" y2="18611"/>
                          <a14:backgroundMark x1="26642" y1="18611" x2="23544" y2="53333"/>
                          <a14:backgroundMark x1="23544" y1="53333" x2="5576" y2="53611"/>
                          <a14:backgroundMark x1="5576" y1="53611" x2="1983" y2="77222"/>
                          <a14:backgroundMark x1="1983" y1="77222" x2="8302" y2="93333"/>
                          <a14:backgroundMark x1="8302" y1="93333" x2="44734" y2="96944"/>
                          <a14:backgroundMark x1="44734" y1="96944" x2="48203" y2="96111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36" t="12299" r="77317" b="52532"/>
            <a:stretch/>
          </p:blipFill>
          <p:spPr bwMode="auto">
            <a:xfrm>
              <a:off x="7253691" y="3387025"/>
              <a:ext cx="202124" cy="18175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2" name="Picture 2" descr="Farmer Icon Images – Browse 199,463 Stock Photos, Vectors, and ...">
              <a:extLst>
                <a:ext uri="{FF2B5EF4-FFF2-40B4-BE49-F238E27FC236}">
                  <a16:creationId xmlns:a16="http://schemas.microsoft.com/office/drawing/2014/main" id="{37E5E276-7C46-7A31-126D-749DC28BDB3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4444" b="45278" l="6444" r="20818">
                          <a14:foregroundMark x1="12763" y1="23611" x2="14374" y2="24167"/>
                          <a14:foregroundMark x1="6444" y1="22500" x2="7931" y2="23333"/>
                          <a14:foregroundMark x1="8550" y1="14722" x2="8674" y2="18889"/>
                          <a14:foregroundMark x1="12268" y1="38611" x2="12887" y2="38056"/>
                          <a14:foregroundMark x1="12268" y1="42222" x2="13259" y2="42222"/>
                          <a14:foregroundMark x1="13259" y1="45000" x2="12392" y2="45278"/>
                          <a14:foregroundMark x1="12144" y1="38611" x2="12763" y2="38611"/>
                          <a14:backgroundMark x1="2230" y1="4444" x2="21066" y2="6389"/>
                          <a14:backgroundMark x1="21066" y1="6389" x2="26642" y2="18611"/>
                          <a14:backgroundMark x1="26642" y1="18611" x2="23544" y2="53333"/>
                          <a14:backgroundMark x1="23544" y1="53333" x2="5576" y2="53611"/>
                          <a14:backgroundMark x1="5576" y1="53611" x2="1983" y2="77222"/>
                          <a14:backgroundMark x1="1983" y1="77222" x2="8302" y2="93333"/>
                          <a14:backgroundMark x1="8302" y1="93333" x2="44734" y2="96944"/>
                          <a14:backgroundMark x1="44734" y1="96944" x2="48203" y2="96111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36" t="12299" r="77317" b="52532"/>
            <a:stretch/>
          </p:blipFill>
          <p:spPr bwMode="auto">
            <a:xfrm>
              <a:off x="7917241" y="3387025"/>
              <a:ext cx="202124" cy="18175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5" name="Picture 2" descr="Farmer Icon Images – Browse 199,463 Stock Photos, Vectors, and ...">
              <a:extLst>
                <a:ext uri="{FF2B5EF4-FFF2-40B4-BE49-F238E27FC236}">
                  <a16:creationId xmlns:a16="http://schemas.microsoft.com/office/drawing/2014/main" id="{A333866C-56AA-0BCF-EDB3-7303B31A1FA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4444" b="45278" l="6444" r="20818">
                          <a14:foregroundMark x1="12763" y1="23611" x2="14374" y2="24167"/>
                          <a14:foregroundMark x1="6444" y1="22500" x2="7931" y2="23333"/>
                          <a14:foregroundMark x1="8550" y1="14722" x2="8674" y2="18889"/>
                          <a14:foregroundMark x1="12268" y1="38611" x2="12887" y2="38056"/>
                          <a14:foregroundMark x1="12268" y1="42222" x2="13259" y2="42222"/>
                          <a14:foregroundMark x1="13259" y1="45000" x2="12392" y2="45278"/>
                          <a14:foregroundMark x1="12144" y1="38611" x2="12763" y2="38611"/>
                          <a14:backgroundMark x1="2230" y1="4444" x2="21066" y2="6389"/>
                          <a14:backgroundMark x1="21066" y1="6389" x2="26642" y2="18611"/>
                          <a14:backgroundMark x1="26642" y1="18611" x2="23544" y2="53333"/>
                          <a14:backgroundMark x1="23544" y1="53333" x2="5576" y2="53611"/>
                          <a14:backgroundMark x1="5576" y1="53611" x2="1983" y2="77222"/>
                          <a14:backgroundMark x1="1983" y1="77222" x2="8302" y2="93333"/>
                          <a14:backgroundMark x1="8302" y1="93333" x2="44734" y2="96944"/>
                          <a14:backgroundMark x1="44734" y1="96944" x2="48203" y2="96111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36" t="12299" r="77317" b="52532"/>
            <a:stretch/>
          </p:blipFill>
          <p:spPr bwMode="auto">
            <a:xfrm>
              <a:off x="7845013" y="2264501"/>
              <a:ext cx="202124" cy="18175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7037993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6" name="Picture 2"/>
          <p:cNvPicPr/>
          <p:nvPr/>
        </p:nvPicPr>
        <p:blipFill>
          <a:blip r:embed="rId2"/>
          <a:stretch/>
        </p:blipFill>
        <p:spPr>
          <a:xfrm>
            <a:off x="-36360" y="-748080"/>
            <a:ext cx="10236600" cy="6397920"/>
          </a:xfrm>
          <a:prstGeom prst="rect">
            <a:avLst/>
          </a:prstGeom>
          <a:ln>
            <a:noFill/>
          </a:ln>
        </p:spPr>
      </p:pic>
      <p:pic>
        <p:nvPicPr>
          <p:cNvPr id="1747" name="Picture 2"/>
          <p:cNvPicPr/>
          <p:nvPr/>
        </p:nvPicPr>
        <p:blipFill>
          <a:blip r:embed="rId3"/>
          <a:stretch/>
        </p:blipFill>
        <p:spPr>
          <a:xfrm>
            <a:off x="217080" y="87480"/>
            <a:ext cx="682200" cy="584640"/>
          </a:xfrm>
          <a:prstGeom prst="rect">
            <a:avLst/>
          </a:prstGeom>
          <a:ln>
            <a:noFill/>
          </a:ln>
        </p:spPr>
      </p:pic>
      <p:sp>
        <p:nvSpPr>
          <p:cNvPr id="1748" name="CustomShape 1"/>
          <p:cNvSpPr/>
          <p:nvPr/>
        </p:nvSpPr>
        <p:spPr>
          <a:xfrm>
            <a:off x="1114920" y="160560"/>
            <a:ext cx="5257440" cy="516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2800" b="1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jeffrey.hanson@uqconnect.edu.au</a:t>
            </a:r>
            <a:endParaRPr lang="en-US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1749" name="Picture 4"/>
          <p:cNvPicPr/>
          <p:nvPr/>
        </p:nvPicPr>
        <p:blipFill>
          <a:blip r:embed="rId4"/>
          <a:stretch/>
        </p:blipFill>
        <p:spPr>
          <a:xfrm>
            <a:off x="217080" y="1527120"/>
            <a:ext cx="692640" cy="519480"/>
          </a:xfrm>
          <a:prstGeom prst="rect">
            <a:avLst/>
          </a:prstGeom>
          <a:ln>
            <a:noFill/>
          </a:ln>
        </p:spPr>
      </p:pic>
      <p:sp>
        <p:nvSpPr>
          <p:cNvPr id="1750" name="CustomShape 2"/>
          <p:cNvSpPr/>
          <p:nvPr/>
        </p:nvSpPr>
        <p:spPr>
          <a:xfrm>
            <a:off x="1109520" y="1567800"/>
            <a:ext cx="3026520" cy="516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2800" b="1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jeffrey-hanson.com</a:t>
            </a:r>
            <a:endParaRPr lang="en-US" sz="1800" b="0" strike="noStrike" spc="-1" dirty="0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  <p:pic>
        <p:nvPicPr>
          <p:cNvPr id="1751" name="Picture 3"/>
          <p:cNvPicPr/>
          <p:nvPr/>
        </p:nvPicPr>
        <p:blipFill>
          <a:blip r:embed="rId5"/>
          <a:stretch/>
        </p:blipFill>
        <p:spPr>
          <a:xfrm>
            <a:off x="217080" y="804960"/>
            <a:ext cx="791640" cy="593640"/>
          </a:xfrm>
          <a:prstGeom prst="rect">
            <a:avLst/>
          </a:prstGeom>
          <a:ln>
            <a:noFill/>
          </a:ln>
        </p:spPr>
      </p:pic>
      <p:sp>
        <p:nvSpPr>
          <p:cNvPr id="1752" name="CustomShape 3"/>
          <p:cNvSpPr/>
          <p:nvPr/>
        </p:nvSpPr>
        <p:spPr>
          <a:xfrm>
            <a:off x="1160640" y="882720"/>
            <a:ext cx="4026240" cy="5169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/>
          <a:lstStyle/>
          <a:p>
            <a:pPr>
              <a:lnSpc>
                <a:spcPct val="100000"/>
              </a:lnSpc>
            </a:pPr>
            <a:r>
              <a:rPr lang="en-US" sz="2800" b="1" strike="noStrike" spc="-1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Calibri"/>
              </a:rPr>
              <a:t>github.com/jeffreyhanson</a:t>
            </a:r>
            <a:endParaRPr lang="en-US" sz="1800" b="0" strike="noStrike" spc="-1">
              <a:solidFill>
                <a:srgbClr val="FFFFFF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8" name="Rectangle 1057">
            <a:extLst>
              <a:ext uri="{FF2B5EF4-FFF2-40B4-BE49-F238E27FC236}">
                <a16:creationId xmlns:a16="http://schemas.microsoft.com/office/drawing/2014/main" id="{D045D2AE-A044-E8A9-AEB2-361948FFA0B6}"/>
              </a:ext>
            </a:extLst>
          </p:cNvPr>
          <p:cNvSpPr/>
          <p:nvPr/>
        </p:nvSpPr>
        <p:spPr>
          <a:xfrm>
            <a:off x="6960358" y="205920"/>
            <a:ext cx="2059693" cy="1800949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Z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D24AD5D-AB97-F030-910E-1D47C2BA1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029" y="90648"/>
            <a:ext cx="4961105" cy="856800"/>
          </a:xfrm>
        </p:spPr>
        <p:txBody>
          <a:bodyPr/>
          <a:lstStyle/>
          <a:p>
            <a:r>
              <a:rPr lang="en-NZ" b="1" dirty="0">
                <a:solidFill>
                  <a:schemeClr val="bg1"/>
                </a:solidFill>
              </a:rPr>
              <a:t>Open source tools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47A600-C0A8-9501-C516-535D3B465037}"/>
              </a:ext>
            </a:extLst>
          </p:cNvPr>
          <p:cNvSpPr txBox="1"/>
          <p:nvPr/>
        </p:nvSpPr>
        <p:spPr>
          <a:xfrm>
            <a:off x="2263358" y="2043385"/>
            <a:ext cx="13010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 err="1">
                <a:solidFill>
                  <a:schemeClr val="bg1"/>
                </a:solidFill>
              </a:rPr>
              <a:t>Marxan</a:t>
            </a:r>
            <a:endParaRPr lang="en-NZ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79147B-EB1B-201E-3750-F0B5D26329FB}"/>
              </a:ext>
            </a:extLst>
          </p:cNvPr>
          <p:cNvSpPr txBox="1"/>
          <p:nvPr/>
        </p:nvSpPr>
        <p:spPr>
          <a:xfrm>
            <a:off x="2263602" y="4374008"/>
            <a:ext cx="13010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>
                <a:solidFill>
                  <a:schemeClr val="bg1"/>
                </a:solidFill>
              </a:rPr>
              <a:t>Zonation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8A9667-47C9-E35B-8C70-9FBA5281C92D}"/>
              </a:ext>
            </a:extLst>
          </p:cNvPr>
          <p:cNvSpPr txBox="1"/>
          <p:nvPr/>
        </p:nvSpPr>
        <p:spPr>
          <a:xfrm>
            <a:off x="3865800" y="3443021"/>
            <a:ext cx="19698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>
                <a:solidFill>
                  <a:schemeClr val="bg1"/>
                </a:solidFill>
              </a:rPr>
              <a:t>Where to Work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70121E0-F997-AAB7-8C7B-6F52D4ADE72D}"/>
              </a:ext>
            </a:extLst>
          </p:cNvPr>
          <p:cNvSpPr txBox="1"/>
          <p:nvPr/>
        </p:nvSpPr>
        <p:spPr>
          <a:xfrm>
            <a:off x="7497474" y="4143970"/>
            <a:ext cx="13010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 err="1">
                <a:solidFill>
                  <a:schemeClr val="bg1"/>
                </a:solidFill>
              </a:rPr>
              <a:t>restoptr</a:t>
            </a:r>
            <a:endParaRPr lang="en-NZ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20681AB-FE8E-FA45-7E8F-B32C38A5C704}"/>
              </a:ext>
            </a:extLst>
          </p:cNvPr>
          <p:cNvSpPr txBox="1"/>
          <p:nvPr/>
        </p:nvSpPr>
        <p:spPr>
          <a:xfrm>
            <a:off x="743801" y="3511046"/>
            <a:ext cx="13010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 err="1">
                <a:solidFill>
                  <a:schemeClr val="bg1"/>
                </a:solidFill>
              </a:rPr>
              <a:t>prioritizr</a:t>
            </a:r>
            <a:endParaRPr lang="en-NZ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089C3C-D30C-892A-1F83-86BE0A06057F}"/>
              </a:ext>
            </a:extLst>
          </p:cNvPr>
          <p:cNvSpPr txBox="1"/>
          <p:nvPr/>
        </p:nvSpPr>
        <p:spPr>
          <a:xfrm>
            <a:off x="5889554" y="2400202"/>
            <a:ext cx="19698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 err="1">
                <a:solidFill>
                  <a:schemeClr val="bg1"/>
                </a:solidFill>
              </a:rPr>
              <a:t>Marxan</a:t>
            </a:r>
            <a:r>
              <a:rPr lang="en-NZ" dirty="0">
                <a:solidFill>
                  <a:schemeClr val="bg1"/>
                </a:solidFill>
              </a:rPr>
              <a:t> </a:t>
            </a:r>
            <a:r>
              <a:rPr lang="en-NZ" dirty="0" err="1">
                <a:solidFill>
                  <a:schemeClr val="bg1"/>
                </a:solidFill>
              </a:rPr>
              <a:t>MaPP</a:t>
            </a:r>
            <a:endParaRPr lang="en-NZ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128F7E0-99C2-8919-C291-D096BFCF75BB}"/>
              </a:ext>
            </a:extLst>
          </p:cNvPr>
          <p:cNvSpPr txBox="1"/>
          <p:nvPr/>
        </p:nvSpPr>
        <p:spPr>
          <a:xfrm>
            <a:off x="2256042" y="2392971"/>
            <a:ext cx="22336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 err="1">
                <a:solidFill>
                  <a:schemeClr val="bg1"/>
                </a:solidFill>
              </a:rPr>
              <a:t>Marxan</a:t>
            </a:r>
            <a:r>
              <a:rPr lang="en-NZ" dirty="0">
                <a:solidFill>
                  <a:schemeClr val="bg1"/>
                </a:solidFill>
              </a:rPr>
              <a:t> with Zones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FC0BE93-0CEF-BA93-E1AB-2C66739101FD}"/>
              </a:ext>
            </a:extLst>
          </p:cNvPr>
          <p:cNvSpPr txBox="1"/>
          <p:nvPr/>
        </p:nvSpPr>
        <p:spPr>
          <a:xfrm>
            <a:off x="2322171" y="2776271"/>
            <a:ext cx="2689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 err="1">
                <a:solidFill>
                  <a:schemeClr val="bg1"/>
                </a:solidFill>
              </a:rPr>
              <a:t>Marxan</a:t>
            </a:r>
            <a:r>
              <a:rPr lang="en-NZ" dirty="0">
                <a:solidFill>
                  <a:schemeClr val="bg1"/>
                </a:solidFill>
              </a:rPr>
              <a:t> with Probability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A6BD59D-10DE-F3CD-1737-CA3FD8906845}"/>
              </a:ext>
            </a:extLst>
          </p:cNvPr>
          <p:cNvSpPr txBox="1"/>
          <p:nvPr/>
        </p:nvSpPr>
        <p:spPr>
          <a:xfrm>
            <a:off x="5399371" y="4241405"/>
            <a:ext cx="9803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>
                <a:solidFill>
                  <a:schemeClr val="bg1"/>
                </a:solidFill>
              </a:rPr>
              <a:t>Captain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FD10A51-447C-5BA9-6D4C-03FEB41B7E5D}"/>
              </a:ext>
            </a:extLst>
          </p:cNvPr>
          <p:cNvSpPr txBox="1"/>
          <p:nvPr/>
        </p:nvSpPr>
        <p:spPr>
          <a:xfrm>
            <a:off x="5612140" y="1403907"/>
            <a:ext cx="946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>
                <a:solidFill>
                  <a:schemeClr val="bg1"/>
                </a:solidFill>
              </a:rPr>
              <a:t>CLUZ</a:t>
            </a:r>
          </a:p>
        </p:txBody>
      </p:sp>
      <p:pic>
        <p:nvPicPr>
          <p:cNvPr id="1028" name="Picture 4" descr="Marxan - Wikipedia">
            <a:extLst>
              <a:ext uri="{FF2B5EF4-FFF2-40B4-BE49-F238E27FC236}">
                <a16:creationId xmlns:a16="http://schemas.microsoft.com/office/drawing/2014/main" id="{A1852563-1B9F-00A5-EBF2-3662925619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8911" y="1360538"/>
            <a:ext cx="646331" cy="6463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88E1ABFC-A22C-F04E-4678-5ABE670ACF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2641" y="4021377"/>
            <a:ext cx="571910" cy="585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Nature Conservancy Canada">
            <a:extLst>
              <a:ext uri="{FF2B5EF4-FFF2-40B4-BE49-F238E27FC236}">
                <a16:creationId xmlns:a16="http://schemas.microsoft.com/office/drawing/2014/main" id="{D8FB8106-73AA-73D0-F950-2E14695B6EC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7194"/>
          <a:stretch/>
        </p:blipFill>
        <p:spPr bwMode="auto">
          <a:xfrm>
            <a:off x="3136136" y="3294312"/>
            <a:ext cx="781192" cy="666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96F693AD-DEDE-EB91-2E39-E0430E2F36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648" y="3348367"/>
            <a:ext cx="511153" cy="585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Plugin icon">
            <a:extLst>
              <a:ext uri="{FF2B5EF4-FFF2-40B4-BE49-F238E27FC236}">
                <a16:creationId xmlns:a16="http://schemas.microsoft.com/office/drawing/2014/main" id="{FC12BB85-5D79-A2E1-576F-79C1F4663F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5890" y="1350448"/>
            <a:ext cx="47625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Logo">
            <a:extLst>
              <a:ext uri="{FF2B5EF4-FFF2-40B4-BE49-F238E27FC236}">
                <a16:creationId xmlns:a16="http://schemas.microsoft.com/office/drawing/2014/main" id="{06196450-B4C2-2B03-1F28-8216B7BAB4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9449" y="4326816"/>
            <a:ext cx="577409" cy="5774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E2DD569-BBDD-D07F-A620-800B57831D3C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746" t="13398" r="85373" b="75108"/>
          <a:stretch/>
        </p:blipFill>
        <p:spPr>
          <a:xfrm>
            <a:off x="4130129" y="4257146"/>
            <a:ext cx="1269242" cy="337851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FA6DCB59-DF4F-C700-C2FE-1AA1A271F757}"/>
              </a:ext>
            </a:extLst>
          </p:cNvPr>
          <p:cNvSpPr txBox="1"/>
          <p:nvPr/>
        </p:nvSpPr>
        <p:spPr>
          <a:xfrm>
            <a:off x="177234" y="2248584"/>
            <a:ext cx="14117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 err="1">
                <a:solidFill>
                  <a:schemeClr val="bg1"/>
                </a:solidFill>
              </a:rPr>
              <a:t>Marxan</a:t>
            </a:r>
            <a:r>
              <a:rPr lang="en-NZ" dirty="0">
                <a:solidFill>
                  <a:schemeClr val="bg1"/>
                </a:solidFill>
              </a:rPr>
              <a:t> Connect</a:t>
            </a:r>
          </a:p>
        </p:txBody>
      </p:sp>
      <p:pic>
        <p:nvPicPr>
          <p:cNvPr id="1040" name="Picture 16">
            <a:extLst>
              <a:ext uri="{FF2B5EF4-FFF2-40B4-BE49-F238E27FC236}">
                <a16:creationId xmlns:a16="http://schemas.microsoft.com/office/drawing/2014/main" id="{3FF455EF-59A7-BE00-EDBB-34735B1243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029" y="1467534"/>
            <a:ext cx="714375" cy="781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129835DE-C908-938B-2FEF-55199C9CF11F}"/>
              </a:ext>
            </a:extLst>
          </p:cNvPr>
          <p:cNvCxnSpPr>
            <a:cxnSpLocks/>
          </p:cNvCxnSpPr>
          <p:nvPr/>
        </p:nvCxnSpPr>
        <p:spPr>
          <a:xfrm flipV="1">
            <a:off x="3369916" y="1637760"/>
            <a:ext cx="1684305" cy="670247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5E8E56DA-AF5B-5ECF-2457-697918874C41}"/>
              </a:ext>
            </a:extLst>
          </p:cNvPr>
          <p:cNvCxnSpPr>
            <a:cxnSpLocks/>
          </p:cNvCxnSpPr>
          <p:nvPr/>
        </p:nvCxnSpPr>
        <p:spPr>
          <a:xfrm>
            <a:off x="4367284" y="2584868"/>
            <a:ext cx="1170546" cy="75328"/>
          </a:xfrm>
          <a:prstGeom prst="straightConnector1">
            <a:avLst/>
          </a:prstGeom>
          <a:ln w="38100">
            <a:solidFill>
              <a:schemeClr val="bg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975E1CA3-D7DA-2E56-108F-841192DF6D7A}"/>
              </a:ext>
            </a:extLst>
          </p:cNvPr>
          <p:cNvCxnSpPr>
            <a:cxnSpLocks/>
          </p:cNvCxnSpPr>
          <p:nvPr/>
        </p:nvCxnSpPr>
        <p:spPr>
          <a:xfrm flipV="1">
            <a:off x="4202398" y="1753835"/>
            <a:ext cx="903753" cy="705630"/>
          </a:xfrm>
          <a:prstGeom prst="straightConnector1">
            <a:avLst/>
          </a:prstGeom>
          <a:ln w="38100">
            <a:solidFill>
              <a:schemeClr val="bg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BA5E677C-F99E-2AEC-3350-2D5704EEDF3D}"/>
              </a:ext>
            </a:extLst>
          </p:cNvPr>
          <p:cNvCxnSpPr>
            <a:cxnSpLocks/>
            <a:endCxn id="9" idx="1"/>
          </p:cNvCxnSpPr>
          <p:nvPr/>
        </p:nvCxnSpPr>
        <p:spPr>
          <a:xfrm>
            <a:off x="3151984" y="2176971"/>
            <a:ext cx="2737570" cy="407897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90823648-7E0D-EB37-3738-D2C4FF3864C5}"/>
              </a:ext>
            </a:extLst>
          </p:cNvPr>
          <p:cNvCxnSpPr>
            <a:cxnSpLocks/>
            <a:endCxn id="1032" idx="1"/>
          </p:cNvCxnSpPr>
          <p:nvPr/>
        </p:nvCxnSpPr>
        <p:spPr>
          <a:xfrm flipV="1">
            <a:off x="1783307" y="3627687"/>
            <a:ext cx="1352829" cy="68025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4" name="Straight Arrow Connector 1023">
            <a:extLst>
              <a:ext uri="{FF2B5EF4-FFF2-40B4-BE49-F238E27FC236}">
                <a16:creationId xmlns:a16="http://schemas.microsoft.com/office/drawing/2014/main" id="{479CB18E-4B53-A8D4-5C10-F335C6602714}"/>
              </a:ext>
            </a:extLst>
          </p:cNvPr>
          <p:cNvCxnSpPr>
            <a:cxnSpLocks/>
            <a:endCxn id="4" idx="1"/>
          </p:cNvCxnSpPr>
          <p:nvPr/>
        </p:nvCxnSpPr>
        <p:spPr>
          <a:xfrm flipV="1">
            <a:off x="1190947" y="2228051"/>
            <a:ext cx="1072411" cy="346928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9" name="Straight Arrow Connector 1028">
            <a:extLst>
              <a:ext uri="{FF2B5EF4-FFF2-40B4-BE49-F238E27FC236}">
                <a16:creationId xmlns:a16="http://schemas.microsoft.com/office/drawing/2014/main" id="{EEDD183E-20C5-2A3F-3F1E-F2EA1D0453E6}"/>
              </a:ext>
            </a:extLst>
          </p:cNvPr>
          <p:cNvCxnSpPr>
            <a:cxnSpLocks/>
            <a:endCxn id="10" idx="1"/>
          </p:cNvCxnSpPr>
          <p:nvPr/>
        </p:nvCxnSpPr>
        <p:spPr>
          <a:xfrm flipV="1">
            <a:off x="1260456" y="2577637"/>
            <a:ext cx="995586" cy="93422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5" name="Straight Arrow Connector 1034">
            <a:extLst>
              <a:ext uri="{FF2B5EF4-FFF2-40B4-BE49-F238E27FC236}">
                <a16:creationId xmlns:a16="http://schemas.microsoft.com/office/drawing/2014/main" id="{C1F4B247-7296-72EA-6BDF-DE539CECBA8C}"/>
              </a:ext>
            </a:extLst>
          </p:cNvPr>
          <p:cNvCxnSpPr>
            <a:cxnSpLocks/>
            <a:endCxn id="11" idx="1"/>
          </p:cNvCxnSpPr>
          <p:nvPr/>
        </p:nvCxnSpPr>
        <p:spPr>
          <a:xfrm>
            <a:off x="1260219" y="2789946"/>
            <a:ext cx="1061952" cy="170991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9" name="Straight Arrow Connector 1048">
            <a:extLst>
              <a:ext uri="{FF2B5EF4-FFF2-40B4-BE49-F238E27FC236}">
                <a16:creationId xmlns:a16="http://schemas.microsoft.com/office/drawing/2014/main" id="{E3DACA1F-A3C3-E5F0-78AE-1D8431A92D14}"/>
              </a:ext>
            </a:extLst>
          </p:cNvPr>
          <p:cNvCxnSpPr>
            <a:cxnSpLocks/>
          </p:cNvCxnSpPr>
          <p:nvPr/>
        </p:nvCxnSpPr>
        <p:spPr>
          <a:xfrm>
            <a:off x="7158649" y="634503"/>
            <a:ext cx="1450220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1" name="Straight Arrow Connector 1050">
            <a:extLst>
              <a:ext uri="{FF2B5EF4-FFF2-40B4-BE49-F238E27FC236}">
                <a16:creationId xmlns:a16="http://schemas.microsoft.com/office/drawing/2014/main" id="{72AFA7E3-B68E-01C5-EB69-8E6B3523731C}"/>
              </a:ext>
            </a:extLst>
          </p:cNvPr>
          <p:cNvCxnSpPr>
            <a:cxnSpLocks/>
          </p:cNvCxnSpPr>
          <p:nvPr/>
        </p:nvCxnSpPr>
        <p:spPr>
          <a:xfrm flipV="1">
            <a:off x="7180382" y="1669727"/>
            <a:ext cx="1478803" cy="13664"/>
          </a:xfrm>
          <a:prstGeom prst="straightConnector1">
            <a:avLst/>
          </a:prstGeom>
          <a:ln w="38100">
            <a:solidFill>
              <a:schemeClr val="bg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4" name="TextBox 1053">
            <a:extLst>
              <a:ext uri="{FF2B5EF4-FFF2-40B4-BE49-F238E27FC236}">
                <a16:creationId xmlns:a16="http://schemas.microsoft.com/office/drawing/2014/main" id="{35E06B55-321B-A66F-D63F-47C01649CC7E}"/>
              </a:ext>
            </a:extLst>
          </p:cNvPr>
          <p:cNvSpPr txBox="1"/>
          <p:nvPr/>
        </p:nvSpPr>
        <p:spPr>
          <a:xfrm>
            <a:off x="7050225" y="961048"/>
            <a:ext cx="196982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>
                <a:solidFill>
                  <a:schemeClr val="bg1"/>
                </a:solidFill>
              </a:rPr>
              <a:t>Under  development</a:t>
            </a:r>
          </a:p>
        </p:txBody>
      </p:sp>
      <p:sp>
        <p:nvSpPr>
          <p:cNvPr id="1055" name="TextBox 1054">
            <a:extLst>
              <a:ext uri="{FF2B5EF4-FFF2-40B4-BE49-F238E27FC236}">
                <a16:creationId xmlns:a16="http://schemas.microsoft.com/office/drawing/2014/main" id="{8616EAEA-9D41-2663-3B1D-97172F997728}"/>
              </a:ext>
            </a:extLst>
          </p:cNvPr>
          <p:cNvSpPr txBox="1"/>
          <p:nvPr/>
        </p:nvSpPr>
        <p:spPr>
          <a:xfrm>
            <a:off x="7109890" y="216766"/>
            <a:ext cx="14989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Z" dirty="0">
                <a:solidFill>
                  <a:schemeClr val="bg1"/>
                </a:solidFill>
              </a:rPr>
              <a:t>Dependency</a:t>
            </a:r>
          </a:p>
        </p:txBody>
      </p:sp>
    </p:spTree>
    <p:extLst>
      <p:ext uri="{BB962C8B-B14F-4D97-AF65-F5344CB8AC3E}">
        <p14:creationId xmlns:p14="http://schemas.microsoft.com/office/powerpoint/2010/main" val="28126980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6886</TotalTime>
  <Words>890</Words>
  <Application>Microsoft Office PowerPoint</Application>
  <PresentationFormat>On-screen Show (16:9)</PresentationFormat>
  <Paragraphs>210</Paragraphs>
  <Slides>18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18</vt:i4>
      </vt:variant>
    </vt:vector>
  </HeadingPairs>
  <TitlesOfParts>
    <vt:vector size="27" baseType="lpstr">
      <vt:lpstr>Arial</vt:lpstr>
      <vt:lpstr>Calibri</vt:lpstr>
      <vt:lpstr>Courier New</vt:lpstr>
      <vt:lpstr>Symbol</vt:lpstr>
      <vt:lpstr>Times New Roman</vt:lpstr>
      <vt:lpstr>Wingdings</vt:lpstr>
      <vt:lpstr>Office Theme</vt:lpstr>
      <vt:lpstr>Office Theme</vt:lpstr>
      <vt:lpstr>1_Office Theme</vt:lpstr>
      <vt:lpstr>PowerPoint Presentation</vt:lpstr>
      <vt:lpstr>Conservation decision making</vt:lpstr>
      <vt:lpstr>Conservation decision making is hard</vt:lpstr>
      <vt:lpstr>Spatial optimization</vt:lpstr>
      <vt:lpstr>PowerPoint Presentation</vt:lpstr>
      <vt:lpstr>PowerPoint Presentation</vt:lpstr>
      <vt:lpstr>Spatial optimization</vt:lpstr>
      <vt:lpstr>Spatial optimization</vt:lpstr>
      <vt:lpstr>prioritizr</vt:lpstr>
      <vt:lpstr>PowerPoint Presentation</vt:lpstr>
      <vt:lpstr>restoptr</vt:lpstr>
      <vt:lpstr>Strategies to account for global change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Open source tools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Conserving evolutionary processes</dc:title>
  <dc:subject/>
  <dc:creator>Jeff Hanson Local Admin</dc:creator>
  <dc:description/>
  <cp:lastModifiedBy>Zoe Stone</cp:lastModifiedBy>
  <cp:revision>1772</cp:revision>
  <dcterms:created xsi:type="dcterms:W3CDTF">2006-08-16T00:00:00Z</dcterms:created>
  <dcterms:modified xsi:type="dcterms:W3CDTF">2025-04-25T20:00:15Z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6</vt:i4>
  </property>
  <property fmtid="{D5CDD505-2E9C-101B-9397-08002B2CF9AE}" pid="8" name="PresentationFormat">
    <vt:lpwstr>On-screen Show (16:9)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68</vt:i4>
  </property>
  <property fmtid="{D5CDD505-2E9C-101B-9397-08002B2CF9AE}" pid="12" name="MSIP_Label_bd9e4d68-54d0-40a5-8c9a-85a36c87352c_Enabled">
    <vt:lpwstr>true</vt:lpwstr>
  </property>
  <property fmtid="{D5CDD505-2E9C-101B-9397-08002B2CF9AE}" pid="13" name="MSIP_Label_bd9e4d68-54d0-40a5-8c9a-85a36c87352c_SetDate">
    <vt:lpwstr>2022-04-10T09:06:59Z</vt:lpwstr>
  </property>
  <property fmtid="{D5CDD505-2E9C-101B-9397-08002B2CF9AE}" pid="14" name="MSIP_Label_bd9e4d68-54d0-40a5-8c9a-85a36c87352c_Method">
    <vt:lpwstr>Privileged</vt:lpwstr>
  </property>
  <property fmtid="{D5CDD505-2E9C-101B-9397-08002B2CF9AE}" pid="15" name="MSIP_Label_bd9e4d68-54d0-40a5-8c9a-85a36c87352c_Name">
    <vt:lpwstr>Unclassified</vt:lpwstr>
  </property>
  <property fmtid="{D5CDD505-2E9C-101B-9397-08002B2CF9AE}" pid="16" name="MSIP_Label_bd9e4d68-54d0-40a5-8c9a-85a36c87352c_SiteId">
    <vt:lpwstr>388728e1-bbd0-4378-98dc-f8682e644300</vt:lpwstr>
  </property>
  <property fmtid="{D5CDD505-2E9C-101B-9397-08002B2CF9AE}" pid="17" name="MSIP_Label_bd9e4d68-54d0-40a5-8c9a-85a36c87352c_ActionId">
    <vt:lpwstr>07725eff-5995-4054-bcae-f373cb8b6b8b</vt:lpwstr>
  </property>
  <property fmtid="{D5CDD505-2E9C-101B-9397-08002B2CF9AE}" pid="18" name="MSIP_Label_bd9e4d68-54d0-40a5-8c9a-85a36c87352c_ContentBits">
    <vt:lpwstr>0</vt:lpwstr>
  </property>
</Properties>
</file>