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2"/>
  </p:notesMasterIdLst>
  <p:sldIdLst>
    <p:sldId id="256" r:id="rId3"/>
    <p:sldId id="319" r:id="rId4"/>
    <p:sldId id="362" r:id="rId5"/>
    <p:sldId id="347" r:id="rId6"/>
    <p:sldId id="361" r:id="rId7"/>
    <p:sldId id="360" r:id="rId8"/>
    <p:sldId id="359" r:id="rId9"/>
    <p:sldId id="320" r:id="rId10"/>
    <p:sldId id="340" r:id="rId11"/>
    <p:sldId id="363" r:id="rId12"/>
    <p:sldId id="352" r:id="rId13"/>
    <p:sldId id="346" r:id="rId14"/>
    <p:sldId id="351" r:id="rId15"/>
    <p:sldId id="355" r:id="rId16"/>
    <p:sldId id="353" r:id="rId17"/>
    <p:sldId id="356" r:id="rId18"/>
    <p:sldId id="345" r:id="rId19"/>
    <p:sldId id="323" r:id="rId20"/>
    <p:sldId id="318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3907" autoAdjust="0"/>
  </p:normalViewPr>
  <p:slideViewPr>
    <p:cSldViewPr snapToGrid="0">
      <p:cViewPr varScale="1">
        <p:scale>
          <a:sx n="94" d="100"/>
          <a:sy n="94" d="100"/>
        </p:scale>
        <p:origin x="494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20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21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F08D1666-8CA5-49D1-A8F6-7CDDBF498F8E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37" name="Picture 36"/>
          <p:cNvPicPr/>
          <p:nvPr/>
        </p:nvPicPr>
        <p:blipFill>
          <a:blip r:embed="rId2"/>
          <a:stretch/>
        </p:blipFill>
        <p:spPr>
          <a:xfrm>
            <a:off x="2443680" y="1200240"/>
            <a:ext cx="4255920" cy="3394080"/>
          </a:xfrm>
          <a:prstGeom prst="rect">
            <a:avLst/>
          </a:prstGeom>
          <a:ln>
            <a:noFill/>
          </a:ln>
        </p:spPr>
      </p:pic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2443680" y="1200240"/>
            <a:ext cx="4255920" cy="3394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6" name="Picture 75"/>
          <p:cNvPicPr/>
          <p:nvPr/>
        </p:nvPicPr>
        <p:blipFill>
          <a:blip r:embed="rId2"/>
          <a:stretch/>
        </p:blipFill>
        <p:spPr>
          <a:xfrm>
            <a:off x="2443680" y="1200240"/>
            <a:ext cx="4255920" cy="339408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2443680" y="1200240"/>
            <a:ext cx="4255920" cy="3394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Master title style</a:t>
            </a:r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2/24/21</a:t>
            </a:r>
            <a:endParaRPr lang="en-US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FB061743-D104-4342-92DB-595A49178A68}" type="slidenum">
              <a:rPr lang="en-US" sz="1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‹#›</a:t>
            </a:fld>
            <a:endParaRPr lang="en-US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024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Master title style</a:t>
            </a:r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</a:p>
          <a:p>
            <a:pPr marL="743040" lvl="1" indent="-285480">
              <a:lnSpc>
                <a:spcPct val="100000"/>
              </a:lnSpc>
              <a:buClr>
                <a:srgbClr val="FFFFFF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143000" lvl="2" indent="-2282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600200" lvl="3" indent="-228240">
              <a:lnSpc>
                <a:spcPct val="100000"/>
              </a:lnSpc>
              <a:buClr>
                <a:srgbClr val="FFFFFF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057400" lvl="4" indent="-228240">
              <a:lnSpc>
                <a:spcPct val="100000"/>
              </a:lnSpc>
              <a:buClr>
                <a:srgbClr val="FFFFFF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2/24/21</a:t>
            </a:r>
            <a:endParaRPr lang="en-US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FA27F9FE-850B-4464-9AC1-121A1ADC59CD}" type="slidenum">
              <a:rPr lang="en-US" sz="1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‹#›</a:t>
            </a:fld>
            <a:endParaRPr lang="en-US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microsoft.com/office/2007/relationships/hdphoto" Target="../media/hdphoto1.wdp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microsoft.com/office/2007/relationships/hdphoto" Target="../media/hdphoto1.wdp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microsoft.com/office/2007/relationships/hdphoto" Target="../media/hdphoto1.wdp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microsoft.com/office/2007/relationships/hdphoto" Target="../media/hdphoto1.wdp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11" Type="http://schemas.openxmlformats.org/officeDocument/2006/relationships/image" Target="../media/image30.jpe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126894" y="148856"/>
            <a:ext cx="8902800" cy="190412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AU" sz="4400" b="1" i="0" dirty="0">
                <a:solidFill>
                  <a:schemeClr val="bg1"/>
                </a:solidFill>
                <a:effectLst/>
                <a:latin typeface="-apple-system"/>
              </a:rPr>
              <a:t>Optimally managing threats to biodiversity across large scales</a:t>
            </a:r>
          </a:p>
        </p:txBody>
      </p:sp>
      <p:sp>
        <p:nvSpPr>
          <p:cNvPr id="123" name="TextShape 2"/>
          <p:cNvSpPr txBox="1"/>
          <p:nvPr/>
        </p:nvSpPr>
        <p:spPr>
          <a:xfrm>
            <a:off x="91440" y="2179609"/>
            <a:ext cx="8881560" cy="13622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AU" sz="2400" b="0" i="0" dirty="0">
                <a:solidFill>
                  <a:schemeClr val="bg1"/>
                </a:solidFill>
                <a:effectLst/>
                <a:latin typeface="-apple-system"/>
              </a:rPr>
              <a:t>Jeffrey O. Hanson, </a:t>
            </a:r>
            <a:r>
              <a:rPr lang="en-AU" sz="2400" b="0" i="0" dirty="0" err="1">
                <a:solidFill>
                  <a:schemeClr val="bg1"/>
                </a:solidFill>
                <a:effectLst/>
                <a:latin typeface="-apple-system"/>
              </a:rPr>
              <a:t>Dobrochna</a:t>
            </a:r>
            <a:r>
              <a:rPr lang="en-AU" sz="2400" b="0" i="0" dirty="0">
                <a:solidFill>
                  <a:schemeClr val="bg1"/>
                </a:solidFill>
                <a:effectLst/>
                <a:latin typeface="-apple-system"/>
              </a:rPr>
              <a:t> M. Delsen, Allison Binley, James Allan, Martin Jung, Piero Visconti, Virgilio Hermoso, Richard Schuster, Melissa Chapman, Joseph R. Bennett</a:t>
            </a:r>
            <a:endParaRPr lang="en-US" sz="24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24" name="Picture 2"/>
          <p:cNvPicPr/>
          <p:nvPr/>
        </p:nvPicPr>
        <p:blipFill>
          <a:blip r:embed="rId2"/>
          <a:stretch/>
        </p:blipFill>
        <p:spPr>
          <a:xfrm>
            <a:off x="259200" y="3881151"/>
            <a:ext cx="426240" cy="425160"/>
          </a:xfrm>
          <a:prstGeom prst="rect">
            <a:avLst/>
          </a:prstGeom>
          <a:ln>
            <a:noFill/>
          </a:ln>
        </p:spPr>
      </p:pic>
      <p:sp>
        <p:nvSpPr>
          <p:cNvPr id="125" name="CustomShape 3"/>
          <p:cNvSpPr/>
          <p:nvPr/>
        </p:nvSpPr>
        <p:spPr>
          <a:xfrm>
            <a:off x="759600" y="3863151"/>
            <a:ext cx="444672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BFBFB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jeffrey.hanson@uqconnect.edu.au</a:t>
            </a:r>
            <a:endParaRPr lang="en-US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26" name="Picture 4"/>
          <p:cNvPicPr/>
          <p:nvPr/>
        </p:nvPicPr>
        <p:blipFill>
          <a:blip r:embed="rId3"/>
          <a:stretch/>
        </p:blipFill>
        <p:spPr>
          <a:xfrm>
            <a:off x="5945400" y="3916791"/>
            <a:ext cx="397800" cy="377640"/>
          </a:xfrm>
          <a:prstGeom prst="rect">
            <a:avLst/>
          </a:prstGeom>
          <a:ln>
            <a:noFill/>
          </a:ln>
        </p:spPr>
      </p:pic>
      <p:sp>
        <p:nvSpPr>
          <p:cNvPr id="127" name="CustomShape 4"/>
          <p:cNvSpPr/>
          <p:nvPr/>
        </p:nvSpPr>
        <p:spPr>
          <a:xfrm>
            <a:off x="6403680" y="3875031"/>
            <a:ext cx="256932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BFBFB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jeffrey-hanson.com</a:t>
            </a:r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04210167-5FCA-5306-61B8-B24AC790CBD0}"/>
              </a:ext>
            </a:extLst>
          </p:cNvPr>
          <p:cNvSpPr/>
          <p:nvPr/>
        </p:nvSpPr>
        <p:spPr>
          <a:xfrm>
            <a:off x="-50042" y="4421061"/>
            <a:ext cx="9266830" cy="7923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AU"/>
          </a:p>
        </p:txBody>
      </p:sp>
      <p:pic>
        <p:nvPicPr>
          <p:cNvPr id="1026" name="Picture 2" descr="Environment and Climate Change Canada partnership — Swim Drink Fish">
            <a:extLst>
              <a:ext uri="{FF2B5EF4-FFF2-40B4-BE49-F238E27FC236}">
                <a16:creationId xmlns:a16="http://schemas.microsoft.com/office/drawing/2014/main" id="{1C00AB06-E277-77BF-C175-C837828A9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" t="31146" r="21463" b="50939"/>
          <a:stretch/>
        </p:blipFill>
        <p:spPr bwMode="auto">
          <a:xfrm>
            <a:off x="126894" y="4519555"/>
            <a:ext cx="4231758" cy="581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atural Sciences and Engineering Research Council - Wikipedia">
            <a:extLst>
              <a:ext uri="{FF2B5EF4-FFF2-40B4-BE49-F238E27FC236}">
                <a16:creationId xmlns:a16="http://schemas.microsoft.com/office/drawing/2014/main" id="{DECA7E20-3278-14D8-4D54-9802237D0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845" y="4465109"/>
            <a:ext cx="1612000" cy="69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CC: Nature Conservancy of Canada">
            <a:extLst>
              <a:ext uri="{FF2B5EF4-FFF2-40B4-BE49-F238E27FC236}">
                <a16:creationId xmlns:a16="http://schemas.microsoft.com/office/drawing/2014/main" id="{444D66AB-BA16-C8CE-BA1B-C1EA38568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037" y="4465109"/>
            <a:ext cx="2091963" cy="69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4371-725E-D5F6-21FF-5CE2D7926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1579"/>
            <a:ext cx="8229240" cy="856800"/>
          </a:xfrm>
        </p:spPr>
        <p:txBody>
          <a:bodyPr/>
          <a:lstStyle/>
          <a:p>
            <a:pPr algn="ctr"/>
            <a:r>
              <a:rPr lang="en-AU" sz="3600" b="1" dirty="0">
                <a:solidFill>
                  <a:schemeClr val="bg1"/>
                </a:solidFill>
              </a:rPr>
              <a:t>Conservation is actions in places</a:t>
            </a:r>
          </a:p>
        </p:txBody>
      </p:sp>
      <p:pic>
        <p:nvPicPr>
          <p:cNvPr id="13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80C29563-B3E4-F676-64F8-0980943029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299356" y="1368191"/>
            <a:ext cx="3926474" cy="159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68C040FA-722C-D070-0004-553459E73708}"/>
              </a:ext>
            </a:extLst>
          </p:cNvPr>
          <p:cNvGrpSpPr/>
          <p:nvPr/>
        </p:nvGrpSpPr>
        <p:grpSpPr>
          <a:xfrm>
            <a:off x="326815" y="3413493"/>
            <a:ext cx="3926474" cy="1594489"/>
            <a:chOff x="430291" y="3413493"/>
            <a:chExt cx="3926474" cy="1594489"/>
          </a:xfrm>
        </p:grpSpPr>
        <p:pic>
          <p:nvPicPr>
            <p:cNvPr id="17" name="Picture 6" descr="Nature forest landscape at daytime scene with long river flowing through the meadow">
              <a:extLst>
                <a:ext uri="{FF2B5EF4-FFF2-40B4-BE49-F238E27FC236}">
                  <a16:creationId xmlns:a16="http://schemas.microsoft.com/office/drawing/2014/main" id="{A36D3977-6C22-F98C-9715-52E1502D6C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950"/>
            <a:stretch/>
          </p:blipFill>
          <p:spPr bwMode="auto">
            <a:xfrm>
              <a:off x="430291" y="3413493"/>
              <a:ext cx="3926474" cy="159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5D0E1FC-7878-B2D6-F8D8-FB34C6307ECA}"/>
                </a:ext>
              </a:extLst>
            </p:cNvPr>
            <p:cNvGrpSpPr/>
            <p:nvPr/>
          </p:nvGrpSpPr>
          <p:grpSpPr>
            <a:xfrm>
              <a:off x="2073103" y="3750817"/>
              <a:ext cx="368493" cy="121617"/>
              <a:chOff x="6718746" y="962899"/>
              <a:chExt cx="659581" cy="217688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A092C87-9FFC-CFC1-4C21-C41ACA5EA4E2}"/>
                  </a:ext>
                </a:extLst>
              </p:cNvPr>
              <p:cNvSpPr/>
              <p:nvPr/>
            </p:nvSpPr>
            <p:spPr>
              <a:xfrm>
                <a:off x="6718746" y="1000665"/>
                <a:ext cx="172528" cy="1799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4B6E226-B5A8-3CC4-284D-D37F18F7A50E}"/>
                  </a:ext>
                </a:extLst>
              </p:cNvPr>
              <p:cNvSpPr/>
              <p:nvPr/>
            </p:nvSpPr>
            <p:spPr>
              <a:xfrm>
                <a:off x="7205799" y="962899"/>
                <a:ext cx="172528" cy="1799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pic>
        <p:nvPicPr>
          <p:cNvPr id="29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FC25DF7D-6D0A-DA3A-F652-EE6FD3DC3E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4913453" y="2317102"/>
            <a:ext cx="3926474" cy="159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65281AA-9A36-5FB5-1B85-CD69ECDD4952}"/>
              </a:ext>
            </a:extLst>
          </p:cNvPr>
          <p:cNvSpPr txBox="1"/>
          <p:nvPr/>
        </p:nvSpPr>
        <p:spPr>
          <a:xfrm>
            <a:off x="4465450" y="1914656"/>
            <a:ext cx="4466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solidFill>
                  <a:schemeClr val="bg1"/>
                </a:solidFill>
              </a:rPr>
              <a:t>2. Implement action to manage threat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FE9632-313B-B27D-F0A9-F4620162A571}"/>
              </a:ext>
            </a:extLst>
          </p:cNvPr>
          <p:cNvSpPr txBox="1"/>
          <p:nvPr/>
        </p:nvSpPr>
        <p:spPr>
          <a:xfrm>
            <a:off x="374883" y="954475"/>
            <a:ext cx="3166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bg1"/>
                </a:solidFill>
              </a:rPr>
              <a:t>1. Area impacted by threat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DEE84948-F655-D870-84F4-1AE186D707F2}"/>
              </a:ext>
            </a:extLst>
          </p:cNvPr>
          <p:cNvSpPr txBox="1"/>
          <p:nvPr/>
        </p:nvSpPr>
        <p:spPr>
          <a:xfrm>
            <a:off x="304074" y="3012564"/>
            <a:ext cx="3926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bg1"/>
                </a:solidFill>
              </a:rPr>
              <a:t>3. Positive conservation outcome</a:t>
            </a:r>
          </a:p>
        </p:txBody>
      </p:sp>
      <p:sp>
        <p:nvSpPr>
          <p:cNvPr id="1029" name="Arrow: Right 1028">
            <a:extLst>
              <a:ext uri="{FF2B5EF4-FFF2-40B4-BE49-F238E27FC236}">
                <a16:creationId xmlns:a16="http://schemas.microsoft.com/office/drawing/2014/main" id="{046EB495-FEFC-65F1-0A94-DA015A43DDD5}"/>
              </a:ext>
            </a:extLst>
          </p:cNvPr>
          <p:cNvSpPr/>
          <p:nvPr/>
        </p:nvSpPr>
        <p:spPr>
          <a:xfrm rot="981210">
            <a:off x="4330156" y="2315486"/>
            <a:ext cx="435429" cy="54033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bg1"/>
              </a:solidFill>
            </a:endParaRPr>
          </a:p>
        </p:txBody>
      </p:sp>
      <p:sp>
        <p:nvSpPr>
          <p:cNvPr id="1031" name="Arrow: Right 1030">
            <a:extLst>
              <a:ext uri="{FF2B5EF4-FFF2-40B4-BE49-F238E27FC236}">
                <a16:creationId xmlns:a16="http://schemas.microsoft.com/office/drawing/2014/main" id="{63FA94C0-3CE5-2B15-E666-521767F6EC82}"/>
              </a:ext>
            </a:extLst>
          </p:cNvPr>
          <p:cNvSpPr/>
          <p:nvPr/>
        </p:nvSpPr>
        <p:spPr>
          <a:xfrm rot="8066185">
            <a:off x="4333210" y="3385409"/>
            <a:ext cx="435429" cy="54033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3924FD-1C92-1A7D-AA28-B2384792B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419" y="1754397"/>
            <a:ext cx="912055" cy="65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5DDA790-CE57-86D7-16B3-8487935F6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1389" y="1605798"/>
            <a:ext cx="912055" cy="65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BB3DA6F-12C8-1C27-75C6-910F6E0C6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536" y="1998647"/>
            <a:ext cx="912055" cy="65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36FBD20-637B-8AC6-FC66-15A6DE199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9356" y="2341206"/>
            <a:ext cx="912055" cy="65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5+ Free Mousetrap &amp; Trap Illustrations - Pixabay">
            <a:extLst>
              <a:ext uri="{FF2B5EF4-FFF2-40B4-BE49-F238E27FC236}">
                <a16:creationId xmlns:a16="http://schemas.microsoft.com/office/drawing/2014/main" id="{8880FEC6-00AD-B028-7F05-0A5BF8FE7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096" y="2780000"/>
            <a:ext cx="686062" cy="46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5+ Free Mousetrap &amp; Trap Illustrations - Pixabay">
            <a:extLst>
              <a:ext uri="{FF2B5EF4-FFF2-40B4-BE49-F238E27FC236}">
                <a16:creationId xmlns:a16="http://schemas.microsoft.com/office/drawing/2014/main" id="{4400BBCE-17D2-226C-B09C-323F5968C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972" y="3081455"/>
            <a:ext cx="686062" cy="46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5+ Free Mousetrap &amp; Trap Illustrations - Pixabay">
            <a:extLst>
              <a:ext uri="{FF2B5EF4-FFF2-40B4-BE49-F238E27FC236}">
                <a16:creationId xmlns:a16="http://schemas.microsoft.com/office/drawing/2014/main" id="{D0021126-A7B7-EB16-6ACE-ABAD0CB41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930643" y="3435501"/>
            <a:ext cx="686062" cy="46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D5C572A-A3E5-0318-2934-8AE2B4966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118" y="3593136"/>
            <a:ext cx="951369" cy="74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E2BAA277-A3F7-8A82-9AEC-9FEC47459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0060" y="3670087"/>
            <a:ext cx="951369" cy="74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55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07832B81-C4A0-2D10-14DC-7DAF7060C8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295555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eadow cartoon clip art | Free SVG">
            <a:extLst>
              <a:ext uri="{FF2B5EF4-FFF2-40B4-BE49-F238E27FC236}">
                <a16:creationId xmlns:a16="http://schemas.microsoft.com/office/drawing/2014/main" id="{D6E3D767-24F6-C72F-9366-70FF27FEA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295555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1827D3-CF22-ECEC-C347-4E7D36A5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97589"/>
            <a:ext cx="8884280" cy="536099"/>
          </a:xfrm>
        </p:spPr>
        <p:txBody>
          <a:bodyPr/>
          <a:lstStyle/>
          <a:p>
            <a:pPr algn="ctr"/>
            <a:r>
              <a:rPr lang="en-AU" sz="3200" b="1" dirty="0">
                <a:solidFill>
                  <a:schemeClr val="bg1"/>
                </a:solidFill>
              </a:rPr>
              <a:t>Which threats to manage, and where?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73FC66DF-5162-862D-9846-89FE4A7220FE}"/>
              </a:ext>
            </a:extLst>
          </p:cNvPr>
          <p:cNvSpPr txBox="1"/>
          <p:nvPr/>
        </p:nvSpPr>
        <p:spPr>
          <a:xfrm>
            <a:off x="1032632" y="616197"/>
            <a:ext cx="12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Current</a:t>
            </a:r>
          </a:p>
        </p:txBody>
      </p: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0BAA8596-5DC6-D0BF-621A-CF4814B2F9A5}"/>
              </a:ext>
            </a:extLst>
          </p:cNvPr>
          <p:cNvGrpSpPr/>
          <p:nvPr/>
        </p:nvGrpSpPr>
        <p:grpSpPr>
          <a:xfrm>
            <a:off x="268488" y="1336955"/>
            <a:ext cx="1066649" cy="795019"/>
            <a:chOff x="6080248" y="779867"/>
            <a:chExt cx="1909240" cy="1423038"/>
          </a:xfrm>
        </p:grpSpPr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7E7770C6-6F8B-7B0A-0961-53CEE34DD263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E2E12968-B4B1-8B29-1352-A49F0FBA0E88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69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041855EF-8E6A-1812-F5A2-6BC9569E3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76" name="Picture 4" descr="Wild boar clipart by Matiseli on DeviantArt">
            <a:extLst>
              <a:ext uri="{FF2B5EF4-FFF2-40B4-BE49-F238E27FC236}">
                <a16:creationId xmlns:a16="http://schemas.microsoft.com/office/drawing/2014/main" id="{8E6014E0-49A1-A26C-36FC-A9F5D8C7E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4733" y="2185417"/>
            <a:ext cx="926483" cy="77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1082" descr="Page 4 | Toxic waste barrel Vectors &amp; Illustrations for Free Download |  Freepik">
            <a:extLst>
              <a:ext uri="{FF2B5EF4-FFF2-40B4-BE49-F238E27FC236}">
                <a16:creationId xmlns:a16="http://schemas.microsoft.com/office/drawing/2014/main" id="{291EC580-6E0A-F59E-2077-6C7FEF3F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02" b="93035" l="7050" r="90550">
                        <a14:foregroundMark x1="66500" y1="25967" x2="66500" y2="25967"/>
                        <a14:foregroundMark x1="62050" y1="29837" x2="49050" y2="41015"/>
                        <a14:foregroundMark x1="49050" y1="41015" x2="48850" y2="41359"/>
                        <a14:foregroundMark x1="39150" y1="39381" x2="39400" y2="22270"/>
                        <a14:foregroundMark x1="39400" y1="22270" x2="44750" y2="10576"/>
                        <a14:foregroundMark x1="44750" y1="10576" x2="51163" y2="5981"/>
                        <a14:foregroundMark x1="52880" y1="5733" x2="64350" y2="9630"/>
                        <a14:foregroundMark x1="64350" y1="9630" x2="72900" y2="9802"/>
                        <a14:foregroundMark x1="72900" y1="9802" x2="80800" y2="9802"/>
                        <a14:foregroundMark x1="80800" y1="9802" x2="86900" y2="10748"/>
                        <a14:foregroundMark x1="86900" y1="10748" x2="90600" y2="32846"/>
                        <a14:foregroundMark x1="90600" y1="32846" x2="89400" y2="46604"/>
                        <a14:foregroundMark x1="89400" y1="46604" x2="80650" y2="53052"/>
                        <a14:foregroundMark x1="80650" y1="53052" x2="52000" y2="57954"/>
                        <a14:foregroundMark x1="52000" y1="57954" x2="38600" y2="38435"/>
                        <a14:foregroundMark x1="7050" y1="77128" x2="7150" y2="77128"/>
                        <a14:foregroundMark x1="32850" y1="90886" x2="53450" y2="87188"/>
                        <a14:foregroundMark x1="53450" y1="87188" x2="47150" y2="94067"/>
                        <a14:foregroundMark x1="47150" y1="94067" x2="34800" y2="93035"/>
                        <a14:foregroundMark x1="34800" y1="93035" x2="33050" y2="92003"/>
                        <a14:backgroundMark x1="51150" y1="6019" x2="52900" y2="56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1241" y="3020793"/>
            <a:ext cx="540125" cy="31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1083" descr="Shape&#10;&#10;Description automatically generated">
            <a:extLst>
              <a:ext uri="{FF2B5EF4-FFF2-40B4-BE49-F238E27FC236}">
                <a16:creationId xmlns:a16="http://schemas.microsoft.com/office/drawing/2014/main" id="{D0126F3D-3870-B11C-C1A8-A37C9C132D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496" y="2356907"/>
            <a:ext cx="455998" cy="592191"/>
          </a:xfrm>
          <a:prstGeom prst="rect">
            <a:avLst/>
          </a:prstGeom>
        </p:spPr>
      </p:pic>
      <p:pic>
        <p:nvPicPr>
          <p:cNvPr id="1096" name="Picture 8">
            <a:extLst>
              <a:ext uri="{FF2B5EF4-FFF2-40B4-BE49-F238E27FC236}">
                <a16:creationId xmlns:a16="http://schemas.microsoft.com/office/drawing/2014/main" id="{11C59920-A2B8-0AEA-6477-BFF4ECF54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17" y="1323385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3" name="Picture 1112" descr="Shape&#10;&#10;Description automatically generated">
            <a:extLst>
              <a:ext uri="{FF2B5EF4-FFF2-40B4-BE49-F238E27FC236}">
                <a16:creationId xmlns:a16="http://schemas.microsoft.com/office/drawing/2014/main" id="{2ABC3E5A-10FE-14AE-9744-8E37D35710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19" y="1396824"/>
            <a:ext cx="455998" cy="59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3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07832B81-C4A0-2D10-14DC-7DAF7060C8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295555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eadow cartoon clip art | Free SVG">
            <a:extLst>
              <a:ext uri="{FF2B5EF4-FFF2-40B4-BE49-F238E27FC236}">
                <a16:creationId xmlns:a16="http://schemas.microsoft.com/office/drawing/2014/main" id="{D6E3D767-24F6-C72F-9366-70FF27FEA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295555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1827D3-CF22-ECEC-C347-4E7D36A5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97589"/>
            <a:ext cx="8884280" cy="536099"/>
          </a:xfrm>
        </p:spPr>
        <p:txBody>
          <a:bodyPr/>
          <a:lstStyle/>
          <a:p>
            <a:pPr algn="ctr"/>
            <a:r>
              <a:rPr lang="en-AU" sz="3200" b="1" dirty="0">
                <a:solidFill>
                  <a:schemeClr val="bg1"/>
                </a:solidFill>
              </a:rPr>
              <a:t>Which threats to manage, and where?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73FC66DF-5162-862D-9846-89FE4A7220FE}"/>
              </a:ext>
            </a:extLst>
          </p:cNvPr>
          <p:cNvSpPr txBox="1"/>
          <p:nvPr/>
        </p:nvSpPr>
        <p:spPr>
          <a:xfrm>
            <a:off x="1032632" y="616197"/>
            <a:ext cx="12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Current</a:t>
            </a:r>
          </a:p>
        </p:txBody>
      </p: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0BAA8596-5DC6-D0BF-621A-CF4814B2F9A5}"/>
              </a:ext>
            </a:extLst>
          </p:cNvPr>
          <p:cNvGrpSpPr/>
          <p:nvPr/>
        </p:nvGrpSpPr>
        <p:grpSpPr>
          <a:xfrm>
            <a:off x="268488" y="1336955"/>
            <a:ext cx="1066649" cy="795019"/>
            <a:chOff x="6080248" y="779867"/>
            <a:chExt cx="1909240" cy="1423038"/>
          </a:xfrm>
        </p:grpSpPr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7E7770C6-6F8B-7B0A-0961-53CEE34DD263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E2E12968-B4B1-8B29-1352-A49F0FBA0E88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69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041855EF-8E6A-1812-F5A2-6BC9569E3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76" name="Picture 4" descr="Wild boar clipart by Matiseli on DeviantArt">
            <a:extLst>
              <a:ext uri="{FF2B5EF4-FFF2-40B4-BE49-F238E27FC236}">
                <a16:creationId xmlns:a16="http://schemas.microsoft.com/office/drawing/2014/main" id="{8E6014E0-49A1-A26C-36FC-A9F5D8C7E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4733" y="2185417"/>
            <a:ext cx="926483" cy="77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1082" descr="Page 4 | Toxic waste barrel Vectors &amp; Illustrations for Free Download |  Freepik">
            <a:extLst>
              <a:ext uri="{FF2B5EF4-FFF2-40B4-BE49-F238E27FC236}">
                <a16:creationId xmlns:a16="http://schemas.microsoft.com/office/drawing/2014/main" id="{291EC580-6E0A-F59E-2077-6C7FEF3F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02" b="93035" l="7050" r="90550">
                        <a14:foregroundMark x1="66500" y1="25967" x2="66500" y2="25967"/>
                        <a14:foregroundMark x1="62050" y1="29837" x2="49050" y2="41015"/>
                        <a14:foregroundMark x1="49050" y1="41015" x2="48850" y2="41359"/>
                        <a14:foregroundMark x1="39150" y1="39381" x2="39400" y2="22270"/>
                        <a14:foregroundMark x1="39400" y1="22270" x2="44750" y2="10576"/>
                        <a14:foregroundMark x1="44750" y1="10576" x2="51163" y2="5981"/>
                        <a14:foregroundMark x1="52880" y1="5733" x2="64350" y2="9630"/>
                        <a14:foregroundMark x1="64350" y1="9630" x2="72900" y2="9802"/>
                        <a14:foregroundMark x1="72900" y1="9802" x2="80800" y2="9802"/>
                        <a14:foregroundMark x1="80800" y1="9802" x2="86900" y2="10748"/>
                        <a14:foregroundMark x1="86900" y1="10748" x2="90600" y2="32846"/>
                        <a14:foregroundMark x1="90600" y1="32846" x2="89400" y2="46604"/>
                        <a14:foregroundMark x1="89400" y1="46604" x2="80650" y2="53052"/>
                        <a14:foregroundMark x1="80650" y1="53052" x2="52000" y2="57954"/>
                        <a14:foregroundMark x1="52000" y1="57954" x2="38600" y2="38435"/>
                        <a14:foregroundMark x1="7050" y1="77128" x2="7150" y2="77128"/>
                        <a14:foregroundMark x1="32850" y1="90886" x2="53450" y2="87188"/>
                        <a14:foregroundMark x1="53450" y1="87188" x2="47150" y2="94067"/>
                        <a14:foregroundMark x1="47150" y1="94067" x2="34800" y2="93035"/>
                        <a14:foregroundMark x1="34800" y1="93035" x2="33050" y2="92003"/>
                        <a14:backgroundMark x1="51150" y1="6019" x2="52900" y2="56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1241" y="3020793"/>
            <a:ext cx="540125" cy="31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1083" descr="Shape&#10;&#10;Description automatically generated">
            <a:extLst>
              <a:ext uri="{FF2B5EF4-FFF2-40B4-BE49-F238E27FC236}">
                <a16:creationId xmlns:a16="http://schemas.microsoft.com/office/drawing/2014/main" id="{D0126F3D-3870-B11C-C1A8-A37C9C132D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496" y="2356907"/>
            <a:ext cx="455998" cy="592191"/>
          </a:xfrm>
          <a:prstGeom prst="rect">
            <a:avLst/>
          </a:prstGeom>
        </p:spPr>
      </p:pic>
      <p:pic>
        <p:nvPicPr>
          <p:cNvPr id="1096" name="Picture 8">
            <a:extLst>
              <a:ext uri="{FF2B5EF4-FFF2-40B4-BE49-F238E27FC236}">
                <a16:creationId xmlns:a16="http://schemas.microsoft.com/office/drawing/2014/main" id="{11C59920-A2B8-0AEA-6477-BFF4ECF54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17" y="1323385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3" name="Picture 1112" descr="Shape&#10;&#10;Description automatically generated">
            <a:extLst>
              <a:ext uri="{FF2B5EF4-FFF2-40B4-BE49-F238E27FC236}">
                <a16:creationId xmlns:a16="http://schemas.microsoft.com/office/drawing/2014/main" id="{2ABC3E5A-10FE-14AE-9744-8E37D35710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19" y="1396824"/>
            <a:ext cx="455998" cy="592191"/>
          </a:xfrm>
          <a:prstGeom prst="rect">
            <a:avLst/>
          </a:prstGeom>
        </p:spPr>
      </p:pic>
      <p:cxnSp>
        <p:nvCxnSpPr>
          <p:cNvPr id="1128" name="Straight Connector 1127">
            <a:extLst>
              <a:ext uri="{FF2B5EF4-FFF2-40B4-BE49-F238E27FC236}">
                <a16:creationId xmlns:a16="http://schemas.microsoft.com/office/drawing/2014/main" id="{C0B20B19-942D-0D47-2330-8D8E89561FEE}"/>
              </a:ext>
            </a:extLst>
          </p:cNvPr>
          <p:cNvCxnSpPr>
            <a:cxnSpLocks/>
          </p:cNvCxnSpPr>
          <p:nvPr/>
        </p:nvCxnSpPr>
        <p:spPr>
          <a:xfrm>
            <a:off x="6091380" y="3602862"/>
            <a:ext cx="0" cy="14160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9F21F19F-5771-7C20-7F05-7BA182D6D233}"/>
              </a:ext>
            </a:extLst>
          </p:cNvPr>
          <p:cNvGrpSpPr/>
          <p:nvPr/>
        </p:nvGrpSpPr>
        <p:grpSpPr>
          <a:xfrm>
            <a:off x="362969" y="3442507"/>
            <a:ext cx="5591734" cy="1602047"/>
            <a:chOff x="3481387" y="3512423"/>
            <a:chExt cx="5591734" cy="1602047"/>
          </a:xfrm>
        </p:grpSpPr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C02FB4DE-7EBC-9A51-7E9B-0B3B31A07897}"/>
                </a:ext>
              </a:extLst>
            </p:cNvPr>
            <p:cNvGrpSpPr/>
            <p:nvPr/>
          </p:nvGrpSpPr>
          <p:grpSpPr>
            <a:xfrm>
              <a:off x="3481387" y="4209823"/>
              <a:ext cx="2011550" cy="681553"/>
              <a:chOff x="1621697" y="3377943"/>
              <a:chExt cx="2346435" cy="795019"/>
            </a:xfrm>
          </p:grpSpPr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56830D67-359F-48D6-BD3A-81BBB42AB8B3}"/>
                  </a:ext>
                </a:extLst>
              </p:cNvPr>
              <p:cNvGrpSpPr/>
              <p:nvPr/>
            </p:nvGrpSpPr>
            <p:grpSpPr>
              <a:xfrm>
                <a:off x="2901483" y="3377943"/>
                <a:ext cx="1066649" cy="795019"/>
                <a:chOff x="6080248" y="779867"/>
                <a:chExt cx="1909240" cy="1423038"/>
              </a:xfrm>
            </p:grpSpPr>
            <p:sp>
              <p:nvSpPr>
                <p:cNvPr id="1152" name="Oval 1151">
                  <a:extLst>
                    <a:ext uri="{FF2B5EF4-FFF2-40B4-BE49-F238E27FC236}">
                      <a16:creationId xmlns:a16="http://schemas.microsoft.com/office/drawing/2014/main" id="{09CED381-D341-07BA-1795-A1725BAEECAB}"/>
                    </a:ext>
                  </a:extLst>
                </p:cNvPr>
                <p:cNvSpPr/>
                <p:nvPr/>
              </p:nvSpPr>
              <p:spPr>
                <a:xfrm>
                  <a:off x="6718746" y="1000665"/>
                  <a:ext cx="172528" cy="1799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153" name="Oval 1152">
                  <a:extLst>
                    <a:ext uri="{FF2B5EF4-FFF2-40B4-BE49-F238E27FC236}">
                      <a16:creationId xmlns:a16="http://schemas.microsoft.com/office/drawing/2014/main" id="{71EA05EC-4E5F-72DE-522D-5ECA0AECD8C1}"/>
                    </a:ext>
                  </a:extLst>
                </p:cNvPr>
                <p:cNvSpPr/>
                <p:nvPr/>
              </p:nvSpPr>
              <p:spPr>
                <a:xfrm>
                  <a:off x="7205799" y="962899"/>
                  <a:ext cx="172528" cy="1799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pic>
              <p:nvPicPr>
                <p:cNvPr id="1154" name="Picture 4" descr="Frog Clipart Images – Browse 8,987 Stock Photos, Vectors, and Video | Adobe  Stock">
                  <a:extLst>
                    <a:ext uri="{FF2B5EF4-FFF2-40B4-BE49-F238E27FC236}">
                      <a16:creationId xmlns:a16="http://schemas.microsoft.com/office/drawing/2014/main" id="{45286A17-79E9-E4A3-A083-3979BD9BA38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80248" y="779867"/>
                  <a:ext cx="1909240" cy="142303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148" name="Arrow: Right 1147">
                <a:extLst>
                  <a:ext uri="{FF2B5EF4-FFF2-40B4-BE49-F238E27FC236}">
                    <a16:creationId xmlns:a16="http://schemas.microsoft.com/office/drawing/2014/main" id="{94D9FE96-49B1-75FF-1B66-1777F0617ADD}"/>
                  </a:ext>
                </a:extLst>
              </p:cNvPr>
              <p:cNvSpPr/>
              <p:nvPr/>
            </p:nvSpPr>
            <p:spPr>
              <a:xfrm>
                <a:off x="2633245" y="3581064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1149" name="Group 1148">
                <a:extLst>
                  <a:ext uri="{FF2B5EF4-FFF2-40B4-BE49-F238E27FC236}">
                    <a16:creationId xmlns:a16="http://schemas.microsoft.com/office/drawing/2014/main" id="{5CF33638-9E5C-1E7E-02EA-A664C6D81F51}"/>
                  </a:ext>
                </a:extLst>
              </p:cNvPr>
              <p:cNvGrpSpPr/>
              <p:nvPr/>
            </p:nvGrpSpPr>
            <p:grpSpPr>
              <a:xfrm>
                <a:off x="1621697" y="3481355"/>
                <a:ext cx="1011548" cy="588194"/>
                <a:chOff x="1621697" y="3460323"/>
                <a:chExt cx="1011548" cy="588194"/>
              </a:xfrm>
            </p:grpSpPr>
            <p:pic>
              <p:nvPicPr>
                <p:cNvPr id="1150" name="Picture 10" descr="Page 4 | Toxic waste barrel Vectors &amp; Illustrations for Free Download |  Freepik">
                  <a:extLst>
                    <a:ext uri="{FF2B5EF4-FFF2-40B4-BE49-F238E27FC236}">
                      <a16:creationId xmlns:a16="http://schemas.microsoft.com/office/drawing/2014/main" id="{08BF8477-674F-32CE-4545-AF51FFF5C1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9802" b="93035" l="7050" r="90550">
                              <a14:foregroundMark x1="66500" y1="25967" x2="66500" y2="25967"/>
                              <a14:foregroundMark x1="62050" y1="29837" x2="49050" y2="41015"/>
                              <a14:foregroundMark x1="49050" y1="41015" x2="48850" y2="41359"/>
                              <a14:foregroundMark x1="39150" y1="39381" x2="39400" y2="22270"/>
                              <a14:foregroundMark x1="39400" y1="22270" x2="44750" y2="10576"/>
                              <a14:foregroundMark x1="44750" y1="10576" x2="51163" y2="5981"/>
                              <a14:foregroundMark x1="52880" y1="5733" x2="64350" y2="9630"/>
                              <a14:foregroundMark x1="64350" y1="9630" x2="72900" y2="9802"/>
                              <a14:foregroundMark x1="72900" y1="9802" x2="80800" y2="9802"/>
                              <a14:foregroundMark x1="80800" y1="9802" x2="86900" y2="10748"/>
                              <a14:foregroundMark x1="86900" y1="10748" x2="90600" y2="32846"/>
                              <a14:foregroundMark x1="90600" y1="32846" x2="89400" y2="46604"/>
                              <a14:foregroundMark x1="89400" y1="46604" x2="80650" y2="53052"/>
                              <a14:foregroundMark x1="80650" y1="53052" x2="52000" y2="57954"/>
                              <a14:foregroundMark x1="52000" y1="57954" x2="38600" y2="38435"/>
                              <a14:foregroundMark x1="7050" y1="77128" x2="7150" y2="77128"/>
                              <a14:foregroundMark x1="32850" y1="90886" x2="53450" y2="87188"/>
                              <a14:foregroundMark x1="53450" y1="87188" x2="47150" y2="94067"/>
                              <a14:foregroundMark x1="47150" y1="94067" x2="34800" y2="93035"/>
                              <a14:foregroundMark x1="34800" y1="93035" x2="33050" y2="92003"/>
                              <a14:backgroundMark x1="51150" y1="6019" x2="52900" y2="567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21697" y="3460323"/>
                  <a:ext cx="1011548" cy="58819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51" name="&quot;Not Allowed&quot; Symbol 1150">
                  <a:extLst>
                    <a:ext uri="{FF2B5EF4-FFF2-40B4-BE49-F238E27FC236}">
                      <a16:creationId xmlns:a16="http://schemas.microsoft.com/office/drawing/2014/main" id="{B49A291A-E083-A5FF-3744-88D1AE420929}"/>
                    </a:ext>
                  </a:extLst>
                </p:cNvPr>
                <p:cNvSpPr/>
                <p:nvPr/>
              </p:nvSpPr>
              <p:spPr>
                <a:xfrm>
                  <a:off x="1843129" y="3473784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31" name="Group 1130">
              <a:extLst>
                <a:ext uri="{FF2B5EF4-FFF2-40B4-BE49-F238E27FC236}">
                  <a16:creationId xmlns:a16="http://schemas.microsoft.com/office/drawing/2014/main" id="{B0FD0647-37D9-AA14-9DFD-A346A11D2E4D}"/>
                </a:ext>
              </a:extLst>
            </p:cNvPr>
            <p:cNvGrpSpPr/>
            <p:nvPr/>
          </p:nvGrpSpPr>
          <p:grpSpPr>
            <a:xfrm>
              <a:off x="5650035" y="3512423"/>
              <a:ext cx="1821198" cy="772666"/>
              <a:chOff x="1515396" y="3963565"/>
              <a:chExt cx="2144722" cy="909925"/>
            </a:xfrm>
          </p:grpSpPr>
          <p:sp>
            <p:nvSpPr>
              <p:cNvPr id="1142" name="Arrow: Right 1141">
                <a:extLst>
                  <a:ext uri="{FF2B5EF4-FFF2-40B4-BE49-F238E27FC236}">
                    <a16:creationId xmlns:a16="http://schemas.microsoft.com/office/drawing/2014/main" id="{5CF89059-7BAE-F023-1A6C-CC4F4331A16E}"/>
                  </a:ext>
                </a:extLst>
              </p:cNvPr>
              <p:cNvSpPr/>
              <p:nvPr/>
            </p:nvSpPr>
            <p:spPr>
              <a:xfrm>
                <a:off x="2633245" y="4224139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1143" name="Picture 8">
                <a:extLst>
                  <a:ext uri="{FF2B5EF4-FFF2-40B4-BE49-F238E27FC236}">
                    <a16:creationId xmlns:a16="http://schemas.microsoft.com/office/drawing/2014/main" id="{6ED0450E-9C6D-7733-FFA6-8895152B07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2662" y="4064799"/>
                <a:ext cx="707456" cy="707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144" name="Group 1143">
                <a:extLst>
                  <a:ext uri="{FF2B5EF4-FFF2-40B4-BE49-F238E27FC236}">
                    <a16:creationId xmlns:a16="http://schemas.microsoft.com/office/drawing/2014/main" id="{324DF7A7-8AF7-E96D-A194-75E881B576C9}"/>
                  </a:ext>
                </a:extLst>
              </p:cNvPr>
              <p:cNvGrpSpPr/>
              <p:nvPr/>
            </p:nvGrpSpPr>
            <p:grpSpPr>
              <a:xfrm>
                <a:off x="1515396" y="3963565"/>
                <a:ext cx="1091067" cy="909925"/>
                <a:chOff x="1515396" y="3963565"/>
                <a:chExt cx="1091067" cy="909925"/>
              </a:xfrm>
            </p:grpSpPr>
            <p:pic>
              <p:nvPicPr>
                <p:cNvPr id="1145" name="Picture 4" descr="Wild boar clipart by Matiseli on DeviantArt">
                  <a:extLst>
                    <a:ext uri="{FF2B5EF4-FFF2-40B4-BE49-F238E27FC236}">
                      <a16:creationId xmlns:a16="http://schemas.microsoft.com/office/drawing/2014/main" id="{1621FF08-3FA6-80FC-34C8-45E74BF2BC2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515396" y="3963565"/>
                  <a:ext cx="1091067" cy="9099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46" name="&quot;Not Allowed&quot; Symbol 1145">
                  <a:extLst>
                    <a:ext uri="{FF2B5EF4-FFF2-40B4-BE49-F238E27FC236}">
                      <a16:creationId xmlns:a16="http://schemas.microsoft.com/office/drawing/2014/main" id="{E19F0DA7-7712-CA6A-AB57-E73D995A0A1B}"/>
                    </a:ext>
                  </a:extLst>
                </p:cNvPr>
                <p:cNvSpPr/>
                <p:nvPr/>
              </p:nvSpPr>
              <p:spPr>
                <a:xfrm>
                  <a:off x="1643336" y="4258568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32" name="Group 1131">
              <a:extLst>
                <a:ext uri="{FF2B5EF4-FFF2-40B4-BE49-F238E27FC236}">
                  <a16:creationId xmlns:a16="http://schemas.microsoft.com/office/drawing/2014/main" id="{529DC828-73BE-040C-94E6-B8C79A536BA6}"/>
                </a:ext>
              </a:extLst>
            </p:cNvPr>
            <p:cNvGrpSpPr/>
            <p:nvPr/>
          </p:nvGrpSpPr>
          <p:grpSpPr>
            <a:xfrm>
              <a:off x="5762141" y="4147470"/>
              <a:ext cx="3310980" cy="967000"/>
              <a:chOff x="4214599" y="3984442"/>
              <a:chExt cx="3663417" cy="1069932"/>
            </a:xfrm>
          </p:grpSpPr>
          <p:sp>
            <p:nvSpPr>
              <p:cNvPr id="1134" name="Plus Sign 1133">
                <a:extLst>
                  <a:ext uri="{FF2B5EF4-FFF2-40B4-BE49-F238E27FC236}">
                    <a16:creationId xmlns:a16="http://schemas.microsoft.com/office/drawing/2014/main" id="{1A9D8121-64C2-F44C-B896-DE94749C23ED}"/>
                  </a:ext>
                </a:extLst>
              </p:cNvPr>
              <p:cNvSpPr/>
              <p:nvPr/>
            </p:nvSpPr>
            <p:spPr>
              <a:xfrm>
                <a:off x="5226147" y="4239544"/>
                <a:ext cx="540199" cy="559728"/>
              </a:xfrm>
              <a:prstGeom prst="mathPl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35" name="Arrow: Right 1134">
                <a:extLst>
                  <a:ext uri="{FF2B5EF4-FFF2-40B4-BE49-F238E27FC236}">
                    <a16:creationId xmlns:a16="http://schemas.microsoft.com/office/drawing/2014/main" id="{35A13543-A1A6-F319-6C57-AB69CD51B6DE}"/>
                  </a:ext>
                </a:extLst>
              </p:cNvPr>
              <p:cNvSpPr/>
              <p:nvPr/>
            </p:nvSpPr>
            <p:spPr>
              <a:xfrm>
                <a:off x="6540538" y="4325020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1136" name="Picture 10" descr="Page 4 | Toxic waste barrel Vectors &amp; Illustrations for Free Download |  Freepik">
                <a:extLst>
                  <a:ext uri="{FF2B5EF4-FFF2-40B4-BE49-F238E27FC236}">
                    <a16:creationId xmlns:a16="http://schemas.microsoft.com/office/drawing/2014/main" id="{5B77AC01-2223-8437-C969-66619758B0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9802" b="93035" l="7050" r="90550">
                            <a14:foregroundMark x1="66500" y1="25967" x2="66500" y2="25967"/>
                            <a14:foregroundMark x1="62050" y1="29837" x2="49050" y2="41015"/>
                            <a14:foregroundMark x1="49050" y1="41015" x2="48850" y2="41359"/>
                            <a14:foregroundMark x1="39150" y1="39381" x2="39400" y2="22270"/>
                            <a14:foregroundMark x1="39400" y1="22270" x2="44750" y2="10576"/>
                            <a14:foregroundMark x1="44750" y1="10576" x2="51163" y2="5981"/>
                            <a14:foregroundMark x1="52880" y1="5733" x2="64350" y2="9630"/>
                            <a14:foregroundMark x1="64350" y1="9630" x2="72900" y2="9802"/>
                            <a14:foregroundMark x1="72900" y1="9802" x2="80800" y2="9802"/>
                            <a14:foregroundMark x1="80800" y1="9802" x2="86900" y2="10748"/>
                            <a14:foregroundMark x1="86900" y1="10748" x2="90600" y2="32846"/>
                            <a14:foregroundMark x1="90600" y1="32846" x2="89400" y2="46604"/>
                            <a14:foregroundMark x1="89400" y1="46604" x2="80650" y2="53052"/>
                            <a14:foregroundMark x1="80650" y1="53052" x2="52000" y2="57954"/>
                            <a14:foregroundMark x1="52000" y1="57954" x2="38600" y2="38435"/>
                            <a14:foregroundMark x1="7050" y1="77128" x2="7150" y2="77128"/>
                            <a14:foregroundMark x1="32850" y1="90886" x2="53450" y2="87188"/>
                            <a14:foregroundMark x1="53450" y1="87188" x2="47150" y2="94067"/>
                            <a14:foregroundMark x1="47150" y1="94067" x2="34800" y2="93035"/>
                            <a14:foregroundMark x1="34800" y1="93035" x2="33050" y2="92003"/>
                            <a14:backgroundMark x1="51150" y1="6019" x2="52900" y2="567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4599" y="4225311"/>
                <a:ext cx="1011548" cy="5881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37" name="&quot;Not Allowed&quot; Symbol 1136">
                <a:extLst>
                  <a:ext uri="{FF2B5EF4-FFF2-40B4-BE49-F238E27FC236}">
                    <a16:creationId xmlns:a16="http://schemas.microsoft.com/office/drawing/2014/main" id="{E7CB8524-3913-7FF9-8D6A-827F8F90D30F}"/>
                  </a:ext>
                </a:extLst>
              </p:cNvPr>
              <p:cNvSpPr/>
              <p:nvPr/>
            </p:nvSpPr>
            <p:spPr>
              <a:xfrm>
                <a:off x="4404870" y="4265622"/>
                <a:ext cx="587828" cy="457127"/>
              </a:xfrm>
              <a:prstGeom prst="noSmoking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38" name="Group 1137">
                <a:extLst>
                  <a:ext uri="{FF2B5EF4-FFF2-40B4-BE49-F238E27FC236}">
                    <a16:creationId xmlns:a16="http://schemas.microsoft.com/office/drawing/2014/main" id="{1E380779-083D-1C22-632D-D295FA2DD655}"/>
                  </a:ext>
                </a:extLst>
              </p:cNvPr>
              <p:cNvGrpSpPr/>
              <p:nvPr/>
            </p:nvGrpSpPr>
            <p:grpSpPr>
              <a:xfrm>
                <a:off x="5714278" y="4064446"/>
                <a:ext cx="700658" cy="909925"/>
                <a:chOff x="5714278" y="4161713"/>
                <a:chExt cx="700658" cy="909925"/>
              </a:xfrm>
            </p:grpSpPr>
            <p:pic>
              <p:nvPicPr>
                <p:cNvPr id="1140" name="Picture 1139" descr="Shape&#10;&#10;Description automatically generated">
                  <a:extLst>
                    <a:ext uri="{FF2B5EF4-FFF2-40B4-BE49-F238E27FC236}">
                      <a16:creationId xmlns:a16="http://schemas.microsoft.com/office/drawing/2014/main" id="{EE135A13-4FAB-A5ED-AC97-63CEB964D8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14278" y="4161713"/>
                  <a:ext cx="700658" cy="909925"/>
                </a:xfrm>
                <a:prstGeom prst="rect">
                  <a:avLst/>
                </a:prstGeom>
              </p:spPr>
            </p:pic>
            <p:sp>
              <p:nvSpPr>
                <p:cNvPr id="1141" name="&quot;Not Allowed&quot; Symbol 1140">
                  <a:extLst>
                    <a:ext uri="{FF2B5EF4-FFF2-40B4-BE49-F238E27FC236}">
                      <a16:creationId xmlns:a16="http://schemas.microsoft.com/office/drawing/2014/main" id="{F2D93AF7-8F71-DA9D-BB7C-F6EA91C71376}"/>
                    </a:ext>
                  </a:extLst>
                </p:cNvPr>
                <p:cNvSpPr/>
                <p:nvPr/>
              </p:nvSpPr>
              <p:spPr>
                <a:xfrm>
                  <a:off x="5714332" y="4502145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1139" name="Picture 16" descr="On the Dangers of Stochastic Parrots: Can Language Models Be Too Big? 🦜 |  Green AI — Annotated Bibliography">
                <a:extLst>
                  <a:ext uri="{FF2B5EF4-FFF2-40B4-BE49-F238E27FC236}">
                    <a16:creationId xmlns:a16="http://schemas.microsoft.com/office/drawing/2014/main" id="{D71AD37E-7A5F-A5C7-D16C-AD64377D61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08084" y="3984442"/>
                <a:ext cx="1069932" cy="10699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33" name="TextBox 1132">
              <a:extLst>
                <a:ext uri="{FF2B5EF4-FFF2-40B4-BE49-F238E27FC236}">
                  <a16:creationId xmlns:a16="http://schemas.microsoft.com/office/drawing/2014/main" id="{27FA4854-31A0-2942-ADF8-FA07FCD26686}"/>
                </a:ext>
              </a:extLst>
            </p:cNvPr>
            <p:cNvSpPr txBox="1"/>
            <p:nvPr/>
          </p:nvSpPr>
          <p:spPr>
            <a:xfrm>
              <a:off x="3498907" y="3599292"/>
              <a:ext cx="26556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</a:rPr>
                <a:t>Threat impacts </a:t>
              </a:r>
            </a:p>
          </p:txBody>
        </p:sp>
      </p:grpSp>
      <p:cxnSp>
        <p:nvCxnSpPr>
          <p:cNvPr id="1167" name="Straight Connector 1166">
            <a:extLst>
              <a:ext uri="{FF2B5EF4-FFF2-40B4-BE49-F238E27FC236}">
                <a16:creationId xmlns:a16="http://schemas.microsoft.com/office/drawing/2014/main" id="{5F8ADFA4-CB00-20AA-060C-CB68C729AE07}"/>
              </a:ext>
            </a:extLst>
          </p:cNvPr>
          <p:cNvCxnSpPr>
            <a:cxnSpLocks/>
          </p:cNvCxnSpPr>
          <p:nvPr/>
        </p:nvCxnSpPr>
        <p:spPr>
          <a:xfrm>
            <a:off x="238529" y="3497536"/>
            <a:ext cx="866694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428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07832B81-C4A0-2D10-14DC-7DAF7060C8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295555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eadow cartoon clip art | Free SVG">
            <a:extLst>
              <a:ext uri="{FF2B5EF4-FFF2-40B4-BE49-F238E27FC236}">
                <a16:creationId xmlns:a16="http://schemas.microsoft.com/office/drawing/2014/main" id="{D6E3D767-24F6-C72F-9366-70FF27FEA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295555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1827D3-CF22-ECEC-C347-4E7D36A5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97589"/>
            <a:ext cx="8884280" cy="536099"/>
          </a:xfrm>
        </p:spPr>
        <p:txBody>
          <a:bodyPr/>
          <a:lstStyle/>
          <a:p>
            <a:pPr algn="ctr"/>
            <a:r>
              <a:rPr lang="en-AU" sz="3200" b="1" dirty="0">
                <a:solidFill>
                  <a:schemeClr val="bg1"/>
                </a:solidFill>
              </a:rPr>
              <a:t>Which threats to manage, and where?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73FC66DF-5162-862D-9846-89FE4A7220FE}"/>
              </a:ext>
            </a:extLst>
          </p:cNvPr>
          <p:cNvSpPr txBox="1"/>
          <p:nvPr/>
        </p:nvSpPr>
        <p:spPr>
          <a:xfrm>
            <a:off x="1032632" y="616197"/>
            <a:ext cx="12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Current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0A5CBF4C-F421-2D28-94C5-10779673138A}"/>
              </a:ext>
            </a:extLst>
          </p:cNvPr>
          <p:cNvSpPr txBox="1"/>
          <p:nvPr/>
        </p:nvSpPr>
        <p:spPr>
          <a:xfrm>
            <a:off x="3908248" y="616197"/>
            <a:ext cx="1389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Potential</a:t>
            </a:r>
          </a:p>
        </p:txBody>
      </p:sp>
      <p:pic>
        <p:nvPicPr>
          <p:cNvPr id="1056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EDBC90D7-B184-74FD-6EDE-375F05D711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3230143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2" descr="Meadow cartoon clip art | Free SVG">
            <a:extLst>
              <a:ext uri="{FF2B5EF4-FFF2-40B4-BE49-F238E27FC236}">
                <a16:creationId xmlns:a16="http://schemas.microsoft.com/office/drawing/2014/main" id="{2762E60F-D111-77EB-D204-93F9335CF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3230143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0BAA8596-5DC6-D0BF-621A-CF4814B2F9A5}"/>
              </a:ext>
            </a:extLst>
          </p:cNvPr>
          <p:cNvGrpSpPr/>
          <p:nvPr/>
        </p:nvGrpSpPr>
        <p:grpSpPr>
          <a:xfrm>
            <a:off x="268488" y="1336955"/>
            <a:ext cx="1066649" cy="795019"/>
            <a:chOff x="6080248" y="779867"/>
            <a:chExt cx="1909240" cy="1423038"/>
          </a:xfrm>
        </p:grpSpPr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7E7770C6-6F8B-7B0A-0961-53CEE34DD263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E2E12968-B4B1-8B29-1352-A49F0FBA0E88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69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041855EF-8E6A-1812-F5A2-6BC9569E3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EF89E99A-236C-EF47-866A-6A1DFD311256}"/>
              </a:ext>
            </a:extLst>
          </p:cNvPr>
          <p:cNvGrpSpPr/>
          <p:nvPr/>
        </p:nvGrpSpPr>
        <p:grpSpPr>
          <a:xfrm>
            <a:off x="3068310" y="1390052"/>
            <a:ext cx="1066649" cy="795019"/>
            <a:chOff x="6080248" y="779867"/>
            <a:chExt cx="1909240" cy="1423038"/>
          </a:xfrm>
        </p:grpSpPr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ADBD08B7-EEC5-5489-C79C-94F62D5371ED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CE6C1AEF-BCB5-4244-F3EC-D9483DE1C673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75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4BA98AC6-E75F-FE00-C32D-A27F15D55E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76" name="Picture 4" descr="Wild boar clipart by Matiseli on DeviantArt">
            <a:extLst>
              <a:ext uri="{FF2B5EF4-FFF2-40B4-BE49-F238E27FC236}">
                <a16:creationId xmlns:a16="http://schemas.microsoft.com/office/drawing/2014/main" id="{8E6014E0-49A1-A26C-36FC-A9F5D8C7E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4733" y="2185417"/>
            <a:ext cx="926483" cy="77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1082" descr="Page 4 | Toxic waste barrel Vectors &amp; Illustrations for Free Download |  Freepik">
            <a:extLst>
              <a:ext uri="{FF2B5EF4-FFF2-40B4-BE49-F238E27FC236}">
                <a16:creationId xmlns:a16="http://schemas.microsoft.com/office/drawing/2014/main" id="{291EC580-6E0A-F59E-2077-6C7FEF3F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02" b="93035" l="7050" r="90550">
                        <a14:foregroundMark x1="66500" y1="25967" x2="66500" y2="25967"/>
                        <a14:foregroundMark x1="62050" y1="29837" x2="49050" y2="41015"/>
                        <a14:foregroundMark x1="49050" y1="41015" x2="48850" y2="41359"/>
                        <a14:foregroundMark x1="39150" y1="39381" x2="39400" y2="22270"/>
                        <a14:foregroundMark x1="39400" y1="22270" x2="44750" y2="10576"/>
                        <a14:foregroundMark x1="44750" y1="10576" x2="51163" y2="5981"/>
                        <a14:foregroundMark x1="52880" y1="5733" x2="64350" y2="9630"/>
                        <a14:foregroundMark x1="64350" y1="9630" x2="72900" y2="9802"/>
                        <a14:foregroundMark x1="72900" y1="9802" x2="80800" y2="9802"/>
                        <a14:foregroundMark x1="80800" y1="9802" x2="86900" y2="10748"/>
                        <a14:foregroundMark x1="86900" y1="10748" x2="90600" y2="32846"/>
                        <a14:foregroundMark x1="90600" y1="32846" x2="89400" y2="46604"/>
                        <a14:foregroundMark x1="89400" y1="46604" x2="80650" y2="53052"/>
                        <a14:foregroundMark x1="80650" y1="53052" x2="52000" y2="57954"/>
                        <a14:foregroundMark x1="52000" y1="57954" x2="38600" y2="38435"/>
                        <a14:foregroundMark x1="7050" y1="77128" x2="7150" y2="77128"/>
                        <a14:foregroundMark x1="32850" y1="90886" x2="53450" y2="87188"/>
                        <a14:foregroundMark x1="53450" y1="87188" x2="47150" y2="94067"/>
                        <a14:foregroundMark x1="47150" y1="94067" x2="34800" y2="93035"/>
                        <a14:foregroundMark x1="34800" y1="93035" x2="33050" y2="92003"/>
                        <a14:backgroundMark x1="51150" y1="6019" x2="52900" y2="56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1241" y="3020793"/>
            <a:ext cx="540125" cy="31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1083" descr="Shape&#10;&#10;Description automatically generated">
            <a:extLst>
              <a:ext uri="{FF2B5EF4-FFF2-40B4-BE49-F238E27FC236}">
                <a16:creationId xmlns:a16="http://schemas.microsoft.com/office/drawing/2014/main" id="{D0126F3D-3870-B11C-C1A8-A37C9C132D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496" y="2356907"/>
            <a:ext cx="455998" cy="592191"/>
          </a:xfrm>
          <a:prstGeom prst="rect">
            <a:avLst/>
          </a:prstGeom>
        </p:spPr>
      </p:pic>
      <p:pic>
        <p:nvPicPr>
          <p:cNvPr id="1085" name="Picture 16" descr="On the Dangers of Stochastic Parrots: Can Language Models Be Too Big? 🦜 |  Green AI — Annotated Bibliography">
            <a:extLst>
              <a:ext uri="{FF2B5EF4-FFF2-40B4-BE49-F238E27FC236}">
                <a16:creationId xmlns:a16="http://schemas.microsoft.com/office/drawing/2014/main" id="{8D31921B-F3A0-78CF-7E1E-776876FD6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063" y="2617684"/>
            <a:ext cx="599861" cy="59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DA47024D-BEDF-306F-FB8D-E633606BE19F}"/>
              </a:ext>
            </a:extLst>
          </p:cNvPr>
          <p:cNvGrpSpPr/>
          <p:nvPr/>
        </p:nvGrpSpPr>
        <p:grpSpPr>
          <a:xfrm>
            <a:off x="3048314" y="2641470"/>
            <a:ext cx="1066649" cy="795019"/>
            <a:chOff x="6080248" y="779867"/>
            <a:chExt cx="1909240" cy="1423038"/>
          </a:xfrm>
        </p:grpSpPr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F32E6B6C-DA4F-2988-7962-1C09976A2219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8B56A806-58E1-EB7C-E65E-03D2A65C9DD1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52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772EC86E-411A-FF26-584E-74EFFB26AF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4" name="Picture 8">
            <a:extLst>
              <a:ext uri="{FF2B5EF4-FFF2-40B4-BE49-F238E27FC236}">
                <a16:creationId xmlns:a16="http://schemas.microsoft.com/office/drawing/2014/main" id="{55A6CF81-15B8-D6F4-65E1-CB784056C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192" y="2391036"/>
            <a:ext cx="512720" cy="51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6" name="Picture 8">
            <a:extLst>
              <a:ext uri="{FF2B5EF4-FFF2-40B4-BE49-F238E27FC236}">
                <a16:creationId xmlns:a16="http://schemas.microsoft.com/office/drawing/2014/main" id="{11C59920-A2B8-0AEA-6477-BFF4ECF54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17" y="1323385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7" name="Picture 8">
            <a:extLst>
              <a:ext uri="{FF2B5EF4-FFF2-40B4-BE49-F238E27FC236}">
                <a16:creationId xmlns:a16="http://schemas.microsoft.com/office/drawing/2014/main" id="{CC32D089-857D-078D-9C40-327CC63B7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623" y="1380023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3" name="Picture 1112" descr="Shape&#10;&#10;Description automatically generated">
            <a:extLst>
              <a:ext uri="{FF2B5EF4-FFF2-40B4-BE49-F238E27FC236}">
                <a16:creationId xmlns:a16="http://schemas.microsoft.com/office/drawing/2014/main" id="{2ABC3E5A-10FE-14AE-9744-8E37D35710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19" y="1396824"/>
            <a:ext cx="455998" cy="59219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B867B8-9A49-5084-857B-DE8928FAF6A4}"/>
              </a:ext>
            </a:extLst>
          </p:cNvPr>
          <p:cNvCxnSpPr>
            <a:cxnSpLocks/>
          </p:cNvCxnSpPr>
          <p:nvPr/>
        </p:nvCxnSpPr>
        <p:spPr>
          <a:xfrm>
            <a:off x="6091380" y="3602862"/>
            <a:ext cx="0" cy="14160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3B29BE4-98EF-E7F3-56BE-1292F0CE2B74}"/>
              </a:ext>
            </a:extLst>
          </p:cNvPr>
          <p:cNvGrpSpPr/>
          <p:nvPr/>
        </p:nvGrpSpPr>
        <p:grpSpPr>
          <a:xfrm>
            <a:off x="362969" y="3442507"/>
            <a:ext cx="5591734" cy="1602047"/>
            <a:chOff x="3481387" y="3512423"/>
            <a:chExt cx="5591734" cy="16020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1736F2-AF5C-81D0-4D15-756FEDCF69A0}"/>
                </a:ext>
              </a:extLst>
            </p:cNvPr>
            <p:cNvGrpSpPr/>
            <p:nvPr/>
          </p:nvGrpSpPr>
          <p:grpSpPr>
            <a:xfrm>
              <a:off x="3481387" y="4209823"/>
              <a:ext cx="2011550" cy="681553"/>
              <a:chOff x="1621697" y="3377943"/>
              <a:chExt cx="2346435" cy="795019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4F7EE35-DE4C-6BBC-289F-5CC827FD964F}"/>
                  </a:ext>
                </a:extLst>
              </p:cNvPr>
              <p:cNvGrpSpPr/>
              <p:nvPr/>
            </p:nvGrpSpPr>
            <p:grpSpPr>
              <a:xfrm>
                <a:off x="2901483" y="3377943"/>
                <a:ext cx="1066649" cy="795019"/>
                <a:chOff x="6080248" y="779867"/>
                <a:chExt cx="1909240" cy="1423038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7CA8F392-CDE1-5A7A-BB9C-3CEEC0349D8A}"/>
                    </a:ext>
                  </a:extLst>
                </p:cNvPr>
                <p:cNvSpPr/>
                <p:nvPr/>
              </p:nvSpPr>
              <p:spPr>
                <a:xfrm>
                  <a:off x="6718746" y="1000665"/>
                  <a:ext cx="172528" cy="1799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9AD651BC-6E5F-5EFE-7C90-8A042333CB0E}"/>
                    </a:ext>
                  </a:extLst>
                </p:cNvPr>
                <p:cNvSpPr/>
                <p:nvPr/>
              </p:nvSpPr>
              <p:spPr>
                <a:xfrm>
                  <a:off x="7205799" y="962899"/>
                  <a:ext cx="172528" cy="1799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pic>
              <p:nvPicPr>
                <p:cNvPr id="57" name="Picture 4" descr="Frog Clipart Images – Browse 8,987 Stock Photos, Vectors, and Video | Adobe  Stock">
                  <a:extLst>
                    <a:ext uri="{FF2B5EF4-FFF2-40B4-BE49-F238E27FC236}">
                      <a16:creationId xmlns:a16="http://schemas.microsoft.com/office/drawing/2014/main" id="{177240F1-9179-19CB-B578-8C9E0FE6A4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80248" y="779867"/>
                  <a:ext cx="1909240" cy="142303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2DA2E4FF-F9E4-A116-B415-819DEC1E5CDE}"/>
                  </a:ext>
                </a:extLst>
              </p:cNvPr>
              <p:cNvSpPr/>
              <p:nvPr/>
            </p:nvSpPr>
            <p:spPr>
              <a:xfrm>
                <a:off x="2633245" y="3581064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EFA93678-BA40-F744-B0D3-5A42D153A37D}"/>
                  </a:ext>
                </a:extLst>
              </p:cNvPr>
              <p:cNvGrpSpPr/>
              <p:nvPr/>
            </p:nvGrpSpPr>
            <p:grpSpPr>
              <a:xfrm>
                <a:off x="1621697" y="3481355"/>
                <a:ext cx="1011548" cy="588194"/>
                <a:chOff x="1621697" y="3460323"/>
                <a:chExt cx="1011548" cy="588194"/>
              </a:xfrm>
            </p:grpSpPr>
            <p:pic>
              <p:nvPicPr>
                <p:cNvPr id="35" name="Picture 10" descr="Page 4 | Toxic waste barrel Vectors &amp; Illustrations for Free Download |  Freepik">
                  <a:extLst>
                    <a:ext uri="{FF2B5EF4-FFF2-40B4-BE49-F238E27FC236}">
                      <a16:creationId xmlns:a16="http://schemas.microsoft.com/office/drawing/2014/main" id="{FC72F99D-D8A6-AF1B-5B41-678AAF7A75E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9802" b="93035" l="7050" r="90550">
                              <a14:foregroundMark x1="66500" y1="25967" x2="66500" y2="25967"/>
                              <a14:foregroundMark x1="62050" y1="29837" x2="49050" y2="41015"/>
                              <a14:foregroundMark x1="49050" y1="41015" x2="48850" y2="41359"/>
                              <a14:foregroundMark x1="39150" y1="39381" x2="39400" y2="22270"/>
                              <a14:foregroundMark x1="39400" y1="22270" x2="44750" y2="10576"/>
                              <a14:foregroundMark x1="44750" y1="10576" x2="51163" y2="5981"/>
                              <a14:foregroundMark x1="52880" y1="5733" x2="64350" y2="9630"/>
                              <a14:foregroundMark x1="64350" y1="9630" x2="72900" y2="9802"/>
                              <a14:foregroundMark x1="72900" y1="9802" x2="80800" y2="9802"/>
                              <a14:foregroundMark x1="80800" y1="9802" x2="86900" y2="10748"/>
                              <a14:foregroundMark x1="86900" y1="10748" x2="90600" y2="32846"/>
                              <a14:foregroundMark x1="90600" y1="32846" x2="89400" y2="46604"/>
                              <a14:foregroundMark x1="89400" y1="46604" x2="80650" y2="53052"/>
                              <a14:foregroundMark x1="80650" y1="53052" x2="52000" y2="57954"/>
                              <a14:foregroundMark x1="52000" y1="57954" x2="38600" y2="38435"/>
                              <a14:foregroundMark x1="7050" y1="77128" x2="7150" y2="77128"/>
                              <a14:foregroundMark x1="32850" y1="90886" x2="53450" y2="87188"/>
                              <a14:foregroundMark x1="53450" y1="87188" x2="47150" y2="94067"/>
                              <a14:foregroundMark x1="47150" y1="94067" x2="34800" y2="93035"/>
                              <a14:foregroundMark x1="34800" y1="93035" x2="33050" y2="92003"/>
                              <a14:backgroundMark x1="51150" y1="6019" x2="52900" y2="567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21697" y="3460323"/>
                  <a:ext cx="1011548" cy="58819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6" name="&quot;Not Allowed&quot; Symbol 35">
                  <a:extLst>
                    <a:ext uri="{FF2B5EF4-FFF2-40B4-BE49-F238E27FC236}">
                      <a16:creationId xmlns:a16="http://schemas.microsoft.com/office/drawing/2014/main" id="{880C486A-6F93-CA16-62A4-F1B1DE5857A4}"/>
                    </a:ext>
                  </a:extLst>
                </p:cNvPr>
                <p:cNvSpPr/>
                <p:nvPr/>
              </p:nvSpPr>
              <p:spPr>
                <a:xfrm>
                  <a:off x="1843129" y="3473784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73300D6-EAF7-EEF4-927C-62A1AFDFB7FA}"/>
                </a:ext>
              </a:extLst>
            </p:cNvPr>
            <p:cNvGrpSpPr/>
            <p:nvPr/>
          </p:nvGrpSpPr>
          <p:grpSpPr>
            <a:xfrm>
              <a:off x="5650035" y="3512423"/>
              <a:ext cx="1821198" cy="772666"/>
              <a:chOff x="1515396" y="3963565"/>
              <a:chExt cx="2144722" cy="909925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9BAD8667-58B6-0351-DBD5-2B4A1D0EE6EC}"/>
                  </a:ext>
                </a:extLst>
              </p:cNvPr>
              <p:cNvSpPr/>
              <p:nvPr/>
            </p:nvSpPr>
            <p:spPr>
              <a:xfrm>
                <a:off x="2633245" y="4224139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D4078898-0901-477C-B409-B3B62692EC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2662" y="4064799"/>
                <a:ext cx="707456" cy="707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D39D57E5-D2DB-342B-1ADD-6955F3CE7958}"/>
                  </a:ext>
                </a:extLst>
              </p:cNvPr>
              <p:cNvGrpSpPr/>
              <p:nvPr/>
            </p:nvGrpSpPr>
            <p:grpSpPr>
              <a:xfrm>
                <a:off x="1515396" y="3963565"/>
                <a:ext cx="1091067" cy="909925"/>
                <a:chOff x="1515396" y="3963565"/>
                <a:chExt cx="1091067" cy="909925"/>
              </a:xfrm>
            </p:grpSpPr>
            <p:pic>
              <p:nvPicPr>
                <p:cNvPr id="27" name="Picture 4" descr="Wild boar clipart by Matiseli on DeviantArt">
                  <a:extLst>
                    <a:ext uri="{FF2B5EF4-FFF2-40B4-BE49-F238E27FC236}">
                      <a16:creationId xmlns:a16="http://schemas.microsoft.com/office/drawing/2014/main" id="{3C1885A7-7B6B-880B-7A43-E78470BE62C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515396" y="3963565"/>
                  <a:ext cx="1091067" cy="9099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8" name="&quot;Not Allowed&quot; Symbol 27">
                  <a:extLst>
                    <a:ext uri="{FF2B5EF4-FFF2-40B4-BE49-F238E27FC236}">
                      <a16:creationId xmlns:a16="http://schemas.microsoft.com/office/drawing/2014/main" id="{B03D9488-3E97-3BF7-5959-33A2186CEDCF}"/>
                    </a:ext>
                  </a:extLst>
                </p:cNvPr>
                <p:cNvSpPr/>
                <p:nvPr/>
              </p:nvSpPr>
              <p:spPr>
                <a:xfrm>
                  <a:off x="1643336" y="4258568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E21EFED-1663-005B-827A-18F3D11256B8}"/>
                </a:ext>
              </a:extLst>
            </p:cNvPr>
            <p:cNvGrpSpPr/>
            <p:nvPr/>
          </p:nvGrpSpPr>
          <p:grpSpPr>
            <a:xfrm>
              <a:off x="5762141" y="4147470"/>
              <a:ext cx="3310980" cy="967000"/>
              <a:chOff x="4214599" y="3984442"/>
              <a:chExt cx="3663417" cy="1069932"/>
            </a:xfrm>
          </p:grpSpPr>
          <p:sp>
            <p:nvSpPr>
              <p:cNvPr id="10" name="Plus Sign 9">
                <a:extLst>
                  <a:ext uri="{FF2B5EF4-FFF2-40B4-BE49-F238E27FC236}">
                    <a16:creationId xmlns:a16="http://schemas.microsoft.com/office/drawing/2014/main" id="{B2438FC6-7B53-F3E0-28DE-B83DBFA61FD3}"/>
                  </a:ext>
                </a:extLst>
              </p:cNvPr>
              <p:cNvSpPr/>
              <p:nvPr/>
            </p:nvSpPr>
            <p:spPr>
              <a:xfrm>
                <a:off x="5226147" y="4239544"/>
                <a:ext cx="540199" cy="559728"/>
              </a:xfrm>
              <a:prstGeom prst="mathPl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Arrow: Right 10">
                <a:extLst>
                  <a:ext uri="{FF2B5EF4-FFF2-40B4-BE49-F238E27FC236}">
                    <a16:creationId xmlns:a16="http://schemas.microsoft.com/office/drawing/2014/main" id="{55DDD5BD-618B-3E26-7A67-10A58C77B2F5}"/>
                  </a:ext>
                </a:extLst>
              </p:cNvPr>
              <p:cNvSpPr/>
              <p:nvPr/>
            </p:nvSpPr>
            <p:spPr>
              <a:xfrm>
                <a:off x="6540538" y="4325020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12" name="Picture 10" descr="Page 4 | Toxic waste barrel Vectors &amp; Illustrations for Free Download |  Freepik">
                <a:extLst>
                  <a:ext uri="{FF2B5EF4-FFF2-40B4-BE49-F238E27FC236}">
                    <a16:creationId xmlns:a16="http://schemas.microsoft.com/office/drawing/2014/main" id="{9EF724E3-165B-03E6-18A4-CD5583B228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9802" b="93035" l="7050" r="90550">
                            <a14:foregroundMark x1="66500" y1="25967" x2="66500" y2="25967"/>
                            <a14:foregroundMark x1="62050" y1="29837" x2="49050" y2="41015"/>
                            <a14:foregroundMark x1="49050" y1="41015" x2="48850" y2="41359"/>
                            <a14:foregroundMark x1="39150" y1="39381" x2="39400" y2="22270"/>
                            <a14:foregroundMark x1="39400" y1="22270" x2="44750" y2="10576"/>
                            <a14:foregroundMark x1="44750" y1="10576" x2="51163" y2="5981"/>
                            <a14:foregroundMark x1="52880" y1="5733" x2="64350" y2="9630"/>
                            <a14:foregroundMark x1="64350" y1="9630" x2="72900" y2="9802"/>
                            <a14:foregroundMark x1="72900" y1="9802" x2="80800" y2="9802"/>
                            <a14:foregroundMark x1="80800" y1="9802" x2="86900" y2="10748"/>
                            <a14:foregroundMark x1="86900" y1="10748" x2="90600" y2="32846"/>
                            <a14:foregroundMark x1="90600" y1="32846" x2="89400" y2="46604"/>
                            <a14:foregroundMark x1="89400" y1="46604" x2="80650" y2="53052"/>
                            <a14:foregroundMark x1="80650" y1="53052" x2="52000" y2="57954"/>
                            <a14:foregroundMark x1="52000" y1="57954" x2="38600" y2="38435"/>
                            <a14:foregroundMark x1="7050" y1="77128" x2="7150" y2="77128"/>
                            <a14:foregroundMark x1="32850" y1="90886" x2="53450" y2="87188"/>
                            <a14:foregroundMark x1="53450" y1="87188" x2="47150" y2="94067"/>
                            <a14:foregroundMark x1="47150" y1="94067" x2="34800" y2="93035"/>
                            <a14:foregroundMark x1="34800" y1="93035" x2="33050" y2="92003"/>
                            <a14:backgroundMark x1="51150" y1="6019" x2="52900" y2="567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4599" y="4225311"/>
                <a:ext cx="1011548" cy="5881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&quot;Not Allowed&quot; Symbol 12">
                <a:extLst>
                  <a:ext uri="{FF2B5EF4-FFF2-40B4-BE49-F238E27FC236}">
                    <a16:creationId xmlns:a16="http://schemas.microsoft.com/office/drawing/2014/main" id="{57E0E51D-3549-1EFE-BCFF-845724919922}"/>
                  </a:ext>
                </a:extLst>
              </p:cNvPr>
              <p:cNvSpPr/>
              <p:nvPr/>
            </p:nvSpPr>
            <p:spPr>
              <a:xfrm>
                <a:off x="4404870" y="4265622"/>
                <a:ext cx="587828" cy="457127"/>
              </a:xfrm>
              <a:prstGeom prst="noSmoking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03DE5A3-3CFA-545A-A6D6-A380FA6DE3D6}"/>
                  </a:ext>
                </a:extLst>
              </p:cNvPr>
              <p:cNvGrpSpPr/>
              <p:nvPr/>
            </p:nvGrpSpPr>
            <p:grpSpPr>
              <a:xfrm>
                <a:off x="5714278" y="4064446"/>
                <a:ext cx="700658" cy="909925"/>
                <a:chOff x="5714278" y="4161713"/>
                <a:chExt cx="700658" cy="909925"/>
              </a:xfrm>
            </p:grpSpPr>
            <p:pic>
              <p:nvPicPr>
                <p:cNvPr id="16" name="Picture 15" descr="Shape&#10;&#10;Description automatically generated">
                  <a:extLst>
                    <a:ext uri="{FF2B5EF4-FFF2-40B4-BE49-F238E27FC236}">
                      <a16:creationId xmlns:a16="http://schemas.microsoft.com/office/drawing/2014/main" id="{93230025-AC68-8D2E-904F-47EBE2A9F0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14278" y="4161713"/>
                  <a:ext cx="700658" cy="909925"/>
                </a:xfrm>
                <a:prstGeom prst="rect">
                  <a:avLst/>
                </a:prstGeom>
              </p:spPr>
            </p:pic>
            <p:sp>
              <p:nvSpPr>
                <p:cNvPr id="19" name="&quot;Not Allowed&quot; Symbol 18">
                  <a:extLst>
                    <a:ext uri="{FF2B5EF4-FFF2-40B4-BE49-F238E27FC236}">
                      <a16:creationId xmlns:a16="http://schemas.microsoft.com/office/drawing/2014/main" id="{678BCE1D-00A6-536B-3969-09380E122679}"/>
                    </a:ext>
                  </a:extLst>
                </p:cNvPr>
                <p:cNvSpPr/>
                <p:nvPr/>
              </p:nvSpPr>
              <p:spPr>
                <a:xfrm>
                  <a:off x="5714332" y="4502145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15" name="Picture 16" descr="On the Dangers of Stochastic Parrots: Can Language Models Be Too Big? 🦜 |  Green AI — Annotated Bibliography">
                <a:extLst>
                  <a:ext uri="{FF2B5EF4-FFF2-40B4-BE49-F238E27FC236}">
                    <a16:creationId xmlns:a16="http://schemas.microsoft.com/office/drawing/2014/main" id="{15DE197E-29C4-8B11-A35E-54B1BF9F1C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08084" y="3984442"/>
                <a:ext cx="1069932" cy="10699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2905F8-ACFA-6CAF-2711-94616B024C72}"/>
                </a:ext>
              </a:extLst>
            </p:cNvPr>
            <p:cNvSpPr txBox="1"/>
            <p:nvPr/>
          </p:nvSpPr>
          <p:spPr>
            <a:xfrm>
              <a:off x="3498907" y="3599292"/>
              <a:ext cx="26556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</a:rPr>
                <a:t>Threat impacts </a:t>
              </a:r>
            </a:p>
          </p:txBody>
        </p:sp>
      </p:grp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962DD08F-6368-4F9D-DE2A-1FB1948CF7EF}"/>
              </a:ext>
            </a:extLst>
          </p:cNvPr>
          <p:cNvCxnSpPr>
            <a:cxnSpLocks/>
          </p:cNvCxnSpPr>
          <p:nvPr/>
        </p:nvCxnSpPr>
        <p:spPr>
          <a:xfrm>
            <a:off x="238529" y="3497536"/>
            <a:ext cx="866694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1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07832B81-C4A0-2D10-14DC-7DAF7060C8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295555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eadow cartoon clip art | Free SVG">
            <a:extLst>
              <a:ext uri="{FF2B5EF4-FFF2-40B4-BE49-F238E27FC236}">
                <a16:creationId xmlns:a16="http://schemas.microsoft.com/office/drawing/2014/main" id="{D6E3D767-24F6-C72F-9366-70FF27FEA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295555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1827D3-CF22-ECEC-C347-4E7D36A5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97589"/>
            <a:ext cx="8884280" cy="536099"/>
          </a:xfrm>
        </p:spPr>
        <p:txBody>
          <a:bodyPr/>
          <a:lstStyle/>
          <a:p>
            <a:pPr algn="ctr"/>
            <a:r>
              <a:rPr lang="en-AU" sz="3200" b="1" dirty="0">
                <a:solidFill>
                  <a:schemeClr val="bg1"/>
                </a:solidFill>
              </a:rPr>
              <a:t>Which threats to manage, and where?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73FC66DF-5162-862D-9846-89FE4A7220FE}"/>
              </a:ext>
            </a:extLst>
          </p:cNvPr>
          <p:cNvSpPr txBox="1"/>
          <p:nvPr/>
        </p:nvSpPr>
        <p:spPr>
          <a:xfrm>
            <a:off x="1032632" y="616197"/>
            <a:ext cx="12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Current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0A5CBF4C-F421-2D28-94C5-10779673138A}"/>
              </a:ext>
            </a:extLst>
          </p:cNvPr>
          <p:cNvSpPr txBox="1"/>
          <p:nvPr/>
        </p:nvSpPr>
        <p:spPr>
          <a:xfrm>
            <a:off x="3908248" y="616197"/>
            <a:ext cx="1389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Potential</a:t>
            </a:r>
          </a:p>
        </p:txBody>
      </p:sp>
      <p:pic>
        <p:nvPicPr>
          <p:cNvPr id="1056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EDBC90D7-B184-74FD-6EDE-375F05D711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3230143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2" descr="Meadow cartoon clip art | Free SVG">
            <a:extLst>
              <a:ext uri="{FF2B5EF4-FFF2-40B4-BE49-F238E27FC236}">
                <a16:creationId xmlns:a16="http://schemas.microsoft.com/office/drawing/2014/main" id="{2762E60F-D111-77EB-D204-93F9335CF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3230143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8" name="TextBox 1057">
            <a:extLst>
              <a:ext uri="{FF2B5EF4-FFF2-40B4-BE49-F238E27FC236}">
                <a16:creationId xmlns:a16="http://schemas.microsoft.com/office/drawing/2014/main" id="{2CF2B676-2FC2-BE58-7FDA-FF1B2376A644}"/>
              </a:ext>
            </a:extLst>
          </p:cNvPr>
          <p:cNvSpPr txBox="1"/>
          <p:nvPr/>
        </p:nvSpPr>
        <p:spPr>
          <a:xfrm>
            <a:off x="6781701" y="616197"/>
            <a:ext cx="1389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Priority</a:t>
            </a:r>
          </a:p>
        </p:txBody>
      </p:sp>
      <p:pic>
        <p:nvPicPr>
          <p:cNvPr id="1059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758F9CC8-EB6E-4FE4-9E21-588F0560C5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6103596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2" descr="Meadow cartoon clip art | Free SVG">
            <a:extLst>
              <a:ext uri="{FF2B5EF4-FFF2-40B4-BE49-F238E27FC236}">
                <a16:creationId xmlns:a16="http://schemas.microsoft.com/office/drawing/2014/main" id="{53B6DE8B-0936-F8BC-063E-E73066CDD7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6103596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0BAA8596-5DC6-D0BF-621A-CF4814B2F9A5}"/>
              </a:ext>
            </a:extLst>
          </p:cNvPr>
          <p:cNvGrpSpPr/>
          <p:nvPr/>
        </p:nvGrpSpPr>
        <p:grpSpPr>
          <a:xfrm>
            <a:off x="268488" y="1336955"/>
            <a:ext cx="1066649" cy="795019"/>
            <a:chOff x="6080248" y="779867"/>
            <a:chExt cx="1909240" cy="1423038"/>
          </a:xfrm>
        </p:grpSpPr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7E7770C6-6F8B-7B0A-0961-53CEE34DD263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E2E12968-B4B1-8B29-1352-A49F0FBA0E88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69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041855EF-8E6A-1812-F5A2-6BC9569E3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EF89E99A-236C-EF47-866A-6A1DFD311256}"/>
              </a:ext>
            </a:extLst>
          </p:cNvPr>
          <p:cNvGrpSpPr/>
          <p:nvPr/>
        </p:nvGrpSpPr>
        <p:grpSpPr>
          <a:xfrm>
            <a:off x="3068310" y="1390052"/>
            <a:ext cx="1066649" cy="795019"/>
            <a:chOff x="6080248" y="779867"/>
            <a:chExt cx="1909240" cy="1423038"/>
          </a:xfrm>
        </p:grpSpPr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ADBD08B7-EEC5-5489-C79C-94F62D5371ED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CE6C1AEF-BCB5-4244-F3EC-D9483DE1C673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75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4BA98AC6-E75F-FE00-C32D-A27F15D55E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76" name="Picture 4" descr="Wild boar clipart by Matiseli on DeviantArt">
            <a:extLst>
              <a:ext uri="{FF2B5EF4-FFF2-40B4-BE49-F238E27FC236}">
                <a16:creationId xmlns:a16="http://schemas.microsoft.com/office/drawing/2014/main" id="{8E6014E0-49A1-A26C-36FC-A9F5D8C7E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4733" y="2185417"/>
            <a:ext cx="926483" cy="77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1082" descr="Page 4 | Toxic waste barrel Vectors &amp; Illustrations for Free Download |  Freepik">
            <a:extLst>
              <a:ext uri="{FF2B5EF4-FFF2-40B4-BE49-F238E27FC236}">
                <a16:creationId xmlns:a16="http://schemas.microsoft.com/office/drawing/2014/main" id="{291EC580-6E0A-F59E-2077-6C7FEF3F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02" b="93035" l="7050" r="90550">
                        <a14:foregroundMark x1="66500" y1="25967" x2="66500" y2="25967"/>
                        <a14:foregroundMark x1="62050" y1="29837" x2="49050" y2="41015"/>
                        <a14:foregroundMark x1="49050" y1="41015" x2="48850" y2="41359"/>
                        <a14:foregroundMark x1="39150" y1="39381" x2="39400" y2="22270"/>
                        <a14:foregroundMark x1="39400" y1="22270" x2="44750" y2="10576"/>
                        <a14:foregroundMark x1="44750" y1="10576" x2="51163" y2="5981"/>
                        <a14:foregroundMark x1="52880" y1="5733" x2="64350" y2="9630"/>
                        <a14:foregroundMark x1="64350" y1="9630" x2="72900" y2="9802"/>
                        <a14:foregroundMark x1="72900" y1="9802" x2="80800" y2="9802"/>
                        <a14:foregroundMark x1="80800" y1="9802" x2="86900" y2="10748"/>
                        <a14:foregroundMark x1="86900" y1="10748" x2="90600" y2="32846"/>
                        <a14:foregroundMark x1="90600" y1="32846" x2="89400" y2="46604"/>
                        <a14:foregroundMark x1="89400" y1="46604" x2="80650" y2="53052"/>
                        <a14:foregroundMark x1="80650" y1="53052" x2="52000" y2="57954"/>
                        <a14:foregroundMark x1="52000" y1="57954" x2="38600" y2="38435"/>
                        <a14:foregroundMark x1="7050" y1="77128" x2="7150" y2="77128"/>
                        <a14:foregroundMark x1="32850" y1="90886" x2="53450" y2="87188"/>
                        <a14:foregroundMark x1="53450" y1="87188" x2="47150" y2="94067"/>
                        <a14:foregroundMark x1="47150" y1="94067" x2="34800" y2="93035"/>
                        <a14:foregroundMark x1="34800" y1="93035" x2="33050" y2="92003"/>
                        <a14:backgroundMark x1="51150" y1="6019" x2="52900" y2="56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1241" y="3020793"/>
            <a:ext cx="540125" cy="31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1083" descr="Shape&#10;&#10;Description automatically generated">
            <a:extLst>
              <a:ext uri="{FF2B5EF4-FFF2-40B4-BE49-F238E27FC236}">
                <a16:creationId xmlns:a16="http://schemas.microsoft.com/office/drawing/2014/main" id="{D0126F3D-3870-B11C-C1A8-A37C9C132D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496" y="2356907"/>
            <a:ext cx="455998" cy="592191"/>
          </a:xfrm>
          <a:prstGeom prst="rect">
            <a:avLst/>
          </a:prstGeom>
        </p:spPr>
      </p:pic>
      <p:pic>
        <p:nvPicPr>
          <p:cNvPr id="1085" name="Picture 16" descr="On the Dangers of Stochastic Parrots: Can Language Models Be Too Big? 🦜 |  Green AI — Annotated Bibliography">
            <a:extLst>
              <a:ext uri="{FF2B5EF4-FFF2-40B4-BE49-F238E27FC236}">
                <a16:creationId xmlns:a16="http://schemas.microsoft.com/office/drawing/2014/main" id="{8D31921B-F3A0-78CF-7E1E-776876FD6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063" y="2617684"/>
            <a:ext cx="599861" cy="59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DA47024D-BEDF-306F-FB8D-E633606BE19F}"/>
              </a:ext>
            </a:extLst>
          </p:cNvPr>
          <p:cNvGrpSpPr/>
          <p:nvPr/>
        </p:nvGrpSpPr>
        <p:grpSpPr>
          <a:xfrm>
            <a:off x="3048314" y="2641470"/>
            <a:ext cx="1066649" cy="795019"/>
            <a:chOff x="6080248" y="779867"/>
            <a:chExt cx="1909240" cy="1423038"/>
          </a:xfrm>
        </p:grpSpPr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F32E6B6C-DA4F-2988-7962-1C09976A2219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8B56A806-58E1-EB7C-E65E-03D2A65C9DD1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52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772EC86E-411A-FF26-584E-74EFFB26AF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4" name="Picture 8">
            <a:extLst>
              <a:ext uri="{FF2B5EF4-FFF2-40B4-BE49-F238E27FC236}">
                <a16:creationId xmlns:a16="http://schemas.microsoft.com/office/drawing/2014/main" id="{55A6CF81-15B8-D6F4-65E1-CB784056C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192" y="2391036"/>
            <a:ext cx="512720" cy="51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6" name="Picture 8">
            <a:extLst>
              <a:ext uri="{FF2B5EF4-FFF2-40B4-BE49-F238E27FC236}">
                <a16:creationId xmlns:a16="http://schemas.microsoft.com/office/drawing/2014/main" id="{11C59920-A2B8-0AEA-6477-BFF4ECF54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17" y="1323385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7" name="Picture 8">
            <a:extLst>
              <a:ext uri="{FF2B5EF4-FFF2-40B4-BE49-F238E27FC236}">
                <a16:creationId xmlns:a16="http://schemas.microsoft.com/office/drawing/2014/main" id="{CC32D089-857D-078D-9C40-327CC63B7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623" y="1380023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3" name="Picture 1112" descr="Shape&#10;&#10;Description automatically generated">
            <a:extLst>
              <a:ext uri="{FF2B5EF4-FFF2-40B4-BE49-F238E27FC236}">
                <a16:creationId xmlns:a16="http://schemas.microsoft.com/office/drawing/2014/main" id="{2ABC3E5A-10FE-14AE-9744-8E37D35710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19" y="1396824"/>
            <a:ext cx="455998" cy="592191"/>
          </a:xfrm>
          <a:prstGeom prst="rect">
            <a:avLst/>
          </a:prstGeom>
        </p:spPr>
      </p:pic>
      <p:pic>
        <p:nvPicPr>
          <p:cNvPr id="1115" name="Picture 1114" descr="Shape&#10;&#10;Description automatically generated">
            <a:extLst>
              <a:ext uri="{FF2B5EF4-FFF2-40B4-BE49-F238E27FC236}">
                <a16:creationId xmlns:a16="http://schemas.microsoft.com/office/drawing/2014/main" id="{5CA5F9CD-B246-5A4D-7C6B-481B206034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798" y="1442462"/>
            <a:ext cx="455998" cy="592191"/>
          </a:xfrm>
          <a:prstGeom prst="rect">
            <a:avLst/>
          </a:prstGeom>
        </p:spPr>
      </p:pic>
      <p:grpSp>
        <p:nvGrpSpPr>
          <p:cNvPr id="1116" name="Group 1115">
            <a:extLst>
              <a:ext uri="{FF2B5EF4-FFF2-40B4-BE49-F238E27FC236}">
                <a16:creationId xmlns:a16="http://schemas.microsoft.com/office/drawing/2014/main" id="{BCAC29B7-C3B4-7EF5-CD10-94AC6AC806D3}"/>
              </a:ext>
            </a:extLst>
          </p:cNvPr>
          <p:cNvGrpSpPr/>
          <p:nvPr/>
        </p:nvGrpSpPr>
        <p:grpSpPr>
          <a:xfrm>
            <a:off x="6011301" y="1399166"/>
            <a:ext cx="1066649" cy="795019"/>
            <a:chOff x="6080248" y="779867"/>
            <a:chExt cx="1909240" cy="1423038"/>
          </a:xfrm>
        </p:grpSpPr>
        <p:sp>
          <p:nvSpPr>
            <p:cNvPr id="1117" name="Oval 1116">
              <a:extLst>
                <a:ext uri="{FF2B5EF4-FFF2-40B4-BE49-F238E27FC236}">
                  <a16:creationId xmlns:a16="http://schemas.microsoft.com/office/drawing/2014/main" id="{874928C7-5A1C-0D1A-4CA2-7CB99C708683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18" name="Oval 1117">
              <a:extLst>
                <a:ext uri="{FF2B5EF4-FFF2-40B4-BE49-F238E27FC236}">
                  <a16:creationId xmlns:a16="http://schemas.microsoft.com/office/drawing/2014/main" id="{462A778E-38CB-E567-64AD-8D28FD4C8A49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119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D9AA5386-E5AC-3CA7-9317-A902C9F560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20" name="Picture 8">
            <a:extLst>
              <a:ext uri="{FF2B5EF4-FFF2-40B4-BE49-F238E27FC236}">
                <a16:creationId xmlns:a16="http://schemas.microsoft.com/office/drawing/2014/main" id="{F77820D7-F9AF-4220-9578-B270CDF04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614" y="1389137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1" name="Picture 4" descr="Wild boar clipart by Matiseli on DeviantArt">
            <a:extLst>
              <a:ext uri="{FF2B5EF4-FFF2-40B4-BE49-F238E27FC236}">
                <a16:creationId xmlns:a16="http://schemas.microsoft.com/office/drawing/2014/main" id="{CE89055C-094F-4F90-6EF6-5F822A8BC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75009" y="2185417"/>
            <a:ext cx="926483" cy="77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2" name="Picture 1121" descr="Page 4 | Toxic waste barrel Vectors &amp; Illustrations for Free Download |  Freepik">
            <a:extLst>
              <a:ext uri="{FF2B5EF4-FFF2-40B4-BE49-F238E27FC236}">
                <a16:creationId xmlns:a16="http://schemas.microsoft.com/office/drawing/2014/main" id="{096D5C14-4210-63C7-63C9-E39FBFE3C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02" b="93035" l="7050" r="90550">
                        <a14:foregroundMark x1="66500" y1="25967" x2="66500" y2="25967"/>
                        <a14:foregroundMark x1="62050" y1="29837" x2="49050" y2="41015"/>
                        <a14:foregroundMark x1="49050" y1="41015" x2="48850" y2="41359"/>
                        <a14:foregroundMark x1="39150" y1="39381" x2="39400" y2="22270"/>
                        <a14:foregroundMark x1="39400" y1="22270" x2="44750" y2="10576"/>
                        <a14:foregroundMark x1="44750" y1="10576" x2="51163" y2="5981"/>
                        <a14:foregroundMark x1="52880" y1="5733" x2="64350" y2="9630"/>
                        <a14:foregroundMark x1="64350" y1="9630" x2="72900" y2="9802"/>
                        <a14:foregroundMark x1="72900" y1="9802" x2="80800" y2="9802"/>
                        <a14:foregroundMark x1="80800" y1="9802" x2="86900" y2="10748"/>
                        <a14:foregroundMark x1="86900" y1="10748" x2="90600" y2="32846"/>
                        <a14:foregroundMark x1="90600" y1="32846" x2="89400" y2="46604"/>
                        <a14:foregroundMark x1="89400" y1="46604" x2="80650" y2="53052"/>
                        <a14:foregroundMark x1="80650" y1="53052" x2="52000" y2="57954"/>
                        <a14:foregroundMark x1="52000" y1="57954" x2="38600" y2="38435"/>
                        <a14:foregroundMark x1="7050" y1="77128" x2="7150" y2="77128"/>
                        <a14:foregroundMark x1="32850" y1="90886" x2="53450" y2="87188"/>
                        <a14:foregroundMark x1="53450" y1="87188" x2="47150" y2="94067"/>
                        <a14:foregroundMark x1="47150" y1="94067" x2="34800" y2="93035"/>
                        <a14:foregroundMark x1="34800" y1="93035" x2="33050" y2="92003"/>
                        <a14:backgroundMark x1="51150" y1="6019" x2="52900" y2="56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51517" y="3020793"/>
            <a:ext cx="540125" cy="31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3" name="Picture 1122" descr="Shape&#10;&#10;Description automatically generated">
            <a:extLst>
              <a:ext uri="{FF2B5EF4-FFF2-40B4-BE49-F238E27FC236}">
                <a16:creationId xmlns:a16="http://schemas.microsoft.com/office/drawing/2014/main" id="{F0615D43-39C1-3A53-8786-F1C98A0201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772" y="2356907"/>
            <a:ext cx="455998" cy="592191"/>
          </a:xfrm>
          <a:prstGeom prst="rect">
            <a:avLst/>
          </a:prstGeom>
        </p:spPr>
      </p:pic>
      <p:sp>
        <p:nvSpPr>
          <p:cNvPr id="1124" name="TextBox 1123">
            <a:extLst>
              <a:ext uri="{FF2B5EF4-FFF2-40B4-BE49-F238E27FC236}">
                <a16:creationId xmlns:a16="http://schemas.microsoft.com/office/drawing/2014/main" id="{E681518D-09A0-2363-4666-B06AE11C948E}"/>
              </a:ext>
            </a:extLst>
          </p:cNvPr>
          <p:cNvSpPr txBox="1"/>
          <p:nvPr/>
        </p:nvSpPr>
        <p:spPr>
          <a:xfrm>
            <a:off x="7281267" y="1491952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200" b="1" dirty="0">
                <a:solidFill>
                  <a:srgbClr val="FFFF00"/>
                </a:solidFill>
              </a:rPr>
              <a:t>?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457EE17C-1B44-7076-3B02-A0EA924625CC}"/>
              </a:ext>
            </a:extLst>
          </p:cNvPr>
          <p:cNvSpPr txBox="1"/>
          <p:nvPr/>
        </p:nvSpPr>
        <p:spPr>
          <a:xfrm>
            <a:off x="7701772" y="2414747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200" b="1" dirty="0">
                <a:solidFill>
                  <a:srgbClr val="FFFF00"/>
                </a:solidFill>
              </a:rPr>
              <a:t>?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5B8E0DC6-67E5-3D20-7E0A-06DAAD8D1068}"/>
              </a:ext>
            </a:extLst>
          </p:cNvPr>
          <p:cNvSpPr txBox="1"/>
          <p:nvPr/>
        </p:nvSpPr>
        <p:spPr>
          <a:xfrm>
            <a:off x="6915024" y="2850012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200" b="1" dirty="0">
                <a:solidFill>
                  <a:srgbClr val="FFFF00"/>
                </a:solidFill>
              </a:rPr>
              <a:t>?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D3BEF464-084C-7076-F21F-B96684649772}"/>
              </a:ext>
            </a:extLst>
          </p:cNvPr>
          <p:cNvSpPr txBox="1"/>
          <p:nvPr/>
        </p:nvSpPr>
        <p:spPr>
          <a:xfrm>
            <a:off x="6776959" y="2290041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200" b="1" dirty="0">
                <a:solidFill>
                  <a:srgbClr val="FFFF00"/>
                </a:solidFill>
              </a:rPr>
              <a:t>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B867B8-9A49-5084-857B-DE8928FAF6A4}"/>
              </a:ext>
            </a:extLst>
          </p:cNvPr>
          <p:cNvCxnSpPr>
            <a:cxnSpLocks/>
          </p:cNvCxnSpPr>
          <p:nvPr/>
        </p:nvCxnSpPr>
        <p:spPr>
          <a:xfrm>
            <a:off x="6091380" y="3602862"/>
            <a:ext cx="0" cy="14160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3B29BE4-98EF-E7F3-56BE-1292F0CE2B74}"/>
              </a:ext>
            </a:extLst>
          </p:cNvPr>
          <p:cNvGrpSpPr/>
          <p:nvPr/>
        </p:nvGrpSpPr>
        <p:grpSpPr>
          <a:xfrm>
            <a:off x="362969" y="3442507"/>
            <a:ext cx="5591734" cy="1602047"/>
            <a:chOff x="3481387" y="3512423"/>
            <a:chExt cx="5591734" cy="16020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1736F2-AF5C-81D0-4D15-756FEDCF69A0}"/>
                </a:ext>
              </a:extLst>
            </p:cNvPr>
            <p:cNvGrpSpPr/>
            <p:nvPr/>
          </p:nvGrpSpPr>
          <p:grpSpPr>
            <a:xfrm>
              <a:off x="3481387" y="4209823"/>
              <a:ext cx="2011550" cy="681553"/>
              <a:chOff x="1621697" y="3377943"/>
              <a:chExt cx="2346435" cy="795019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4F7EE35-DE4C-6BBC-289F-5CC827FD964F}"/>
                  </a:ext>
                </a:extLst>
              </p:cNvPr>
              <p:cNvGrpSpPr/>
              <p:nvPr/>
            </p:nvGrpSpPr>
            <p:grpSpPr>
              <a:xfrm>
                <a:off x="2901483" y="3377943"/>
                <a:ext cx="1066649" cy="795019"/>
                <a:chOff x="6080248" y="779867"/>
                <a:chExt cx="1909240" cy="1423038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7CA8F392-CDE1-5A7A-BB9C-3CEEC0349D8A}"/>
                    </a:ext>
                  </a:extLst>
                </p:cNvPr>
                <p:cNvSpPr/>
                <p:nvPr/>
              </p:nvSpPr>
              <p:spPr>
                <a:xfrm>
                  <a:off x="6718746" y="1000665"/>
                  <a:ext cx="172528" cy="1799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9AD651BC-6E5F-5EFE-7C90-8A042333CB0E}"/>
                    </a:ext>
                  </a:extLst>
                </p:cNvPr>
                <p:cNvSpPr/>
                <p:nvPr/>
              </p:nvSpPr>
              <p:spPr>
                <a:xfrm>
                  <a:off x="7205799" y="962899"/>
                  <a:ext cx="172528" cy="1799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pic>
              <p:nvPicPr>
                <p:cNvPr id="57" name="Picture 4" descr="Frog Clipart Images – Browse 8,987 Stock Photos, Vectors, and Video | Adobe  Stock">
                  <a:extLst>
                    <a:ext uri="{FF2B5EF4-FFF2-40B4-BE49-F238E27FC236}">
                      <a16:creationId xmlns:a16="http://schemas.microsoft.com/office/drawing/2014/main" id="{177240F1-9179-19CB-B578-8C9E0FE6A4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80248" y="779867"/>
                  <a:ext cx="1909240" cy="142303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2DA2E4FF-F9E4-A116-B415-819DEC1E5CDE}"/>
                  </a:ext>
                </a:extLst>
              </p:cNvPr>
              <p:cNvSpPr/>
              <p:nvPr/>
            </p:nvSpPr>
            <p:spPr>
              <a:xfrm>
                <a:off x="2633245" y="3581064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EFA93678-BA40-F744-B0D3-5A42D153A37D}"/>
                  </a:ext>
                </a:extLst>
              </p:cNvPr>
              <p:cNvGrpSpPr/>
              <p:nvPr/>
            </p:nvGrpSpPr>
            <p:grpSpPr>
              <a:xfrm>
                <a:off x="1621697" y="3481355"/>
                <a:ext cx="1011548" cy="588194"/>
                <a:chOff x="1621697" y="3460323"/>
                <a:chExt cx="1011548" cy="588194"/>
              </a:xfrm>
            </p:grpSpPr>
            <p:pic>
              <p:nvPicPr>
                <p:cNvPr id="35" name="Picture 10" descr="Page 4 | Toxic waste barrel Vectors &amp; Illustrations for Free Download |  Freepik">
                  <a:extLst>
                    <a:ext uri="{FF2B5EF4-FFF2-40B4-BE49-F238E27FC236}">
                      <a16:creationId xmlns:a16="http://schemas.microsoft.com/office/drawing/2014/main" id="{FC72F99D-D8A6-AF1B-5B41-678AAF7A75E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9802" b="93035" l="7050" r="90550">
                              <a14:foregroundMark x1="66500" y1="25967" x2="66500" y2="25967"/>
                              <a14:foregroundMark x1="62050" y1="29837" x2="49050" y2="41015"/>
                              <a14:foregroundMark x1="49050" y1="41015" x2="48850" y2="41359"/>
                              <a14:foregroundMark x1="39150" y1="39381" x2="39400" y2="22270"/>
                              <a14:foregroundMark x1="39400" y1="22270" x2="44750" y2="10576"/>
                              <a14:foregroundMark x1="44750" y1="10576" x2="51163" y2="5981"/>
                              <a14:foregroundMark x1="52880" y1="5733" x2="64350" y2="9630"/>
                              <a14:foregroundMark x1="64350" y1="9630" x2="72900" y2="9802"/>
                              <a14:foregroundMark x1="72900" y1="9802" x2="80800" y2="9802"/>
                              <a14:foregroundMark x1="80800" y1="9802" x2="86900" y2="10748"/>
                              <a14:foregroundMark x1="86900" y1="10748" x2="90600" y2="32846"/>
                              <a14:foregroundMark x1="90600" y1="32846" x2="89400" y2="46604"/>
                              <a14:foregroundMark x1="89400" y1="46604" x2="80650" y2="53052"/>
                              <a14:foregroundMark x1="80650" y1="53052" x2="52000" y2="57954"/>
                              <a14:foregroundMark x1="52000" y1="57954" x2="38600" y2="38435"/>
                              <a14:foregroundMark x1="7050" y1="77128" x2="7150" y2="77128"/>
                              <a14:foregroundMark x1="32850" y1="90886" x2="53450" y2="87188"/>
                              <a14:foregroundMark x1="53450" y1="87188" x2="47150" y2="94067"/>
                              <a14:foregroundMark x1="47150" y1="94067" x2="34800" y2="93035"/>
                              <a14:foregroundMark x1="34800" y1="93035" x2="33050" y2="92003"/>
                              <a14:backgroundMark x1="51150" y1="6019" x2="52900" y2="567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21697" y="3460323"/>
                  <a:ext cx="1011548" cy="58819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6" name="&quot;Not Allowed&quot; Symbol 35">
                  <a:extLst>
                    <a:ext uri="{FF2B5EF4-FFF2-40B4-BE49-F238E27FC236}">
                      <a16:creationId xmlns:a16="http://schemas.microsoft.com/office/drawing/2014/main" id="{880C486A-6F93-CA16-62A4-F1B1DE5857A4}"/>
                    </a:ext>
                  </a:extLst>
                </p:cNvPr>
                <p:cNvSpPr/>
                <p:nvPr/>
              </p:nvSpPr>
              <p:spPr>
                <a:xfrm>
                  <a:off x="1843129" y="3473784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73300D6-EAF7-EEF4-927C-62A1AFDFB7FA}"/>
                </a:ext>
              </a:extLst>
            </p:cNvPr>
            <p:cNvGrpSpPr/>
            <p:nvPr/>
          </p:nvGrpSpPr>
          <p:grpSpPr>
            <a:xfrm>
              <a:off x="5650035" y="3512423"/>
              <a:ext cx="1821198" cy="772666"/>
              <a:chOff x="1515396" y="3963565"/>
              <a:chExt cx="2144722" cy="909925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9BAD8667-58B6-0351-DBD5-2B4A1D0EE6EC}"/>
                  </a:ext>
                </a:extLst>
              </p:cNvPr>
              <p:cNvSpPr/>
              <p:nvPr/>
            </p:nvSpPr>
            <p:spPr>
              <a:xfrm>
                <a:off x="2633245" y="4224139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D4078898-0901-477C-B409-B3B62692EC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2662" y="4064799"/>
                <a:ext cx="707456" cy="707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D39D57E5-D2DB-342B-1ADD-6955F3CE7958}"/>
                  </a:ext>
                </a:extLst>
              </p:cNvPr>
              <p:cNvGrpSpPr/>
              <p:nvPr/>
            </p:nvGrpSpPr>
            <p:grpSpPr>
              <a:xfrm>
                <a:off x="1515396" y="3963565"/>
                <a:ext cx="1091067" cy="909925"/>
                <a:chOff x="1515396" y="3963565"/>
                <a:chExt cx="1091067" cy="909925"/>
              </a:xfrm>
            </p:grpSpPr>
            <p:pic>
              <p:nvPicPr>
                <p:cNvPr id="27" name="Picture 4" descr="Wild boar clipart by Matiseli on DeviantArt">
                  <a:extLst>
                    <a:ext uri="{FF2B5EF4-FFF2-40B4-BE49-F238E27FC236}">
                      <a16:creationId xmlns:a16="http://schemas.microsoft.com/office/drawing/2014/main" id="{3C1885A7-7B6B-880B-7A43-E78470BE62C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515396" y="3963565"/>
                  <a:ext cx="1091067" cy="9099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8" name="&quot;Not Allowed&quot; Symbol 27">
                  <a:extLst>
                    <a:ext uri="{FF2B5EF4-FFF2-40B4-BE49-F238E27FC236}">
                      <a16:creationId xmlns:a16="http://schemas.microsoft.com/office/drawing/2014/main" id="{B03D9488-3E97-3BF7-5959-33A2186CEDCF}"/>
                    </a:ext>
                  </a:extLst>
                </p:cNvPr>
                <p:cNvSpPr/>
                <p:nvPr/>
              </p:nvSpPr>
              <p:spPr>
                <a:xfrm>
                  <a:off x="1643336" y="4258568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E21EFED-1663-005B-827A-18F3D11256B8}"/>
                </a:ext>
              </a:extLst>
            </p:cNvPr>
            <p:cNvGrpSpPr/>
            <p:nvPr/>
          </p:nvGrpSpPr>
          <p:grpSpPr>
            <a:xfrm>
              <a:off x="5762141" y="4147470"/>
              <a:ext cx="3310980" cy="967000"/>
              <a:chOff x="4214599" y="3984442"/>
              <a:chExt cx="3663417" cy="1069932"/>
            </a:xfrm>
          </p:grpSpPr>
          <p:sp>
            <p:nvSpPr>
              <p:cNvPr id="10" name="Plus Sign 9">
                <a:extLst>
                  <a:ext uri="{FF2B5EF4-FFF2-40B4-BE49-F238E27FC236}">
                    <a16:creationId xmlns:a16="http://schemas.microsoft.com/office/drawing/2014/main" id="{B2438FC6-7B53-F3E0-28DE-B83DBFA61FD3}"/>
                  </a:ext>
                </a:extLst>
              </p:cNvPr>
              <p:cNvSpPr/>
              <p:nvPr/>
            </p:nvSpPr>
            <p:spPr>
              <a:xfrm>
                <a:off x="5226147" y="4239544"/>
                <a:ext cx="540199" cy="559728"/>
              </a:xfrm>
              <a:prstGeom prst="mathPl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Arrow: Right 10">
                <a:extLst>
                  <a:ext uri="{FF2B5EF4-FFF2-40B4-BE49-F238E27FC236}">
                    <a16:creationId xmlns:a16="http://schemas.microsoft.com/office/drawing/2014/main" id="{55DDD5BD-618B-3E26-7A67-10A58C77B2F5}"/>
                  </a:ext>
                </a:extLst>
              </p:cNvPr>
              <p:cNvSpPr/>
              <p:nvPr/>
            </p:nvSpPr>
            <p:spPr>
              <a:xfrm>
                <a:off x="6540538" y="4325020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12" name="Picture 10" descr="Page 4 | Toxic waste barrel Vectors &amp; Illustrations for Free Download |  Freepik">
                <a:extLst>
                  <a:ext uri="{FF2B5EF4-FFF2-40B4-BE49-F238E27FC236}">
                    <a16:creationId xmlns:a16="http://schemas.microsoft.com/office/drawing/2014/main" id="{9EF724E3-165B-03E6-18A4-CD5583B228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9802" b="93035" l="7050" r="90550">
                            <a14:foregroundMark x1="66500" y1="25967" x2="66500" y2="25967"/>
                            <a14:foregroundMark x1="62050" y1="29837" x2="49050" y2="41015"/>
                            <a14:foregroundMark x1="49050" y1="41015" x2="48850" y2="41359"/>
                            <a14:foregroundMark x1="39150" y1="39381" x2="39400" y2="22270"/>
                            <a14:foregroundMark x1="39400" y1="22270" x2="44750" y2="10576"/>
                            <a14:foregroundMark x1="44750" y1="10576" x2="51163" y2="5981"/>
                            <a14:foregroundMark x1="52880" y1="5733" x2="64350" y2="9630"/>
                            <a14:foregroundMark x1="64350" y1="9630" x2="72900" y2="9802"/>
                            <a14:foregroundMark x1="72900" y1="9802" x2="80800" y2="9802"/>
                            <a14:foregroundMark x1="80800" y1="9802" x2="86900" y2="10748"/>
                            <a14:foregroundMark x1="86900" y1="10748" x2="90600" y2="32846"/>
                            <a14:foregroundMark x1="90600" y1="32846" x2="89400" y2="46604"/>
                            <a14:foregroundMark x1="89400" y1="46604" x2="80650" y2="53052"/>
                            <a14:foregroundMark x1="80650" y1="53052" x2="52000" y2="57954"/>
                            <a14:foregroundMark x1="52000" y1="57954" x2="38600" y2="38435"/>
                            <a14:foregroundMark x1="7050" y1="77128" x2="7150" y2="77128"/>
                            <a14:foregroundMark x1="32850" y1="90886" x2="53450" y2="87188"/>
                            <a14:foregroundMark x1="53450" y1="87188" x2="47150" y2="94067"/>
                            <a14:foregroundMark x1="47150" y1="94067" x2="34800" y2="93035"/>
                            <a14:foregroundMark x1="34800" y1="93035" x2="33050" y2="92003"/>
                            <a14:backgroundMark x1="51150" y1="6019" x2="52900" y2="567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4599" y="4225311"/>
                <a:ext cx="1011548" cy="5881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&quot;Not Allowed&quot; Symbol 12">
                <a:extLst>
                  <a:ext uri="{FF2B5EF4-FFF2-40B4-BE49-F238E27FC236}">
                    <a16:creationId xmlns:a16="http://schemas.microsoft.com/office/drawing/2014/main" id="{57E0E51D-3549-1EFE-BCFF-845724919922}"/>
                  </a:ext>
                </a:extLst>
              </p:cNvPr>
              <p:cNvSpPr/>
              <p:nvPr/>
            </p:nvSpPr>
            <p:spPr>
              <a:xfrm>
                <a:off x="4404870" y="4265622"/>
                <a:ext cx="587828" cy="457127"/>
              </a:xfrm>
              <a:prstGeom prst="noSmoking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03DE5A3-3CFA-545A-A6D6-A380FA6DE3D6}"/>
                  </a:ext>
                </a:extLst>
              </p:cNvPr>
              <p:cNvGrpSpPr/>
              <p:nvPr/>
            </p:nvGrpSpPr>
            <p:grpSpPr>
              <a:xfrm>
                <a:off x="5714278" y="4064446"/>
                <a:ext cx="700658" cy="909925"/>
                <a:chOff x="5714278" y="4161713"/>
                <a:chExt cx="700658" cy="909925"/>
              </a:xfrm>
            </p:grpSpPr>
            <p:pic>
              <p:nvPicPr>
                <p:cNvPr id="16" name="Picture 15" descr="Shape&#10;&#10;Description automatically generated">
                  <a:extLst>
                    <a:ext uri="{FF2B5EF4-FFF2-40B4-BE49-F238E27FC236}">
                      <a16:creationId xmlns:a16="http://schemas.microsoft.com/office/drawing/2014/main" id="{93230025-AC68-8D2E-904F-47EBE2A9F0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14278" y="4161713"/>
                  <a:ext cx="700658" cy="909925"/>
                </a:xfrm>
                <a:prstGeom prst="rect">
                  <a:avLst/>
                </a:prstGeom>
              </p:spPr>
            </p:pic>
            <p:sp>
              <p:nvSpPr>
                <p:cNvPr id="19" name="&quot;Not Allowed&quot; Symbol 18">
                  <a:extLst>
                    <a:ext uri="{FF2B5EF4-FFF2-40B4-BE49-F238E27FC236}">
                      <a16:creationId xmlns:a16="http://schemas.microsoft.com/office/drawing/2014/main" id="{678BCE1D-00A6-536B-3969-09380E122679}"/>
                    </a:ext>
                  </a:extLst>
                </p:cNvPr>
                <p:cNvSpPr/>
                <p:nvPr/>
              </p:nvSpPr>
              <p:spPr>
                <a:xfrm>
                  <a:off x="5714332" y="4502145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15" name="Picture 16" descr="On the Dangers of Stochastic Parrots: Can Language Models Be Too Big? 🦜 |  Green AI — Annotated Bibliography">
                <a:extLst>
                  <a:ext uri="{FF2B5EF4-FFF2-40B4-BE49-F238E27FC236}">
                    <a16:creationId xmlns:a16="http://schemas.microsoft.com/office/drawing/2014/main" id="{15DE197E-29C4-8B11-A35E-54B1BF9F1C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08084" y="3984442"/>
                <a:ext cx="1069932" cy="10699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2905F8-ACFA-6CAF-2711-94616B024C72}"/>
                </a:ext>
              </a:extLst>
            </p:cNvPr>
            <p:cNvSpPr txBox="1"/>
            <p:nvPr/>
          </p:nvSpPr>
          <p:spPr>
            <a:xfrm>
              <a:off x="3498907" y="3599292"/>
              <a:ext cx="26556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</a:rPr>
                <a:t>Threat impacts 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1E58412-EF86-A68A-A5A4-1FE4B0956583}"/>
              </a:ext>
            </a:extLst>
          </p:cNvPr>
          <p:cNvGrpSpPr/>
          <p:nvPr/>
        </p:nvGrpSpPr>
        <p:grpSpPr>
          <a:xfrm>
            <a:off x="6097622" y="3524818"/>
            <a:ext cx="2902252" cy="1565171"/>
            <a:chOff x="201847" y="3532947"/>
            <a:chExt cx="2902252" cy="156517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9218CD2-7D08-89D6-8681-78C313058AC5}"/>
                </a:ext>
              </a:extLst>
            </p:cNvPr>
            <p:cNvSpPr txBox="1"/>
            <p:nvPr/>
          </p:nvSpPr>
          <p:spPr>
            <a:xfrm>
              <a:off x="285708" y="3563837"/>
              <a:ext cx="13193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</a:rPr>
                <a:t>Targets</a:t>
              </a:r>
            </a:p>
          </p:txBody>
        </p:sp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0BC692FE-56D9-F634-3D63-18E29B545C7F}"/>
                </a:ext>
              </a:extLst>
            </p:cNvPr>
            <p:cNvGrpSpPr/>
            <p:nvPr/>
          </p:nvGrpSpPr>
          <p:grpSpPr>
            <a:xfrm>
              <a:off x="201847" y="4147469"/>
              <a:ext cx="863152" cy="698599"/>
              <a:chOff x="2625706" y="3254574"/>
              <a:chExt cx="1066649" cy="795019"/>
            </a:xfrm>
          </p:grpSpPr>
          <p:sp>
            <p:nvSpPr>
              <p:cNvPr id="1037" name="Oval 1036">
                <a:extLst>
                  <a:ext uri="{FF2B5EF4-FFF2-40B4-BE49-F238E27FC236}">
                    <a16:creationId xmlns:a16="http://schemas.microsoft.com/office/drawing/2014/main" id="{89E22A06-F309-2A2E-E36A-C64A66F829FA}"/>
                  </a:ext>
                </a:extLst>
              </p:cNvPr>
              <p:cNvSpPr/>
              <p:nvPr/>
            </p:nvSpPr>
            <p:spPr>
              <a:xfrm>
                <a:off x="2982418" y="3377929"/>
                <a:ext cx="96387" cy="10051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38" name="Oval 1037">
                <a:extLst>
                  <a:ext uri="{FF2B5EF4-FFF2-40B4-BE49-F238E27FC236}">
                    <a16:creationId xmlns:a16="http://schemas.microsoft.com/office/drawing/2014/main" id="{F9AA75A0-C662-CDAE-6487-EF76731F938C}"/>
                  </a:ext>
                </a:extLst>
              </p:cNvPr>
              <p:cNvSpPr/>
              <p:nvPr/>
            </p:nvSpPr>
            <p:spPr>
              <a:xfrm>
                <a:off x="3254524" y="3356830"/>
                <a:ext cx="96387" cy="10051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1039" name="Picture 4" descr="Frog Clipart Images – Browse 8,987 Stock Photos, Vectors, and Video | Adobe  Stock">
                <a:extLst>
                  <a:ext uri="{FF2B5EF4-FFF2-40B4-BE49-F238E27FC236}">
                    <a16:creationId xmlns:a16="http://schemas.microsoft.com/office/drawing/2014/main" id="{64965589-6D9C-A0C7-BA1F-5EBAF08270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25706" y="3254574"/>
                <a:ext cx="1066649" cy="7950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3F7E90E3-95F3-3B36-BA53-0A1830B45B99}"/>
                </a:ext>
              </a:extLst>
            </p:cNvPr>
            <p:cNvGrpSpPr/>
            <p:nvPr/>
          </p:nvGrpSpPr>
          <p:grpSpPr>
            <a:xfrm>
              <a:off x="1527602" y="3532947"/>
              <a:ext cx="1339789" cy="676876"/>
              <a:chOff x="253271" y="2965694"/>
              <a:chExt cx="1400318" cy="707456"/>
            </a:xfrm>
          </p:grpSpPr>
          <p:pic>
            <p:nvPicPr>
              <p:cNvPr id="1035" name="Picture 8">
                <a:extLst>
                  <a:ext uri="{FF2B5EF4-FFF2-40B4-BE49-F238E27FC236}">
                    <a16:creationId xmlns:a16="http://schemas.microsoft.com/office/drawing/2014/main" id="{A3D112AB-30F2-67DD-E9C2-FBD854E34F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3271" y="2965694"/>
                <a:ext cx="707456" cy="707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6" name="TextBox 1035">
                <a:extLst>
                  <a:ext uri="{FF2B5EF4-FFF2-40B4-BE49-F238E27FC236}">
                    <a16:creationId xmlns:a16="http://schemas.microsoft.com/office/drawing/2014/main" id="{2CD66C36-7638-147C-AB3B-6E72DE1B9733}"/>
                  </a:ext>
                </a:extLst>
              </p:cNvPr>
              <p:cNvSpPr txBox="1"/>
              <p:nvPr/>
            </p:nvSpPr>
            <p:spPr>
              <a:xfrm>
                <a:off x="846056" y="3020561"/>
                <a:ext cx="807533" cy="611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sz="3200" dirty="0">
                    <a:solidFill>
                      <a:schemeClr val="bg1"/>
                    </a:solidFill>
                  </a:rPr>
                  <a:t>= 1</a:t>
                </a:r>
              </a:p>
            </p:txBody>
          </p:sp>
        </p:grpSp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2DE5BA3E-A5F7-51B5-9A1C-94FF7D2A9701}"/>
                </a:ext>
              </a:extLst>
            </p:cNvPr>
            <p:cNvGrpSpPr/>
            <p:nvPr/>
          </p:nvGrpSpPr>
          <p:grpSpPr>
            <a:xfrm>
              <a:off x="1613890" y="4265094"/>
              <a:ext cx="1490209" cy="833024"/>
              <a:chOff x="263172" y="4028031"/>
              <a:chExt cx="1557533" cy="870658"/>
            </a:xfrm>
          </p:grpSpPr>
          <p:pic>
            <p:nvPicPr>
              <p:cNvPr id="1032" name="Picture 16" descr="On the Dangers of Stochastic Parrots: Can Language Models Be Too Big? 🦜 |  Green AI — Annotated Bibliography">
                <a:extLst>
                  <a:ext uri="{FF2B5EF4-FFF2-40B4-BE49-F238E27FC236}">
                    <a16:creationId xmlns:a16="http://schemas.microsoft.com/office/drawing/2014/main" id="{111FBBF9-1F93-6C26-336B-EA60BAE2DA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172" y="4028031"/>
                <a:ext cx="870658" cy="8706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34EBB8ED-443B-7B4A-1F55-CEAC655C3A00}"/>
                  </a:ext>
                </a:extLst>
              </p:cNvPr>
              <p:cNvSpPr txBox="1"/>
              <p:nvPr/>
            </p:nvSpPr>
            <p:spPr>
              <a:xfrm>
                <a:off x="1013172" y="4170972"/>
                <a:ext cx="8075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sz="3200" b="1" dirty="0">
                    <a:solidFill>
                      <a:schemeClr val="bg1"/>
                    </a:solidFill>
                  </a:rPr>
                  <a:t>= 1</a:t>
                </a:r>
              </a:p>
            </p:txBody>
          </p:sp>
        </p:grpSp>
      </p:grp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962DD08F-6368-4F9D-DE2A-1FB1948CF7EF}"/>
              </a:ext>
            </a:extLst>
          </p:cNvPr>
          <p:cNvCxnSpPr>
            <a:cxnSpLocks/>
          </p:cNvCxnSpPr>
          <p:nvPr/>
        </p:nvCxnSpPr>
        <p:spPr>
          <a:xfrm>
            <a:off x="238529" y="3497536"/>
            <a:ext cx="866694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2ABD1646-96B5-EBE7-CE9B-1ACE1BDCFEA7}"/>
              </a:ext>
            </a:extLst>
          </p:cNvPr>
          <p:cNvSpPr txBox="1"/>
          <p:nvPr/>
        </p:nvSpPr>
        <p:spPr>
          <a:xfrm>
            <a:off x="6754549" y="4133810"/>
            <a:ext cx="77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3200" dirty="0">
                <a:solidFill>
                  <a:schemeClr val="bg1"/>
                </a:solidFill>
              </a:rPr>
              <a:t>= 2</a:t>
            </a:r>
          </a:p>
        </p:txBody>
      </p:sp>
    </p:spTree>
    <p:extLst>
      <p:ext uri="{BB962C8B-B14F-4D97-AF65-F5344CB8AC3E}">
        <p14:creationId xmlns:p14="http://schemas.microsoft.com/office/powerpoint/2010/main" val="82173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07832B81-C4A0-2D10-14DC-7DAF7060C8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295555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eadow cartoon clip art | Free SVG">
            <a:extLst>
              <a:ext uri="{FF2B5EF4-FFF2-40B4-BE49-F238E27FC236}">
                <a16:creationId xmlns:a16="http://schemas.microsoft.com/office/drawing/2014/main" id="{D6E3D767-24F6-C72F-9366-70FF27FEA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295555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1827D3-CF22-ECEC-C347-4E7D36A5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2" y="29030"/>
            <a:ext cx="8884280" cy="536099"/>
          </a:xfrm>
        </p:spPr>
        <p:txBody>
          <a:bodyPr/>
          <a:lstStyle/>
          <a:p>
            <a:pPr algn="ctr"/>
            <a:r>
              <a:rPr lang="en-AU" sz="2400" b="1" dirty="0">
                <a:solidFill>
                  <a:schemeClr val="bg1"/>
                </a:solidFill>
              </a:rPr>
              <a:t>Ensure each species has enough of “threat free” habitat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73FC66DF-5162-862D-9846-89FE4A7220FE}"/>
              </a:ext>
            </a:extLst>
          </p:cNvPr>
          <p:cNvSpPr txBox="1"/>
          <p:nvPr/>
        </p:nvSpPr>
        <p:spPr>
          <a:xfrm>
            <a:off x="1032632" y="616197"/>
            <a:ext cx="12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Current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0A5CBF4C-F421-2D28-94C5-10779673138A}"/>
              </a:ext>
            </a:extLst>
          </p:cNvPr>
          <p:cNvSpPr txBox="1"/>
          <p:nvPr/>
        </p:nvSpPr>
        <p:spPr>
          <a:xfrm>
            <a:off x="3908248" y="616197"/>
            <a:ext cx="1389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Potential</a:t>
            </a:r>
          </a:p>
        </p:txBody>
      </p:sp>
      <p:pic>
        <p:nvPicPr>
          <p:cNvPr id="1056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EDBC90D7-B184-74FD-6EDE-375F05D711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3230143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2" descr="Meadow cartoon clip art | Free SVG">
            <a:extLst>
              <a:ext uri="{FF2B5EF4-FFF2-40B4-BE49-F238E27FC236}">
                <a16:creationId xmlns:a16="http://schemas.microsoft.com/office/drawing/2014/main" id="{2762E60F-D111-77EB-D204-93F9335CF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3230143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8" name="TextBox 1057">
            <a:extLst>
              <a:ext uri="{FF2B5EF4-FFF2-40B4-BE49-F238E27FC236}">
                <a16:creationId xmlns:a16="http://schemas.microsoft.com/office/drawing/2014/main" id="{2CF2B676-2FC2-BE58-7FDA-FF1B2376A644}"/>
              </a:ext>
            </a:extLst>
          </p:cNvPr>
          <p:cNvSpPr txBox="1"/>
          <p:nvPr/>
        </p:nvSpPr>
        <p:spPr>
          <a:xfrm>
            <a:off x="6781701" y="616197"/>
            <a:ext cx="1389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Priority</a:t>
            </a:r>
          </a:p>
        </p:txBody>
      </p:sp>
      <p:pic>
        <p:nvPicPr>
          <p:cNvPr id="1059" name="Picture 6" descr="Nature forest landscape at daytime scene with long river flowing through the meadow">
            <a:extLst>
              <a:ext uri="{FF2B5EF4-FFF2-40B4-BE49-F238E27FC236}">
                <a16:creationId xmlns:a16="http://schemas.microsoft.com/office/drawing/2014/main" id="{758F9CC8-EB6E-4FE4-9E21-588F0560C5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0"/>
          <a:stretch/>
        </p:blipFill>
        <p:spPr bwMode="auto">
          <a:xfrm>
            <a:off x="6103596" y="2266852"/>
            <a:ext cx="2745688" cy="11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2" descr="Meadow cartoon clip art | Free SVG">
            <a:extLst>
              <a:ext uri="{FF2B5EF4-FFF2-40B4-BE49-F238E27FC236}">
                <a16:creationId xmlns:a16="http://schemas.microsoft.com/office/drawing/2014/main" id="{53B6DE8B-0936-F8BC-063E-E73066CDD7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6" b="22398"/>
          <a:stretch/>
        </p:blipFill>
        <p:spPr bwMode="auto">
          <a:xfrm>
            <a:off x="6103596" y="1153716"/>
            <a:ext cx="2745688" cy="107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0BAA8596-5DC6-D0BF-621A-CF4814B2F9A5}"/>
              </a:ext>
            </a:extLst>
          </p:cNvPr>
          <p:cNvGrpSpPr/>
          <p:nvPr/>
        </p:nvGrpSpPr>
        <p:grpSpPr>
          <a:xfrm>
            <a:off x="268488" y="1336955"/>
            <a:ext cx="1066649" cy="795019"/>
            <a:chOff x="6080248" y="779867"/>
            <a:chExt cx="1909240" cy="1423038"/>
          </a:xfrm>
        </p:grpSpPr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7E7770C6-6F8B-7B0A-0961-53CEE34DD263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E2E12968-B4B1-8B29-1352-A49F0FBA0E88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69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041855EF-8E6A-1812-F5A2-6BC9569E3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EF89E99A-236C-EF47-866A-6A1DFD311256}"/>
              </a:ext>
            </a:extLst>
          </p:cNvPr>
          <p:cNvGrpSpPr/>
          <p:nvPr/>
        </p:nvGrpSpPr>
        <p:grpSpPr>
          <a:xfrm>
            <a:off x="3068310" y="1390052"/>
            <a:ext cx="1066649" cy="795019"/>
            <a:chOff x="6080248" y="779867"/>
            <a:chExt cx="1909240" cy="1423038"/>
          </a:xfrm>
        </p:grpSpPr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ADBD08B7-EEC5-5489-C79C-94F62D5371ED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CE6C1AEF-BCB5-4244-F3EC-D9483DE1C673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75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4BA98AC6-E75F-FE00-C32D-A27F15D55E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76" name="Picture 4" descr="Wild boar clipart by Matiseli on DeviantArt">
            <a:extLst>
              <a:ext uri="{FF2B5EF4-FFF2-40B4-BE49-F238E27FC236}">
                <a16:creationId xmlns:a16="http://schemas.microsoft.com/office/drawing/2014/main" id="{8E6014E0-49A1-A26C-36FC-A9F5D8C7E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4733" y="2185417"/>
            <a:ext cx="926483" cy="77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1082" descr="Page 4 | Toxic waste barrel Vectors &amp; Illustrations for Free Download |  Freepik">
            <a:extLst>
              <a:ext uri="{FF2B5EF4-FFF2-40B4-BE49-F238E27FC236}">
                <a16:creationId xmlns:a16="http://schemas.microsoft.com/office/drawing/2014/main" id="{291EC580-6E0A-F59E-2077-6C7FEF3F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02" b="93035" l="7050" r="90550">
                        <a14:foregroundMark x1="66500" y1="25967" x2="66500" y2="25967"/>
                        <a14:foregroundMark x1="62050" y1="29837" x2="49050" y2="41015"/>
                        <a14:foregroundMark x1="49050" y1="41015" x2="48850" y2="41359"/>
                        <a14:foregroundMark x1="39150" y1="39381" x2="39400" y2="22270"/>
                        <a14:foregroundMark x1="39400" y1="22270" x2="44750" y2="10576"/>
                        <a14:foregroundMark x1="44750" y1="10576" x2="51163" y2="5981"/>
                        <a14:foregroundMark x1="52880" y1="5733" x2="64350" y2="9630"/>
                        <a14:foregroundMark x1="64350" y1="9630" x2="72900" y2="9802"/>
                        <a14:foregroundMark x1="72900" y1="9802" x2="80800" y2="9802"/>
                        <a14:foregroundMark x1="80800" y1="9802" x2="86900" y2="10748"/>
                        <a14:foregroundMark x1="86900" y1="10748" x2="90600" y2="32846"/>
                        <a14:foregroundMark x1="90600" y1="32846" x2="89400" y2="46604"/>
                        <a14:foregroundMark x1="89400" y1="46604" x2="80650" y2="53052"/>
                        <a14:foregroundMark x1="80650" y1="53052" x2="52000" y2="57954"/>
                        <a14:foregroundMark x1="52000" y1="57954" x2="38600" y2="38435"/>
                        <a14:foregroundMark x1="7050" y1="77128" x2="7150" y2="77128"/>
                        <a14:foregroundMark x1="32850" y1="90886" x2="53450" y2="87188"/>
                        <a14:foregroundMark x1="53450" y1="87188" x2="47150" y2="94067"/>
                        <a14:foregroundMark x1="47150" y1="94067" x2="34800" y2="93035"/>
                        <a14:foregroundMark x1="34800" y1="93035" x2="33050" y2="92003"/>
                        <a14:backgroundMark x1="51150" y1="6019" x2="52900" y2="56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1241" y="3020793"/>
            <a:ext cx="540125" cy="31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1083" descr="Shape&#10;&#10;Description automatically generated">
            <a:extLst>
              <a:ext uri="{FF2B5EF4-FFF2-40B4-BE49-F238E27FC236}">
                <a16:creationId xmlns:a16="http://schemas.microsoft.com/office/drawing/2014/main" id="{D0126F3D-3870-B11C-C1A8-A37C9C132D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496" y="2356907"/>
            <a:ext cx="455998" cy="592191"/>
          </a:xfrm>
          <a:prstGeom prst="rect">
            <a:avLst/>
          </a:prstGeom>
        </p:spPr>
      </p:pic>
      <p:pic>
        <p:nvPicPr>
          <p:cNvPr id="1085" name="Picture 16" descr="On the Dangers of Stochastic Parrots: Can Language Models Be Too Big? 🦜 |  Green AI — Annotated Bibliography">
            <a:extLst>
              <a:ext uri="{FF2B5EF4-FFF2-40B4-BE49-F238E27FC236}">
                <a16:creationId xmlns:a16="http://schemas.microsoft.com/office/drawing/2014/main" id="{8D31921B-F3A0-78CF-7E1E-776876FD6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063" y="2617684"/>
            <a:ext cx="599861" cy="59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DA47024D-BEDF-306F-FB8D-E633606BE19F}"/>
              </a:ext>
            </a:extLst>
          </p:cNvPr>
          <p:cNvGrpSpPr/>
          <p:nvPr/>
        </p:nvGrpSpPr>
        <p:grpSpPr>
          <a:xfrm>
            <a:off x="3048314" y="2641470"/>
            <a:ext cx="1066649" cy="795019"/>
            <a:chOff x="6080248" y="779867"/>
            <a:chExt cx="1909240" cy="1423038"/>
          </a:xfrm>
        </p:grpSpPr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F32E6B6C-DA4F-2988-7962-1C09976A2219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8B56A806-58E1-EB7C-E65E-03D2A65C9DD1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52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772EC86E-411A-FF26-584E-74EFFB26AF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4" name="Picture 8">
            <a:extLst>
              <a:ext uri="{FF2B5EF4-FFF2-40B4-BE49-F238E27FC236}">
                <a16:creationId xmlns:a16="http://schemas.microsoft.com/office/drawing/2014/main" id="{55A6CF81-15B8-D6F4-65E1-CB784056C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192" y="2391036"/>
            <a:ext cx="512720" cy="51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6" name="Picture 8">
            <a:extLst>
              <a:ext uri="{FF2B5EF4-FFF2-40B4-BE49-F238E27FC236}">
                <a16:creationId xmlns:a16="http://schemas.microsoft.com/office/drawing/2014/main" id="{11C59920-A2B8-0AEA-6477-BFF4ECF54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17" y="1323385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4" descr="Wild boar clipart by Matiseli on DeviantArt">
            <a:extLst>
              <a:ext uri="{FF2B5EF4-FFF2-40B4-BE49-F238E27FC236}">
                <a16:creationId xmlns:a16="http://schemas.microsoft.com/office/drawing/2014/main" id="{3CAAB092-98EF-9A4B-2038-252682C56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24838" y="2314985"/>
            <a:ext cx="746395" cy="62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7" name="Picture 8">
            <a:extLst>
              <a:ext uri="{FF2B5EF4-FFF2-40B4-BE49-F238E27FC236}">
                <a16:creationId xmlns:a16="http://schemas.microsoft.com/office/drawing/2014/main" id="{CC32D089-857D-078D-9C40-327CC63B7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623" y="1380023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3DAF6937-0E60-3828-F44C-3E860B03B4A9}"/>
              </a:ext>
            </a:extLst>
          </p:cNvPr>
          <p:cNvGrpSpPr/>
          <p:nvPr/>
        </p:nvGrpSpPr>
        <p:grpSpPr>
          <a:xfrm>
            <a:off x="5909493" y="1434642"/>
            <a:ext cx="1066649" cy="795019"/>
            <a:chOff x="6080248" y="779867"/>
            <a:chExt cx="1909240" cy="1423038"/>
          </a:xfrm>
        </p:grpSpPr>
        <p:sp>
          <p:nvSpPr>
            <p:cNvPr id="1109" name="Oval 1108">
              <a:extLst>
                <a:ext uri="{FF2B5EF4-FFF2-40B4-BE49-F238E27FC236}">
                  <a16:creationId xmlns:a16="http://schemas.microsoft.com/office/drawing/2014/main" id="{546ABFA1-1687-7BAB-5A66-34CC51160D29}"/>
                </a:ext>
              </a:extLst>
            </p:cNvPr>
            <p:cNvSpPr/>
            <p:nvPr/>
          </p:nvSpPr>
          <p:spPr>
            <a:xfrm>
              <a:off x="6718746" y="1000665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10" name="Oval 1109">
              <a:extLst>
                <a:ext uri="{FF2B5EF4-FFF2-40B4-BE49-F238E27FC236}">
                  <a16:creationId xmlns:a16="http://schemas.microsoft.com/office/drawing/2014/main" id="{CFFE736A-E28D-80CC-1118-847553113E07}"/>
                </a:ext>
              </a:extLst>
            </p:cNvPr>
            <p:cNvSpPr/>
            <p:nvPr/>
          </p:nvSpPr>
          <p:spPr>
            <a:xfrm>
              <a:off x="7205799" y="962899"/>
              <a:ext cx="172528" cy="1799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111" name="Picture 4" descr="Frog Clipart Images – Browse 8,987 Stock Photos, Vectors, and Video | Adobe  Stock">
              <a:extLst>
                <a:ext uri="{FF2B5EF4-FFF2-40B4-BE49-F238E27FC236}">
                  <a16:creationId xmlns:a16="http://schemas.microsoft.com/office/drawing/2014/main" id="{84C3A7BC-7D19-F784-2C86-FCD3A1D76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248" y="779867"/>
              <a:ext cx="1909240" cy="1423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12" name="Picture 8">
            <a:extLst>
              <a:ext uri="{FF2B5EF4-FFF2-40B4-BE49-F238E27FC236}">
                <a16:creationId xmlns:a16="http://schemas.microsoft.com/office/drawing/2014/main" id="{27FF06D1-EBA3-BBD8-8623-39C8130F2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800" y="1426138"/>
            <a:ext cx="676876" cy="6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1044" descr="Shape&#10;&#10;Description automatically generated">
            <a:extLst>
              <a:ext uri="{FF2B5EF4-FFF2-40B4-BE49-F238E27FC236}">
                <a16:creationId xmlns:a16="http://schemas.microsoft.com/office/drawing/2014/main" id="{30EBA5FC-EA0C-23E9-62F9-281AF70362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792" y="2345054"/>
            <a:ext cx="433010" cy="56233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2A9C10A-844D-45EB-D4EF-D92CAA08876D}"/>
              </a:ext>
            </a:extLst>
          </p:cNvPr>
          <p:cNvGrpSpPr/>
          <p:nvPr/>
        </p:nvGrpSpPr>
        <p:grpSpPr>
          <a:xfrm>
            <a:off x="5960327" y="2624658"/>
            <a:ext cx="839591" cy="691317"/>
            <a:chOff x="5960327" y="2624658"/>
            <a:chExt cx="839591" cy="691317"/>
          </a:xfrm>
        </p:grpSpPr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983F2259-578F-A969-0432-142F6FA11BF2}"/>
                </a:ext>
              </a:extLst>
            </p:cNvPr>
            <p:cNvGrpSpPr/>
            <p:nvPr/>
          </p:nvGrpSpPr>
          <p:grpSpPr>
            <a:xfrm>
              <a:off x="5960327" y="2690192"/>
              <a:ext cx="839591" cy="625783"/>
              <a:chOff x="6080248" y="779867"/>
              <a:chExt cx="1909240" cy="1423038"/>
            </a:xfrm>
          </p:grpSpPr>
          <p:sp>
            <p:nvSpPr>
              <p:cNvPr id="1104" name="Oval 1103">
                <a:extLst>
                  <a:ext uri="{FF2B5EF4-FFF2-40B4-BE49-F238E27FC236}">
                    <a16:creationId xmlns:a16="http://schemas.microsoft.com/office/drawing/2014/main" id="{5903DF5D-6ACE-F86C-B950-0381DFB03EB5}"/>
                  </a:ext>
                </a:extLst>
              </p:cNvPr>
              <p:cNvSpPr/>
              <p:nvPr/>
            </p:nvSpPr>
            <p:spPr>
              <a:xfrm>
                <a:off x="6718746" y="1000665"/>
                <a:ext cx="172528" cy="1799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05" name="Oval 1104">
                <a:extLst>
                  <a:ext uri="{FF2B5EF4-FFF2-40B4-BE49-F238E27FC236}">
                    <a16:creationId xmlns:a16="http://schemas.microsoft.com/office/drawing/2014/main" id="{FFD1B8D0-9F4D-A8DA-F439-AACF59793880}"/>
                  </a:ext>
                </a:extLst>
              </p:cNvPr>
              <p:cNvSpPr/>
              <p:nvPr/>
            </p:nvSpPr>
            <p:spPr>
              <a:xfrm>
                <a:off x="7205799" y="962899"/>
                <a:ext cx="172528" cy="1799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1106" name="Picture 4" descr="Frog Clipart Images – Browse 8,987 Stock Photos, Vectors, and Video | Adobe  Stock">
                <a:extLst>
                  <a:ext uri="{FF2B5EF4-FFF2-40B4-BE49-F238E27FC236}">
                    <a16:creationId xmlns:a16="http://schemas.microsoft.com/office/drawing/2014/main" id="{EC376A47-D11E-B9B5-F203-D7862A133F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80248" y="779867"/>
                <a:ext cx="1909240" cy="14230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599320D-F215-5239-6032-C0F34B2888FB}"/>
                </a:ext>
              </a:extLst>
            </p:cNvPr>
            <p:cNvSpPr/>
            <p:nvPr/>
          </p:nvSpPr>
          <p:spPr>
            <a:xfrm>
              <a:off x="6046992" y="2624658"/>
              <a:ext cx="660867" cy="678185"/>
            </a:xfrm>
            <a:prstGeom prst="ellipse">
              <a:avLst/>
            </a:prstGeom>
            <a:noFill/>
            <a:ln w="76200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087965-5B20-E295-1F8A-A8AC0B97750D}"/>
              </a:ext>
            </a:extLst>
          </p:cNvPr>
          <p:cNvGrpSpPr/>
          <p:nvPr/>
        </p:nvGrpSpPr>
        <p:grpSpPr>
          <a:xfrm>
            <a:off x="8241901" y="2711282"/>
            <a:ext cx="575866" cy="599945"/>
            <a:chOff x="9629712" y="645085"/>
            <a:chExt cx="575866" cy="599945"/>
          </a:xfrm>
        </p:grpSpPr>
        <p:pic>
          <p:nvPicPr>
            <p:cNvPr id="1097" name="Picture 16" descr="On the Dangers of Stochastic Parrots: Can Language Models Be Too Big? 🦜 |  Green AI — Annotated Bibliography">
              <a:extLst>
                <a:ext uri="{FF2B5EF4-FFF2-40B4-BE49-F238E27FC236}">
                  <a16:creationId xmlns:a16="http://schemas.microsoft.com/office/drawing/2014/main" id="{42B32DF6-0A4C-4B0D-B50E-6DDF625B8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55154" y="694606"/>
              <a:ext cx="550424" cy="5504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FF92C79-F853-C1E6-C2CC-5B00E2D0E338}"/>
                </a:ext>
              </a:extLst>
            </p:cNvPr>
            <p:cNvSpPr/>
            <p:nvPr/>
          </p:nvSpPr>
          <p:spPr>
            <a:xfrm>
              <a:off x="9629712" y="645085"/>
              <a:ext cx="575866" cy="590956"/>
            </a:xfrm>
            <a:prstGeom prst="ellipse">
              <a:avLst/>
            </a:prstGeom>
            <a:noFill/>
            <a:ln w="76200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047" name="Picture 10" descr="Page 4 | Toxic waste barrel Vectors &amp; Illustrations for Free Download |  Freepik">
            <a:extLst>
              <a:ext uri="{FF2B5EF4-FFF2-40B4-BE49-F238E27FC236}">
                <a16:creationId xmlns:a16="http://schemas.microsoft.com/office/drawing/2014/main" id="{C05FDF66-A93E-B33D-C2A3-E830AB789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02" b="93035" l="7050" r="90550">
                        <a14:foregroundMark x1="66500" y1="25967" x2="66500" y2="25967"/>
                        <a14:foregroundMark x1="62050" y1="29837" x2="49050" y2="41015"/>
                        <a14:foregroundMark x1="49050" y1="41015" x2="48850" y2="41359"/>
                        <a14:foregroundMark x1="39150" y1="39381" x2="39400" y2="22270"/>
                        <a14:foregroundMark x1="39400" y1="22270" x2="44750" y2="10576"/>
                        <a14:foregroundMark x1="44750" y1="10576" x2="51163" y2="5981"/>
                        <a14:foregroundMark x1="52880" y1="5733" x2="64350" y2="9630"/>
                        <a14:foregroundMark x1="64350" y1="9630" x2="72900" y2="9802"/>
                        <a14:foregroundMark x1="72900" y1="9802" x2="80800" y2="9802"/>
                        <a14:foregroundMark x1="80800" y1="9802" x2="86900" y2="10748"/>
                        <a14:foregroundMark x1="86900" y1="10748" x2="90600" y2="32846"/>
                        <a14:foregroundMark x1="90600" y1="32846" x2="89400" y2="46604"/>
                        <a14:foregroundMark x1="89400" y1="46604" x2="80650" y2="53052"/>
                        <a14:foregroundMark x1="80650" y1="53052" x2="52000" y2="57954"/>
                        <a14:foregroundMark x1="52000" y1="57954" x2="38600" y2="38435"/>
                        <a14:foregroundMark x1="7050" y1="77128" x2="7150" y2="77128"/>
                        <a14:foregroundMark x1="32850" y1="90886" x2="53450" y2="87188"/>
                        <a14:foregroundMark x1="53450" y1="87188" x2="47150" y2="94067"/>
                        <a14:foregroundMark x1="47150" y1="94067" x2="34800" y2="93035"/>
                        <a14:foregroundMark x1="34800" y1="93035" x2="33050" y2="92003"/>
                        <a14:backgroundMark x1="51150" y1="6019" x2="52900" y2="56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692" y="2962696"/>
            <a:ext cx="641621" cy="37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&quot;Not Allowed&quot; Symbol 8">
            <a:extLst>
              <a:ext uri="{FF2B5EF4-FFF2-40B4-BE49-F238E27FC236}">
                <a16:creationId xmlns:a16="http://schemas.microsoft.com/office/drawing/2014/main" id="{9324B21E-D82B-BB2B-8D68-9561FBFF330E}"/>
              </a:ext>
            </a:extLst>
          </p:cNvPr>
          <p:cNvSpPr/>
          <p:nvPr/>
        </p:nvSpPr>
        <p:spPr>
          <a:xfrm>
            <a:off x="7613119" y="2434895"/>
            <a:ext cx="531277" cy="413149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6" name="&quot;Not Allowed&quot; Symbol 5">
            <a:extLst>
              <a:ext uri="{FF2B5EF4-FFF2-40B4-BE49-F238E27FC236}">
                <a16:creationId xmlns:a16="http://schemas.microsoft.com/office/drawing/2014/main" id="{F88AAC43-641B-050E-E951-4A0B3DAF3421}"/>
              </a:ext>
            </a:extLst>
          </p:cNvPr>
          <p:cNvSpPr/>
          <p:nvPr/>
        </p:nvSpPr>
        <p:spPr>
          <a:xfrm>
            <a:off x="6772881" y="2926134"/>
            <a:ext cx="531277" cy="413149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7A1A34-FCED-A9D6-4D71-09C708BAB31A}"/>
              </a:ext>
            </a:extLst>
          </p:cNvPr>
          <p:cNvCxnSpPr>
            <a:cxnSpLocks/>
          </p:cNvCxnSpPr>
          <p:nvPr/>
        </p:nvCxnSpPr>
        <p:spPr>
          <a:xfrm>
            <a:off x="6091380" y="3602862"/>
            <a:ext cx="0" cy="14160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BDBEC4-A983-34C4-143A-A706CCC7EF50}"/>
              </a:ext>
            </a:extLst>
          </p:cNvPr>
          <p:cNvGrpSpPr/>
          <p:nvPr/>
        </p:nvGrpSpPr>
        <p:grpSpPr>
          <a:xfrm>
            <a:off x="362969" y="3442507"/>
            <a:ext cx="5591734" cy="1602047"/>
            <a:chOff x="3481387" y="3512423"/>
            <a:chExt cx="5591734" cy="160204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FC32CFB-6E2B-4396-8526-DC1C41077CD3}"/>
                </a:ext>
              </a:extLst>
            </p:cNvPr>
            <p:cNvGrpSpPr/>
            <p:nvPr/>
          </p:nvGrpSpPr>
          <p:grpSpPr>
            <a:xfrm>
              <a:off x="3481387" y="4209823"/>
              <a:ext cx="2011550" cy="681553"/>
              <a:chOff x="1621697" y="3377943"/>
              <a:chExt cx="2346435" cy="795019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8EDFC61B-A829-E01E-8C39-235E3465F512}"/>
                  </a:ext>
                </a:extLst>
              </p:cNvPr>
              <p:cNvGrpSpPr/>
              <p:nvPr/>
            </p:nvGrpSpPr>
            <p:grpSpPr>
              <a:xfrm>
                <a:off x="2901483" y="3377943"/>
                <a:ext cx="1066649" cy="795019"/>
                <a:chOff x="6080248" y="779867"/>
                <a:chExt cx="1909240" cy="1423038"/>
              </a:xfrm>
            </p:grpSpPr>
            <p:sp>
              <p:nvSpPr>
                <p:cNvPr id="1038" name="Oval 1037">
                  <a:extLst>
                    <a:ext uri="{FF2B5EF4-FFF2-40B4-BE49-F238E27FC236}">
                      <a16:creationId xmlns:a16="http://schemas.microsoft.com/office/drawing/2014/main" id="{1EFA9F28-C437-5343-8095-EB3534EAAF00}"/>
                    </a:ext>
                  </a:extLst>
                </p:cNvPr>
                <p:cNvSpPr/>
                <p:nvPr/>
              </p:nvSpPr>
              <p:spPr>
                <a:xfrm>
                  <a:off x="6718746" y="1000665"/>
                  <a:ext cx="172528" cy="1799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039" name="Oval 1038">
                  <a:extLst>
                    <a:ext uri="{FF2B5EF4-FFF2-40B4-BE49-F238E27FC236}">
                      <a16:creationId xmlns:a16="http://schemas.microsoft.com/office/drawing/2014/main" id="{1B471A82-A5BA-54C5-DF72-005B9651FFD2}"/>
                    </a:ext>
                  </a:extLst>
                </p:cNvPr>
                <p:cNvSpPr/>
                <p:nvPr/>
              </p:nvSpPr>
              <p:spPr>
                <a:xfrm>
                  <a:off x="7205799" y="962899"/>
                  <a:ext cx="172528" cy="1799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pic>
              <p:nvPicPr>
                <p:cNvPr id="1041" name="Picture 4" descr="Frog Clipart Images – Browse 8,987 Stock Photos, Vectors, and Video | Adobe  Stock">
                  <a:extLst>
                    <a:ext uri="{FF2B5EF4-FFF2-40B4-BE49-F238E27FC236}">
                      <a16:creationId xmlns:a16="http://schemas.microsoft.com/office/drawing/2014/main" id="{81D5CFDE-E874-02FD-9D50-0C4EC8D97B9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80248" y="779867"/>
                  <a:ext cx="1909240" cy="142303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034" name="Arrow: Right 1033">
                <a:extLst>
                  <a:ext uri="{FF2B5EF4-FFF2-40B4-BE49-F238E27FC236}">
                    <a16:creationId xmlns:a16="http://schemas.microsoft.com/office/drawing/2014/main" id="{3D647307-574E-D34E-DB1D-A3BFFE082B7C}"/>
                  </a:ext>
                </a:extLst>
              </p:cNvPr>
              <p:cNvSpPr/>
              <p:nvPr/>
            </p:nvSpPr>
            <p:spPr>
              <a:xfrm>
                <a:off x="2633245" y="3581064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1035" name="Group 1034">
                <a:extLst>
                  <a:ext uri="{FF2B5EF4-FFF2-40B4-BE49-F238E27FC236}">
                    <a16:creationId xmlns:a16="http://schemas.microsoft.com/office/drawing/2014/main" id="{9BC84C41-56CB-761F-8656-2CB9595B2400}"/>
                  </a:ext>
                </a:extLst>
              </p:cNvPr>
              <p:cNvGrpSpPr/>
              <p:nvPr/>
            </p:nvGrpSpPr>
            <p:grpSpPr>
              <a:xfrm>
                <a:off x="1621697" y="3481355"/>
                <a:ext cx="1011548" cy="588194"/>
                <a:chOff x="1621697" y="3460323"/>
                <a:chExt cx="1011548" cy="588194"/>
              </a:xfrm>
            </p:grpSpPr>
            <p:pic>
              <p:nvPicPr>
                <p:cNvPr id="1036" name="Picture 10" descr="Page 4 | Toxic waste barrel Vectors &amp; Illustrations for Free Download |  Freepik">
                  <a:extLst>
                    <a:ext uri="{FF2B5EF4-FFF2-40B4-BE49-F238E27FC236}">
                      <a16:creationId xmlns:a16="http://schemas.microsoft.com/office/drawing/2014/main" id="{C65FEDCB-2F86-0299-A65C-1B6D464273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9802" b="93035" l="7050" r="90550">
                              <a14:foregroundMark x1="66500" y1="25967" x2="66500" y2="25967"/>
                              <a14:foregroundMark x1="62050" y1="29837" x2="49050" y2="41015"/>
                              <a14:foregroundMark x1="49050" y1="41015" x2="48850" y2="41359"/>
                              <a14:foregroundMark x1="39150" y1="39381" x2="39400" y2="22270"/>
                              <a14:foregroundMark x1="39400" y1="22270" x2="44750" y2="10576"/>
                              <a14:foregroundMark x1="44750" y1="10576" x2="51163" y2="5981"/>
                              <a14:foregroundMark x1="52880" y1="5733" x2="64350" y2="9630"/>
                              <a14:foregroundMark x1="64350" y1="9630" x2="72900" y2="9802"/>
                              <a14:foregroundMark x1="72900" y1="9802" x2="80800" y2="9802"/>
                              <a14:foregroundMark x1="80800" y1="9802" x2="86900" y2="10748"/>
                              <a14:foregroundMark x1="86900" y1="10748" x2="90600" y2="32846"/>
                              <a14:foregroundMark x1="90600" y1="32846" x2="89400" y2="46604"/>
                              <a14:foregroundMark x1="89400" y1="46604" x2="80650" y2="53052"/>
                              <a14:foregroundMark x1="80650" y1="53052" x2="52000" y2="57954"/>
                              <a14:foregroundMark x1="52000" y1="57954" x2="38600" y2="38435"/>
                              <a14:foregroundMark x1="7050" y1="77128" x2="7150" y2="77128"/>
                              <a14:foregroundMark x1="32850" y1="90886" x2="53450" y2="87188"/>
                              <a14:foregroundMark x1="53450" y1="87188" x2="47150" y2="94067"/>
                              <a14:foregroundMark x1="47150" y1="94067" x2="34800" y2="93035"/>
                              <a14:foregroundMark x1="34800" y1="93035" x2="33050" y2="92003"/>
                              <a14:backgroundMark x1="51150" y1="6019" x2="52900" y2="567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21697" y="3460323"/>
                  <a:ext cx="1011548" cy="58819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37" name="&quot;Not Allowed&quot; Symbol 1036">
                  <a:extLst>
                    <a:ext uri="{FF2B5EF4-FFF2-40B4-BE49-F238E27FC236}">
                      <a16:creationId xmlns:a16="http://schemas.microsoft.com/office/drawing/2014/main" id="{EE42F28F-AB75-A970-8090-0B8C1E3F37D2}"/>
                    </a:ext>
                  </a:extLst>
                </p:cNvPr>
                <p:cNvSpPr/>
                <p:nvPr/>
              </p:nvSpPr>
              <p:spPr>
                <a:xfrm>
                  <a:off x="1843129" y="3473784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E6C4E3-F49E-8A7F-D710-6D3C3D6EB9FE}"/>
                </a:ext>
              </a:extLst>
            </p:cNvPr>
            <p:cNvGrpSpPr/>
            <p:nvPr/>
          </p:nvGrpSpPr>
          <p:grpSpPr>
            <a:xfrm>
              <a:off x="5650035" y="3512423"/>
              <a:ext cx="1821198" cy="772666"/>
              <a:chOff x="1515396" y="3963565"/>
              <a:chExt cx="2144722" cy="909925"/>
            </a:xfrm>
          </p:grpSpPr>
          <p:sp>
            <p:nvSpPr>
              <p:cNvPr id="57" name="Arrow: Right 56">
                <a:extLst>
                  <a:ext uri="{FF2B5EF4-FFF2-40B4-BE49-F238E27FC236}">
                    <a16:creationId xmlns:a16="http://schemas.microsoft.com/office/drawing/2014/main" id="{5378DB89-1975-B9D6-DCE0-463C127C2058}"/>
                  </a:ext>
                </a:extLst>
              </p:cNvPr>
              <p:cNvSpPr/>
              <p:nvPr/>
            </p:nvSpPr>
            <p:spPr>
              <a:xfrm>
                <a:off x="2633245" y="4224139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59" name="Picture 8">
                <a:extLst>
                  <a:ext uri="{FF2B5EF4-FFF2-40B4-BE49-F238E27FC236}">
                    <a16:creationId xmlns:a16="http://schemas.microsoft.com/office/drawing/2014/main" id="{DE407202-557B-6047-650D-F25F3A9B30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2662" y="4064799"/>
                <a:ext cx="707456" cy="707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3B93BE6-D854-2004-FF4D-AB0DD489AE30}"/>
                  </a:ext>
                </a:extLst>
              </p:cNvPr>
              <p:cNvGrpSpPr/>
              <p:nvPr/>
            </p:nvGrpSpPr>
            <p:grpSpPr>
              <a:xfrm>
                <a:off x="1515396" y="3963565"/>
                <a:ext cx="1091067" cy="909925"/>
                <a:chOff x="1515396" y="3963565"/>
                <a:chExt cx="1091067" cy="909925"/>
              </a:xfrm>
            </p:grpSpPr>
            <p:pic>
              <p:nvPicPr>
                <p:cNvPr id="1028" name="Picture 4" descr="Wild boar clipart by Matiseli on DeviantArt">
                  <a:extLst>
                    <a:ext uri="{FF2B5EF4-FFF2-40B4-BE49-F238E27FC236}">
                      <a16:creationId xmlns:a16="http://schemas.microsoft.com/office/drawing/2014/main" id="{125800E9-BEDA-DF7A-B240-689A8431FF8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515396" y="3963565"/>
                  <a:ext cx="1091067" cy="9099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30" name="&quot;Not Allowed&quot; Symbol 1029">
                  <a:extLst>
                    <a:ext uri="{FF2B5EF4-FFF2-40B4-BE49-F238E27FC236}">
                      <a16:creationId xmlns:a16="http://schemas.microsoft.com/office/drawing/2014/main" id="{33B2B634-F921-8704-F536-4D8E1202576C}"/>
                    </a:ext>
                  </a:extLst>
                </p:cNvPr>
                <p:cNvSpPr/>
                <p:nvPr/>
              </p:nvSpPr>
              <p:spPr>
                <a:xfrm>
                  <a:off x="1643336" y="4258568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995136B-0474-F745-D658-59B3A6081554}"/>
                </a:ext>
              </a:extLst>
            </p:cNvPr>
            <p:cNvGrpSpPr/>
            <p:nvPr/>
          </p:nvGrpSpPr>
          <p:grpSpPr>
            <a:xfrm>
              <a:off x="5762141" y="4147470"/>
              <a:ext cx="3310980" cy="967000"/>
              <a:chOff x="4214599" y="3984442"/>
              <a:chExt cx="3663417" cy="1069932"/>
            </a:xfrm>
          </p:grpSpPr>
          <p:sp>
            <p:nvSpPr>
              <p:cNvPr id="28" name="Plus Sign 27">
                <a:extLst>
                  <a:ext uri="{FF2B5EF4-FFF2-40B4-BE49-F238E27FC236}">
                    <a16:creationId xmlns:a16="http://schemas.microsoft.com/office/drawing/2014/main" id="{C915B077-A28F-2D92-DEAC-4F725A5B0DE5}"/>
                  </a:ext>
                </a:extLst>
              </p:cNvPr>
              <p:cNvSpPr/>
              <p:nvPr/>
            </p:nvSpPr>
            <p:spPr>
              <a:xfrm>
                <a:off x="5226147" y="4239544"/>
                <a:ext cx="540199" cy="559728"/>
              </a:xfrm>
              <a:prstGeom prst="mathPlu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A5A34C23-C1FD-C8E2-41A3-7EDDF45CAEDF}"/>
                  </a:ext>
                </a:extLst>
              </p:cNvPr>
              <p:cNvSpPr/>
              <p:nvPr/>
            </p:nvSpPr>
            <p:spPr>
              <a:xfrm>
                <a:off x="6540538" y="4325020"/>
                <a:ext cx="408928" cy="388777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30" name="Picture 10" descr="Page 4 | Toxic waste barrel Vectors &amp; Illustrations for Free Download |  Freepik">
                <a:extLst>
                  <a:ext uri="{FF2B5EF4-FFF2-40B4-BE49-F238E27FC236}">
                    <a16:creationId xmlns:a16="http://schemas.microsoft.com/office/drawing/2014/main" id="{287D6CFD-0D8C-B6CA-1920-D24EBEB662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9802" b="93035" l="7050" r="90550">
                            <a14:foregroundMark x1="66500" y1="25967" x2="66500" y2="25967"/>
                            <a14:foregroundMark x1="62050" y1="29837" x2="49050" y2="41015"/>
                            <a14:foregroundMark x1="49050" y1="41015" x2="48850" y2="41359"/>
                            <a14:foregroundMark x1="39150" y1="39381" x2="39400" y2="22270"/>
                            <a14:foregroundMark x1="39400" y1="22270" x2="44750" y2="10576"/>
                            <a14:foregroundMark x1="44750" y1="10576" x2="51163" y2="5981"/>
                            <a14:foregroundMark x1="52880" y1="5733" x2="64350" y2="9630"/>
                            <a14:foregroundMark x1="64350" y1="9630" x2="72900" y2="9802"/>
                            <a14:foregroundMark x1="72900" y1="9802" x2="80800" y2="9802"/>
                            <a14:foregroundMark x1="80800" y1="9802" x2="86900" y2="10748"/>
                            <a14:foregroundMark x1="86900" y1="10748" x2="90600" y2="32846"/>
                            <a14:foregroundMark x1="90600" y1="32846" x2="89400" y2="46604"/>
                            <a14:foregroundMark x1="89400" y1="46604" x2="80650" y2="53052"/>
                            <a14:foregroundMark x1="80650" y1="53052" x2="52000" y2="57954"/>
                            <a14:foregroundMark x1="52000" y1="57954" x2="38600" y2="38435"/>
                            <a14:foregroundMark x1="7050" y1="77128" x2="7150" y2="77128"/>
                            <a14:foregroundMark x1="32850" y1="90886" x2="53450" y2="87188"/>
                            <a14:foregroundMark x1="53450" y1="87188" x2="47150" y2="94067"/>
                            <a14:foregroundMark x1="47150" y1="94067" x2="34800" y2="93035"/>
                            <a14:foregroundMark x1="34800" y1="93035" x2="33050" y2="92003"/>
                            <a14:backgroundMark x1="51150" y1="6019" x2="52900" y2="567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4599" y="4225311"/>
                <a:ext cx="1011548" cy="5881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4" name="&quot;Not Allowed&quot; Symbol 33">
                <a:extLst>
                  <a:ext uri="{FF2B5EF4-FFF2-40B4-BE49-F238E27FC236}">
                    <a16:creationId xmlns:a16="http://schemas.microsoft.com/office/drawing/2014/main" id="{DA0AEBA6-15DA-D0B4-CDA9-A669D6D50734}"/>
                  </a:ext>
                </a:extLst>
              </p:cNvPr>
              <p:cNvSpPr/>
              <p:nvPr/>
            </p:nvSpPr>
            <p:spPr>
              <a:xfrm>
                <a:off x="4404870" y="4265622"/>
                <a:ext cx="587828" cy="457127"/>
              </a:xfrm>
              <a:prstGeom prst="noSmoking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C318368-E3C1-843E-9A6B-241FE1366A53}"/>
                  </a:ext>
                </a:extLst>
              </p:cNvPr>
              <p:cNvGrpSpPr/>
              <p:nvPr/>
            </p:nvGrpSpPr>
            <p:grpSpPr>
              <a:xfrm>
                <a:off x="5714278" y="4064446"/>
                <a:ext cx="700658" cy="909925"/>
                <a:chOff x="5714278" y="4161713"/>
                <a:chExt cx="700658" cy="909925"/>
              </a:xfrm>
            </p:grpSpPr>
            <p:pic>
              <p:nvPicPr>
                <p:cNvPr id="37" name="Picture 36" descr="Shape&#10;&#10;Description automatically generated">
                  <a:extLst>
                    <a:ext uri="{FF2B5EF4-FFF2-40B4-BE49-F238E27FC236}">
                      <a16:creationId xmlns:a16="http://schemas.microsoft.com/office/drawing/2014/main" id="{6E23A87F-E648-85F2-5B4D-98F607A342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14278" y="4161713"/>
                  <a:ext cx="700658" cy="909925"/>
                </a:xfrm>
                <a:prstGeom prst="rect">
                  <a:avLst/>
                </a:prstGeom>
              </p:spPr>
            </p:pic>
            <p:sp>
              <p:nvSpPr>
                <p:cNvPr id="55" name="&quot;Not Allowed&quot; Symbol 54">
                  <a:extLst>
                    <a:ext uri="{FF2B5EF4-FFF2-40B4-BE49-F238E27FC236}">
                      <a16:creationId xmlns:a16="http://schemas.microsoft.com/office/drawing/2014/main" id="{14D312A1-1212-D5C4-8600-E7F67ADE677E}"/>
                    </a:ext>
                  </a:extLst>
                </p:cNvPr>
                <p:cNvSpPr/>
                <p:nvPr/>
              </p:nvSpPr>
              <p:spPr>
                <a:xfrm>
                  <a:off x="5714332" y="4502145"/>
                  <a:ext cx="587828" cy="457126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36" name="Picture 16" descr="On the Dangers of Stochastic Parrots: Can Language Models Be Too Big? 🦜 |  Green AI — Annotated Bibliography">
                <a:extLst>
                  <a:ext uri="{FF2B5EF4-FFF2-40B4-BE49-F238E27FC236}">
                    <a16:creationId xmlns:a16="http://schemas.microsoft.com/office/drawing/2014/main" id="{EAB0D1AC-A0B9-B9E4-520A-FF2BE1BA14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08084" y="3984442"/>
                <a:ext cx="1069932" cy="10699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C8ABC98-AC33-4E89-E99F-58160B121263}"/>
                </a:ext>
              </a:extLst>
            </p:cNvPr>
            <p:cNvSpPr txBox="1"/>
            <p:nvPr/>
          </p:nvSpPr>
          <p:spPr>
            <a:xfrm>
              <a:off x="3498907" y="3599292"/>
              <a:ext cx="26556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</a:rPr>
                <a:t>Threat impacts </a:t>
              </a: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6E591DF9-59DD-3C39-2759-4EF047477D3F}"/>
              </a:ext>
            </a:extLst>
          </p:cNvPr>
          <p:cNvGrpSpPr/>
          <p:nvPr/>
        </p:nvGrpSpPr>
        <p:grpSpPr>
          <a:xfrm>
            <a:off x="6097622" y="3524818"/>
            <a:ext cx="2902252" cy="1565171"/>
            <a:chOff x="201847" y="3532947"/>
            <a:chExt cx="2902252" cy="1565171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54AD1C24-5AA0-9628-D34D-64452E4ED28F}"/>
                </a:ext>
              </a:extLst>
            </p:cNvPr>
            <p:cNvSpPr txBox="1"/>
            <p:nvPr/>
          </p:nvSpPr>
          <p:spPr>
            <a:xfrm>
              <a:off x="285708" y="3563837"/>
              <a:ext cx="13193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2400" dirty="0">
                  <a:solidFill>
                    <a:schemeClr val="bg1"/>
                  </a:solidFill>
                </a:rPr>
                <a:t>Targets</a:t>
              </a:r>
            </a:p>
          </p:txBody>
        </p:sp>
        <p:grpSp>
          <p:nvGrpSpPr>
            <p:cNvPr id="1053" name="Group 1052">
              <a:extLst>
                <a:ext uri="{FF2B5EF4-FFF2-40B4-BE49-F238E27FC236}">
                  <a16:creationId xmlns:a16="http://schemas.microsoft.com/office/drawing/2014/main" id="{9D38EED9-1FD1-6380-3156-01943E1D6EAE}"/>
                </a:ext>
              </a:extLst>
            </p:cNvPr>
            <p:cNvGrpSpPr/>
            <p:nvPr/>
          </p:nvGrpSpPr>
          <p:grpSpPr>
            <a:xfrm>
              <a:off x="201847" y="4147469"/>
              <a:ext cx="863152" cy="698599"/>
              <a:chOff x="2625706" y="3254574"/>
              <a:chExt cx="1066649" cy="795019"/>
            </a:xfrm>
          </p:grpSpPr>
          <p:sp>
            <p:nvSpPr>
              <p:cNvPr id="1078" name="Oval 1077">
                <a:extLst>
                  <a:ext uri="{FF2B5EF4-FFF2-40B4-BE49-F238E27FC236}">
                    <a16:creationId xmlns:a16="http://schemas.microsoft.com/office/drawing/2014/main" id="{4E5B244D-553B-91C1-553D-582476EB1632}"/>
                  </a:ext>
                </a:extLst>
              </p:cNvPr>
              <p:cNvSpPr/>
              <p:nvPr/>
            </p:nvSpPr>
            <p:spPr>
              <a:xfrm>
                <a:off x="2982418" y="3377929"/>
                <a:ext cx="96387" cy="10051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79" name="Oval 1078">
                <a:extLst>
                  <a:ext uri="{FF2B5EF4-FFF2-40B4-BE49-F238E27FC236}">
                    <a16:creationId xmlns:a16="http://schemas.microsoft.com/office/drawing/2014/main" id="{4D186C3D-3B7A-0EBA-7807-2556A113ED79}"/>
                  </a:ext>
                </a:extLst>
              </p:cNvPr>
              <p:cNvSpPr/>
              <p:nvPr/>
            </p:nvSpPr>
            <p:spPr>
              <a:xfrm>
                <a:off x="3254524" y="3356830"/>
                <a:ext cx="96387" cy="10051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1080" name="Picture 4" descr="Frog Clipart Images – Browse 8,987 Stock Photos, Vectors, and Video | Adobe  Stock">
                <a:extLst>
                  <a:ext uri="{FF2B5EF4-FFF2-40B4-BE49-F238E27FC236}">
                    <a16:creationId xmlns:a16="http://schemas.microsoft.com/office/drawing/2014/main" id="{133F0DAA-3E72-2F26-5B2B-1FBCB5F8F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25706" y="3254574"/>
                <a:ext cx="1066649" cy="7950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61" name="Group 1060">
              <a:extLst>
                <a:ext uri="{FF2B5EF4-FFF2-40B4-BE49-F238E27FC236}">
                  <a16:creationId xmlns:a16="http://schemas.microsoft.com/office/drawing/2014/main" id="{4CD1E7D2-D903-A82D-9C16-89F5B9612C8A}"/>
                </a:ext>
              </a:extLst>
            </p:cNvPr>
            <p:cNvGrpSpPr/>
            <p:nvPr/>
          </p:nvGrpSpPr>
          <p:grpSpPr>
            <a:xfrm>
              <a:off x="1527602" y="3532947"/>
              <a:ext cx="1339789" cy="676876"/>
              <a:chOff x="253271" y="2965694"/>
              <a:chExt cx="1400318" cy="707456"/>
            </a:xfrm>
          </p:grpSpPr>
          <p:pic>
            <p:nvPicPr>
              <p:cNvPr id="1070" name="Picture 8">
                <a:extLst>
                  <a:ext uri="{FF2B5EF4-FFF2-40B4-BE49-F238E27FC236}">
                    <a16:creationId xmlns:a16="http://schemas.microsoft.com/office/drawing/2014/main" id="{C5A83643-08B5-4954-07A0-B6A0600895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3271" y="2965694"/>
                <a:ext cx="707456" cy="707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AFBF5C42-22CF-D08A-7E51-AA5137BD28AD}"/>
                  </a:ext>
                </a:extLst>
              </p:cNvPr>
              <p:cNvSpPr txBox="1"/>
              <p:nvPr/>
            </p:nvSpPr>
            <p:spPr>
              <a:xfrm>
                <a:off x="846056" y="3020561"/>
                <a:ext cx="807533" cy="611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sz="3200" dirty="0">
                    <a:solidFill>
                      <a:schemeClr val="bg1"/>
                    </a:solidFill>
                  </a:rPr>
                  <a:t>= 1</a:t>
                </a:r>
              </a:p>
            </p:txBody>
          </p:sp>
        </p:grpSp>
        <p:grpSp>
          <p:nvGrpSpPr>
            <p:cNvPr id="1062" name="Group 1061">
              <a:extLst>
                <a:ext uri="{FF2B5EF4-FFF2-40B4-BE49-F238E27FC236}">
                  <a16:creationId xmlns:a16="http://schemas.microsoft.com/office/drawing/2014/main" id="{78A97A8F-36D6-7C46-C643-58AD0327A688}"/>
                </a:ext>
              </a:extLst>
            </p:cNvPr>
            <p:cNvGrpSpPr/>
            <p:nvPr/>
          </p:nvGrpSpPr>
          <p:grpSpPr>
            <a:xfrm>
              <a:off x="1613890" y="4265094"/>
              <a:ext cx="1490209" cy="833024"/>
              <a:chOff x="263172" y="4028031"/>
              <a:chExt cx="1557533" cy="870658"/>
            </a:xfrm>
          </p:grpSpPr>
          <p:pic>
            <p:nvPicPr>
              <p:cNvPr id="1064" name="Picture 16" descr="On the Dangers of Stochastic Parrots: Can Language Models Be Too Big? 🦜 |  Green AI — Annotated Bibliography">
                <a:extLst>
                  <a:ext uri="{FF2B5EF4-FFF2-40B4-BE49-F238E27FC236}">
                    <a16:creationId xmlns:a16="http://schemas.microsoft.com/office/drawing/2014/main" id="{25674876-281B-80C7-7C51-3164CD0983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172" y="4028031"/>
                <a:ext cx="870658" cy="8706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5" name="TextBox 1064">
                <a:extLst>
                  <a:ext uri="{FF2B5EF4-FFF2-40B4-BE49-F238E27FC236}">
                    <a16:creationId xmlns:a16="http://schemas.microsoft.com/office/drawing/2014/main" id="{A2AD7D4E-0B32-5631-D5AA-BDC00E6414C0}"/>
                  </a:ext>
                </a:extLst>
              </p:cNvPr>
              <p:cNvSpPr txBox="1"/>
              <p:nvPr/>
            </p:nvSpPr>
            <p:spPr>
              <a:xfrm>
                <a:off x="1013172" y="4170972"/>
                <a:ext cx="8075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sz="3200" b="1" dirty="0">
                    <a:solidFill>
                      <a:schemeClr val="bg1"/>
                    </a:solidFill>
                  </a:rPr>
                  <a:t>= 1</a:t>
                </a:r>
              </a:p>
            </p:txBody>
          </p:sp>
        </p:grpSp>
      </p:grp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0A8B09CF-D445-876C-310F-0C17564D68C1}"/>
              </a:ext>
            </a:extLst>
          </p:cNvPr>
          <p:cNvCxnSpPr>
            <a:cxnSpLocks/>
          </p:cNvCxnSpPr>
          <p:nvPr/>
        </p:nvCxnSpPr>
        <p:spPr>
          <a:xfrm>
            <a:off x="238529" y="3497536"/>
            <a:ext cx="866694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2" name="TextBox 1081">
            <a:extLst>
              <a:ext uri="{FF2B5EF4-FFF2-40B4-BE49-F238E27FC236}">
                <a16:creationId xmlns:a16="http://schemas.microsoft.com/office/drawing/2014/main" id="{08D4F5D7-908F-EF04-CEA1-1F86EDF9B175}"/>
              </a:ext>
            </a:extLst>
          </p:cNvPr>
          <p:cNvSpPr txBox="1"/>
          <p:nvPr/>
        </p:nvSpPr>
        <p:spPr>
          <a:xfrm>
            <a:off x="6754549" y="4133810"/>
            <a:ext cx="77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3200" dirty="0">
                <a:solidFill>
                  <a:schemeClr val="bg1"/>
                </a:solidFill>
              </a:rPr>
              <a:t>= 2</a:t>
            </a:r>
          </a:p>
        </p:txBody>
      </p:sp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508820FA-B582-6DE4-EDFD-4541B0671A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798" y="1442462"/>
            <a:ext cx="455998" cy="592191"/>
          </a:xfrm>
          <a:prstGeom prst="rect">
            <a:avLst/>
          </a:prstGeom>
        </p:spPr>
      </p:pic>
      <p:pic>
        <p:nvPicPr>
          <p:cNvPr id="13" name="Picture 12" descr="Shape&#10;&#10;Description automatically generated">
            <a:extLst>
              <a:ext uri="{FF2B5EF4-FFF2-40B4-BE49-F238E27FC236}">
                <a16:creationId xmlns:a16="http://schemas.microsoft.com/office/drawing/2014/main" id="{435B299A-8EF7-191C-AB7C-D1D0E993DF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19" y="1396824"/>
            <a:ext cx="455998" cy="59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3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A3AA-CBD2-468C-5C14-1FF944AA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399" y="75431"/>
            <a:ext cx="5355203" cy="856800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European case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31C2EB-FD81-DBEF-5323-28C15E89A2E6}"/>
              </a:ext>
            </a:extLst>
          </p:cNvPr>
          <p:cNvSpPr txBox="1"/>
          <p:nvPr/>
        </p:nvSpPr>
        <p:spPr>
          <a:xfrm>
            <a:off x="213300" y="922865"/>
            <a:ext cx="501083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710 species: 81 amphibian, 378 birds, 156 mammal, 95 reptile species</a:t>
            </a:r>
          </a:p>
          <a:p>
            <a:endParaRPr lang="en-A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165,000+ planning units (grid cells)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Natura 2000 network, nationally designed protected areas, OECMs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Conservation benefit for a species = amount of threat-free habitat in conservation areas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A689F-A4FF-D767-04E1-110F9BC17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8001" y="1451598"/>
            <a:ext cx="3855497" cy="1610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7920B0-C16F-E198-D774-471498587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8001" y="3289163"/>
            <a:ext cx="3855497" cy="16101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9223B6-62D5-5CCF-DF2E-78A77FA01DAE}"/>
              </a:ext>
            </a:extLst>
          </p:cNvPr>
          <p:cNvSpPr txBox="1"/>
          <p:nvPr/>
        </p:nvSpPr>
        <p:spPr>
          <a:xfrm>
            <a:off x="5851149" y="932231"/>
            <a:ext cx="248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1"/>
                </a:solidFill>
              </a:rPr>
              <a:t>Human pressure</a:t>
            </a:r>
          </a:p>
        </p:txBody>
      </p:sp>
    </p:spTree>
    <p:extLst>
      <p:ext uri="{BB962C8B-B14F-4D97-AF65-F5344CB8AC3E}">
        <p14:creationId xmlns:p14="http://schemas.microsoft.com/office/powerpoint/2010/main" val="1997665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A3AA-CBD2-468C-5C14-1FF944AA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275" y="70749"/>
            <a:ext cx="5641451" cy="856800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Threats to biodiversity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652F0-0A13-FC23-BC96-7E13E1AC7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582" y="995592"/>
            <a:ext cx="8868837" cy="364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58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38D9-2664-17BB-086F-51FC65A42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C166-FEFE-F442-0864-483EE76D4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275" y="70749"/>
            <a:ext cx="5641451" cy="856800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Threats to biodiversity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D4142A-F610-70FA-D234-68AC0A645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582" y="995592"/>
            <a:ext cx="8868837" cy="3640445"/>
          </a:xfrm>
          <a:prstGeom prst="rect">
            <a:avLst/>
          </a:prstGeom>
        </p:spPr>
      </p:pic>
      <p:sp>
        <p:nvSpPr>
          <p:cNvPr id="3" name="&quot;Not Allowed&quot; Symbol 2">
            <a:extLst>
              <a:ext uri="{FF2B5EF4-FFF2-40B4-BE49-F238E27FC236}">
                <a16:creationId xmlns:a16="http://schemas.microsoft.com/office/drawing/2014/main" id="{1AA7FA74-2252-B475-A397-246B82B8EF46}"/>
              </a:ext>
            </a:extLst>
          </p:cNvPr>
          <p:cNvSpPr/>
          <p:nvPr/>
        </p:nvSpPr>
        <p:spPr>
          <a:xfrm>
            <a:off x="853856" y="1341676"/>
            <a:ext cx="954623" cy="742364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&quot;Not Allowed&quot; Symbol 6">
            <a:extLst>
              <a:ext uri="{FF2B5EF4-FFF2-40B4-BE49-F238E27FC236}">
                <a16:creationId xmlns:a16="http://schemas.microsoft.com/office/drawing/2014/main" id="{98232E9B-AED4-65AD-2970-B115D64750E9}"/>
              </a:ext>
            </a:extLst>
          </p:cNvPr>
          <p:cNvSpPr/>
          <p:nvPr/>
        </p:nvSpPr>
        <p:spPr>
          <a:xfrm>
            <a:off x="2985424" y="1341676"/>
            <a:ext cx="954623" cy="742364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4DD9E830-DD4B-C2AD-F6C6-31CAC9CCBE0C}"/>
              </a:ext>
            </a:extLst>
          </p:cNvPr>
          <p:cNvSpPr/>
          <p:nvPr/>
        </p:nvSpPr>
        <p:spPr>
          <a:xfrm>
            <a:off x="5202336" y="2571750"/>
            <a:ext cx="954623" cy="742364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188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4B4E-82C8-2D5C-CAFB-D6B67174C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70"/>
            <a:ext cx="5638800" cy="794259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chemeClr val="bg1"/>
                </a:solidFill>
              </a:rPr>
              <a:t>Mapping consequences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ED4B5CF-E63E-E7A1-85A3-B0818BF3A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3216" y="162728"/>
            <a:ext cx="3330780" cy="109439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DFDCE2D-C6E5-C0FE-82A3-E360A455CCBD}"/>
              </a:ext>
            </a:extLst>
          </p:cNvPr>
          <p:cNvSpPr txBox="1"/>
          <p:nvPr/>
        </p:nvSpPr>
        <p:spPr>
          <a:xfrm>
            <a:off x="6043790" y="162728"/>
            <a:ext cx="250525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Protect existing habitat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D6A4270-8E63-0572-C4C8-8C56970A4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1301" y="1426374"/>
            <a:ext cx="3330783" cy="109439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6B6A36E-9473-6F6F-F9F4-124842AEF0B6}"/>
              </a:ext>
            </a:extLst>
          </p:cNvPr>
          <p:cNvSpPr txBox="1"/>
          <p:nvPr/>
        </p:nvSpPr>
        <p:spPr>
          <a:xfrm>
            <a:off x="5951312" y="1426374"/>
            <a:ext cx="277706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ysClr val="windowText" lastClr="000000"/>
                </a:solidFill>
              </a:rPr>
              <a:t>Restore urban areas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987F67A-F6D3-8614-23BC-C27F5AEAA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3216" y="2686075"/>
            <a:ext cx="3335527" cy="109595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E60BC55-EF2B-6FB2-751D-135B7AFFAA0C}"/>
              </a:ext>
            </a:extLst>
          </p:cNvPr>
          <p:cNvSpPr txBox="1"/>
          <p:nvPr/>
        </p:nvSpPr>
        <p:spPr>
          <a:xfrm>
            <a:off x="6046731" y="2686075"/>
            <a:ext cx="25072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ysClr val="windowText" lastClr="000000"/>
                </a:solidFill>
              </a:rPr>
              <a:t>Restore croplands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4BF1581-9B7A-8BB1-1860-04E5E0AE8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3216" y="3955226"/>
            <a:ext cx="3330783" cy="1094400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D076B3FB-137C-7208-134C-B1582F0ED1B4}"/>
              </a:ext>
            </a:extLst>
          </p:cNvPr>
          <p:cNvGrpSpPr/>
          <p:nvPr/>
        </p:nvGrpSpPr>
        <p:grpSpPr>
          <a:xfrm>
            <a:off x="93485" y="768869"/>
            <a:ext cx="1472665" cy="1261830"/>
            <a:chOff x="212020" y="768869"/>
            <a:chExt cx="1472665" cy="126183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E17769C-9A59-20AE-AE61-A3FB29665CC6}"/>
                </a:ext>
              </a:extLst>
            </p:cNvPr>
            <p:cNvGrpSpPr/>
            <p:nvPr/>
          </p:nvGrpSpPr>
          <p:grpSpPr>
            <a:xfrm>
              <a:off x="259372" y="1218908"/>
              <a:ext cx="841295" cy="811791"/>
              <a:chOff x="3657601" y="1268820"/>
              <a:chExt cx="986644" cy="917335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5F3D854-3CB4-93AD-71F2-FC30752C9A43}"/>
                  </a:ext>
                </a:extLst>
              </p:cNvPr>
              <p:cNvSpPr/>
              <p:nvPr/>
            </p:nvSpPr>
            <p:spPr>
              <a:xfrm>
                <a:off x="3657601" y="1268820"/>
                <a:ext cx="986644" cy="9173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51" name="Picture 2" descr="IUCN Red List - Wikipedia">
                <a:extLst>
                  <a:ext uri="{FF2B5EF4-FFF2-40B4-BE49-F238E27FC236}">
                    <a16:creationId xmlns:a16="http://schemas.microsoft.com/office/drawing/2014/main" id="{F221257D-BBF7-F8A6-4D9F-57683B91D4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6739" y="1268949"/>
                <a:ext cx="872603" cy="8114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1F69807-A462-8F0A-8762-427A8ABE557C}"/>
                </a:ext>
              </a:extLst>
            </p:cNvPr>
            <p:cNvSpPr txBox="1"/>
            <p:nvPr/>
          </p:nvSpPr>
          <p:spPr>
            <a:xfrm>
              <a:off x="212020" y="768869"/>
              <a:ext cx="1472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</a:rPr>
                <a:t>Species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B49B824-295B-716F-FB6C-DD9C8CD4B326}"/>
              </a:ext>
            </a:extLst>
          </p:cNvPr>
          <p:cNvGrpSpPr/>
          <p:nvPr/>
        </p:nvGrpSpPr>
        <p:grpSpPr>
          <a:xfrm>
            <a:off x="1125397" y="775015"/>
            <a:ext cx="1777571" cy="1303643"/>
            <a:chOff x="1243932" y="775015"/>
            <a:chExt cx="1777571" cy="130364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2BE960-B412-E62C-1D75-25E331A30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3932" y="1225810"/>
              <a:ext cx="1710584" cy="852848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A15532A-2F87-1D8D-B6AB-463548BF7222}"/>
                </a:ext>
              </a:extLst>
            </p:cNvPr>
            <p:cNvSpPr txBox="1"/>
            <p:nvPr/>
          </p:nvSpPr>
          <p:spPr>
            <a:xfrm>
              <a:off x="1548838" y="775015"/>
              <a:ext cx="1472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</a:rPr>
                <a:t>Elevation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47BC668-F07E-6CF4-E2E5-80A275BE440A}"/>
              </a:ext>
            </a:extLst>
          </p:cNvPr>
          <p:cNvGrpSpPr/>
          <p:nvPr/>
        </p:nvGrpSpPr>
        <p:grpSpPr>
          <a:xfrm>
            <a:off x="1572869" y="3351063"/>
            <a:ext cx="1876086" cy="1456659"/>
            <a:chOff x="1691404" y="3351063"/>
            <a:chExt cx="1876086" cy="145665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1CDC4A6-AD53-8E16-1E71-7636CDDE3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6764" y="4013462"/>
              <a:ext cx="1505366" cy="79426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1309B8-2968-7CBB-DA60-72EFEC090221}"/>
                </a:ext>
              </a:extLst>
            </p:cNvPr>
            <p:cNvSpPr txBox="1"/>
            <p:nvPr/>
          </p:nvSpPr>
          <p:spPr>
            <a:xfrm>
              <a:off x="1691404" y="3351063"/>
              <a:ext cx="1876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solidFill>
                    <a:schemeClr val="bg1"/>
                  </a:solidFill>
                </a:rPr>
                <a:t>Potential natural </a:t>
              </a:r>
            </a:p>
            <a:p>
              <a:pPr algn="ctr"/>
              <a:r>
                <a:rPr lang="en-AU" dirty="0">
                  <a:solidFill>
                    <a:schemeClr val="bg1"/>
                  </a:solidFill>
                </a:rPr>
                <a:t>vegetation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5788F57-FA34-0866-FE49-B54CFE7DE30A}"/>
              </a:ext>
            </a:extLst>
          </p:cNvPr>
          <p:cNvGrpSpPr/>
          <p:nvPr/>
        </p:nvGrpSpPr>
        <p:grpSpPr>
          <a:xfrm>
            <a:off x="-118535" y="3367131"/>
            <a:ext cx="2075546" cy="1424207"/>
            <a:chOff x="0" y="3367131"/>
            <a:chExt cx="2075546" cy="14242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D4C83E-1A55-98B9-1380-9C35038B5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563" y="3997079"/>
              <a:ext cx="1505365" cy="794259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BE840A-F00C-59E3-36DF-F5FA4C273670}"/>
                </a:ext>
              </a:extLst>
            </p:cNvPr>
            <p:cNvSpPr txBox="1"/>
            <p:nvPr/>
          </p:nvSpPr>
          <p:spPr>
            <a:xfrm>
              <a:off x="0" y="3367131"/>
              <a:ext cx="20755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>
                  <a:solidFill>
                    <a:schemeClr val="bg1"/>
                  </a:solidFill>
                </a:rPr>
                <a:t>Current </a:t>
              </a:r>
            </a:p>
            <a:p>
              <a:pPr algn="ctr"/>
              <a:r>
                <a:rPr lang="en-AU" dirty="0">
                  <a:solidFill>
                    <a:schemeClr val="bg1"/>
                  </a:solidFill>
                </a:rPr>
                <a:t>land cover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5BDF724-0A51-6DB7-2945-FD65F7E7DFB8}"/>
              </a:ext>
            </a:extLst>
          </p:cNvPr>
          <p:cNvGrpSpPr/>
          <p:nvPr/>
        </p:nvGrpSpPr>
        <p:grpSpPr>
          <a:xfrm>
            <a:off x="105171" y="2071073"/>
            <a:ext cx="2999261" cy="1274645"/>
            <a:chOff x="223706" y="2071073"/>
            <a:chExt cx="2999261" cy="12746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A3CF024-0C41-5350-92F3-A6668DBCE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138" y="2471930"/>
              <a:ext cx="2128718" cy="873788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8644CA-8E0A-43D6-7245-D3DE1F113609}"/>
                </a:ext>
              </a:extLst>
            </p:cNvPr>
            <p:cNvSpPr txBox="1"/>
            <p:nvPr/>
          </p:nvSpPr>
          <p:spPr>
            <a:xfrm>
              <a:off x="223706" y="2071073"/>
              <a:ext cx="2999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</a:rPr>
                <a:t>Threats</a:t>
              </a:r>
            </a:p>
          </p:txBody>
        </p:sp>
      </p:grpSp>
      <p:sp>
        <p:nvSpPr>
          <p:cNvPr id="59" name="Left Brace 58">
            <a:extLst>
              <a:ext uri="{FF2B5EF4-FFF2-40B4-BE49-F238E27FC236}">
                <a16:creationId xmlns:a16="http://schemas.microsoft.com/office/drawing/2014/main" id="{D8D76FD8-8046-7674-94EB-D536C42177AE}"/>
              </a:ext>
            </a:extLst>
          </p:cNvPr>
          <p:cNvSpPr/>
          <p:nvPr/>
        </p:nvSpPr>
        <p:spPr>
          <a:xfrm rot="10800000">
            <a:off x="3206507" y="983011"/>
            <a:ext cx="442317" cy="3864309"/>
          </a:xfrm>
          <a:prstGeom prst="leftBrace">
            <a:avLst>
              <a:gd name="adj1" fmla="val 10599"/>
              <a:gd name="adj2" fmla="val 51021"/>
            </a:avLst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DCCE0B-C9FE-68F9-2A62-7A9C8AC4E594}"/>
              </a:ext>
            </a:extLst>
          </p:cNvPr>
          <p:cNvSpPr txBox="1"/>
          <p:nvPr/>
        </p:nvSpPr>
        <p:spPr>
          <a:xfrm>
            <a:off x="5878078" y="3955226"/>
            <a:ext cx="29235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ysClr val="windowText" lastClr="000000"/>
                </a:solidFill>
              </a:rPr>
              <a:t>Restore urban &amp; croplands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B3BB32-8DE1-344B-C6F9-490DB593B174}"/>
              </a:ext>
            </a:extLst>
          </p:cNvPr>
          <p:cNvSpPr txBox="1"/>
          <p:nvPr/>
        </p:nvSpPr>
        <p:spPr>
          <a:xfrm>
            <a:off x="3689326" y="2636515"/>
            <a:ext cx="1520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What if?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48A1D1B-2333-4FBC-B80F-26639DC28A70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5210245" y="818942"/>
            <a:ext cx="500767" cy="2079183"/>
          </a:xfrm>
          <a:prstGeom prst="line">
            <a:avLst/>
          </a:prstGeom>
          <a:ln w="57150">
            <a:solidFill>
              <a:schemeClr val="bg1"/>
            </a:solidFill>
            <a:prstDash val="sysDash"/>
            <a:headEnd w="lg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714225F-8D6B-49B1-1C10-E3782187610E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5210245" y="2145095"/>
            <a:ext cx="500767" cy="753030"/>
          </a:xfrm>
          <a:prstGeom prst="line">
            <a:avLst/>
          </a:prstGeom>
          <a:ln w="57150">
            <a:solidFill>
              <a:schemeClr val="bg1"/>
            </a:solidFill>
            <a:prstDash val="sysDash"/>
            <a:headEnd w="lg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824A200-C6D2-1C42-413C-98A5027BC0E4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5210245" y="2898125"/>
            <a:ext cx="428555" cy="273989"/>
          </a:xfrm>
          <a:prstGeom prst="line">
            <a:avLst/>
          </a:prstGeom>
          <a:ln w="57150">
            <a:solidFill>
              <a:schemeClr val="bg1"/>
            </a:solidFill>
            <a:prstDash val="sysDash"/>
            <a:headEnd w="lg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6FB1185-F501-0542-5E48-1AB10452D039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5210245" y="2898125"/>
            <a:ext cx="500767" cy="1426433"/>
          </a:xfrm>
          <a:prstGeom prst="line">
            <a:avLst/>
          </a:prstGeom>
          <a:ln w="57150">
            <a:solidFill>
              <a:schemeClr val="bg1"/>
            </a:solidFill>
            <a:prstDash val="sysDash"/>
            <a:headEnd w="lg" len="sm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B33C26B-F9F0-0B08-9D69-A55F20A96CCC}"/>
              </a:ext>
            </a:extLst>
          </p:cNvPr>
          <p:cNvSpPr txBox="1"/>
          <p:nvPr/>
        </p:nvSpPr>
        <p:spPr>
          <a:xfrm>
            <a:off x="3873427" y="818942"/>
            <a:ext cx="1448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Horned Grebe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19FA25F-5BD0-B57A-A28E-0A1A792CD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6" t="12127" r="8827" b="39500"/>
          <a:stretch/>
        </p:blipFill>
        <p:spPr bwMode="auto">
          <a:xfrm>
            <a:off x="3706341" y="1136907"/>
            <a:ext cx="1502946" cy="1022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127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FBDF-75FD-8A61-0982-5EA6C044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91" y="76113"/>
            <a:ext cx="4604809" cy="885689"/>
          </a:xfrm>
        </p:spPr>
        <p:txBody>
          <a:bodyPr/>
          <a:lstStyle/>
          <a:p>
            <a:pPr algn="ctr"/>
            <a:r>
              <a:rPr lang="en-AU" sz="3200" dirty="0">
                <a:solidFill>
                  <a:schemeClr val="bg1"/>
                </a:solidFill>
              </a:rPr>
              <a:t>Performance of existing protected areas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3564A-814A-02AE-67D7-B22B0154E12F}"/>
              </a:ext>
            </a:extLst>
          </p:cNvPr>
          <p:cNvSpPr txBox="1"/>
          <p:nvPr/>
        </p:nvSpPr>
        <p:spPr>
          <a:xfrm>
            <a:off x="115503" y="1109055"/>
            <a:ext cx="43243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bg1"/>
                </a:solidFill>
              </a:rPr>
              <a:t>Only 4 / 710 species with adequate threat-free habitat within protected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bg1"/>
                </a:solidFill>
              </a:rPr>
              <a:t>Only 1 / 74 imperilled species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bg1"/>
                </a:solidFill>
              </a:rPr>
              <a:t>Much worse than previous assessments which don’t account for threats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96F9AC-3965-8DF8-5A19-D53577100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752" y="518957"/>
            <a:ext cx="432435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58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FBDF-75FD-8A61-0982-5EA6C044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1" y="82463"/>
            <a:ext cx="9094259" cy="520787"/>
          </a:xfrm>
        </p:spPr>
        <p:txBody>
          <a:bodyPr/>
          <a:lstStyle/>
          <a:p>
            <a:pPr algn="ctr"/>
            <a:r>
              <a:rPr lang="en-AU" sz="2800" dirty="0">
                <a:solidFill>
                  <a:schemeClr val="bg1"/>
                </a:solidFill>
              </a:rPr>
              <a:t>Establishing protected areas to cover 30% of Europe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3564A-814A-02AE-67D7-B22B0154E12F}"/>
              </a:ext>
            </a:extLst>
          </p:cNvPr>
          <p:cNvSpPr txBox="1"/>
          <p:nvPr/>
        </p:nvSpPr>
        <p:spPr>
          <a:xfrm>
            <a:off x="1148163" y="4054472"/>
            <a:ext cx="7049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1"/>
                </a:solidFill>
              </a:rPr>
              <a:t> Improves from 4 / 710 to 27 / 710 species with adequate threat-free habitat within protected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BC8EC8-159B-5215-0099-B113D9AF09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9" r="2709"/>
          <a:stretch/>
        </p:blipFill>
        <p:spPr>
          <a:xfrm>
            <a:off x="1652639" y="800100"/>
            <a:ext cx="5926305" cy="3130550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247717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FBDF-75FD-8A61-0982-5EA6C044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95" y="114214"/>
            <a:ext cx="8795809" cy="510262"/>
          </a:xfrm>
        </p:spPr>
        <p:txBody>
          <a:bodyPr/>
          <a:lstStyle/>
          <a:p>
            <a:pPr algn="ctr"/>
            <a:r>
              <a:rPr lang="en-AU" sz="3200" dirty="0">
                <a:solidFill>
                  <a:schemeClr val="bg1"/>
                </a:solidFill>
              </a:rPr>
              <a:t>Managing threats within existing protected areas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3564A-814A-02AE-67D7-B22B0154E12F}"/>
              </a:ext>
            </a:extLst>
          </p:cNvPr>
          <p:cNvSpPr txBox="1"/>
          <p:nvPr/>
        </p:nvSpPr>
        <p:spPr>
          <a:xfrm>
            <a:off x="614435" y="4267201"/>
            <a:ext cx="791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1"/>
                </a:solidFill>
              </a:rPr>
              <a:t>Bigger improvement from 4 / 710 to 113 / 710 species with adequate threat-free habitat within protected areas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2FF234-F8E2-B65B-9B47-F5CA6C97D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787399"/>
            <a:ext cx="5417059" cy="343924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899938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4B4E-82C8-2D5C-CAFB-D6B67174C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78057"/>
            <a:ext cx="8610600" cy="518843"/>
          </a:xfrm>
        </p:spPr>
        <p:txBody>
          <a:bodyPr/>
          <a:lstStyle/>
          <a:p>
            <a:pPr algn="ctr"/>
            <a:r>
              <a:rPr lang="en-AU" sz="2800" dirty="0">
                <a:solidFill>
                  <a:schemeClr val="bg1"/>
                </a:solidFill>
              </a:rPr>
              <a:t>Prioritizing threat management across 30% of Europe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24692-C5B1-AFFB-F0E2-14D03DA84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50" y="829733"/>
            <a:ext cx="6000750" cy="3354422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8A839E-043B-5FE3-49DC-98BC5D11FCF3}"/>
              </a:ext>
            </a:extLst>
          </p:cNvPr>
          <p:cNvSpPr txBox="1"/>
          <p:nvPr/>
        </p:nvSpPr>
        <p:spPr>
          <a:xfrm>
            <a:off x="614435" y="4267201"/>
            <a:ext cx="7915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1"/>
                </a:solidFill>
              </a:rPr>
              <a:t>Massive improvement from 4 / 710 to 178 / 710 species with adequate threat-free habitat within protected areas</a:t>
            </a:r>
          </a:p>
        </p:txBody>
      </p:sp>
    </p:spTree>
    <p:extLst>
      <p:ext uri="{BB962C8B-B14F-4D97-AF65-F5344CB8AC3E}">
        <p14:creationId xmlns:p14="http://schemas.microsoft.com/office/powerpoint/2010/main" val="586283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8A839E-043B-5FE3-49DC-98BC5D11FCF3}"/>
              </a:ext>
            </a:extLst>
          </p:cNvPr>
          <p:cNvSpPr txBox="1"/>
          <p:nvPr/>
        </p:nvSpPr>
        <p:spPr>
          <a:xfrm>
            <a:off x="660916" y="4368801"/>
            <a:ext cx="7915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Most management focussed on </a:t>
            </a:r>
            <a:r>
              <a:rPr lang="en-US" dirty="0">
                <a:solidFill>
                  <a:schemeClr val="bg1"/>
                </a:solidFill>
              </a:rPr>
              <a:t>livestock farming and ranching, hunting and collecting terrestrial animals, and annual and perennial non-timber crops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119568-2D4D-92F3-9553-8ABAC8B4E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350" y="829733"/>
            <a:ext cx="5414263" cy="343746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D4D288C-DC0C-38DF-369C-9313BDC2D8D8}"/>
              </a:ext>
            </a:extLst>
          </p:cNvPr>
          <p:cNvSpPr txBox="1">
            <a:spLocks/>
          </p:cNvSpPr>
          <p:nvPr/>
        </p:nvSpPr>
        <p:spPr>
          <a:xfrm>
            <a:off x="266700" y="78057"/>
            <a:ext cx="8610600" cy="518843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2800">
                <a:solidFill>
                  <a:schemeClr val="bg1"/>
                </a:solidFill>
              </a:rPr>
              <a:t>Prioritizing threat management across 30% of Europe</a:t>
            </a:r>
            <a:endParaRPr lang="en-A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622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9CBA73-BD3A-F83A-3E76-67FEA601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10" y="139700"/>
            <a:ext cx="4285890" cy="977900"/>
          </a:xfrm>
        </p:spPr>
        <p:txBody>
          <a:bodyPr/>
          <a:lstStyle/>
          <a:p>
            <a:pPr algn="ctr"/>
            <a:r>
              <a:rPr lang="en-NZ" sz="3200" dirty="0">
                <a:solidFill>
                  <a:schemeClr val="bg1"/>
                </a:solidFill>
              </a:rPr>
              <a:t>Restoration through threat management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A10E1-F6E8-D93C-CC25-0CA0F152C1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7" r="10018"/>
          <a:stretch/>
        </p:blipFill>
        <p:spPr>
          <a:xfrm>
            <a:off x="4838700" y="133350"/>
            <a:ext cx="4114800" cy="4876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09B337-54CF-62F7-7397-06F6F30AE44D}"/>
              </a:ext>
            </a:extLst>
          </p:cNvPr>
          <p:cNvSpPr txBox="1"/>
          <p:nvPr/>
        </p:nvSpPr>
        <p:spPr>
          <a:xfrm>
            <a:off x="63500" y="1224498"/>
            <a:ext cx="45085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Most of the priority areas that involved habitat restoration focussed on providing forest and shrubland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69% of priority areas involved restoring habitat within existing protected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bg1"/>
                </a:solidFill>
              </a:rPr>
              <a:t>30% of priority areas involved restoring habitat within new protected areas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C95F50-B076-C968-7889-40FBB801FE73}"/>
              </a:ext>
            </a:extLst>
          </p:cNvPr>
          <p:cNvSpPr txBox="1"/>
          <p:nvPr/>
        </p:nvSpPr>
        <p:spPr>
          <a:xfrm>
            <a:off x="4889500" y="203200"/>
            <a:ext cx="250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Habitats restored within priority areas</a:t>
            </a:r>
          </a:p>
        </p:txBody>
      </p:sp>
    </p:spTree>
    <p:extLst>
      <p:ext uri="{BB962C8B-B14F-4D97-AF65-F5344CB8AC3E}">
        <p14:creationId xmlns:p14="http://schemas.microsoft.com/office/powerpoint/2010/main" val="1574555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8C60-CE3F-7EDF-F992-DF68ADC7F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80" y="0"/>
            <a:ext cx="8229240" cy="856800"/>
          </a:xfrm>
        </p:spPr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Take home messages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56CA-D69C-D1F8-D8BC-9BEEF375AD3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3250" y="856800"/>
            <a:ext cx="8147050" cy="4058100"/>
          </a:xfrm>
        </p:spPr>
        <p:txBody>
          <a:bodyPr/>
          <a:lstStyle/>
          <a:p>
            <a:pPr algn="ctr"/>
            <a:r>
              <a:rPr lang="en-AU" sz="2400" dirty="0">
                <a:solidFill>
                  <a:schemeClr val="bg1"/>
                </a:solidFill>
              </a:rPr>
              <a:t>Most EU species don’t have adequate habitat in protected areas that is free from threats</a:t>
            </a:r>
          </a:p>
          <a:p>
            <a:pPr algn="ctr"/>
            <a:endParaRPr lang="en-AU" sz="2400" dirty="0">
              <a:solidFill>
                <a:schemeClr val="bg1"/>
              </a:solidFill>
            </a:endParaRPr>
          </a:p>
          <a:p>
            <a:pPr algn="ctr"/>
            <a:r>
              <a:rPr lang="en-AU" sz="2400" dirty="0">
                <a:solidFill>
                  <a:schemeClr val="bg1"/>
                </a:solidFill>
              </a:rPr>
              <a:t>Improving management of existing protected areas is necessary, but insufficient, for many species</a:t>
            </a:r>
          </a:p>
          <a:p>
            <a:pPr algn="ctr"/>
            <a:endParaRPr lang="en-AU" sz="2400" dirty="0">
              <a:solidFill>
                <a:schemeClr val="bg1"/>
              </a:solidFill>
            </a:endParaRPr>
          </a:p>
          <a:p>
            <a:pPr algn="ctr"/>
            <a:r>
              <a:rPr lang="en-AU" sz="2400" dirty="0">
                <a:solidFill>
                  <a:schemeClr val="bg1"/>
                </a:solidFill>
              </a:rPr>
              <a:t>Strategically managing threats both within and beyond existing protected areas is needed</a:t>
            </a:r>
            <a:br>
              <a:rPr lang="en-AU" sz="2400" dirty="0">
                <a:solidFill>
                  <a:schemeClr val="bg1"/>
                </a:solidFill>
              </a:rPr>
            </a:br>
            <a:endParaRPr lang="en-AU" sz="2400" dirty="0">
              <a:solidFill>
                <a:schemeClr val="bg1"/>
              </a:solidFill>
            </a:endParaRPr>
          </a:p>
          <a:p>
            <a:pPr algn="ctr"/>
            <a:r>
              <a:rPr lang="en-AU" sz="2400" b="1" dirty="0">
                <a:solidFill>
                  <a:schemeClr val="bg1"/>
                </a:solidFill>
              </a:rPr>
              <a:t>Conservation is actions in places:</a:t>
            </a:r>
          </a:p>
          <a:p>
            <a:pPr algn="ctr"/>
            <a:r>
              <a:rPr lang="en-AU" sz="2400" b="1" dirty="0">
                <a:solidFill>
                  <a:schemeClr val="bg1"/>
                </a:solidFill>
              </a:rPr>
              <a:t>you need to think about both!</a:t>
            </a:r>
          </a:p>
        </p:txBody>
      </p:sp>
    </p:spTree>
    <p:extLst>
      <p:ext uri="{BB962C8B-B14F-4D97-AF65-F5344CB8AC3E}">
        <p14:creationId xmlns:p14="http://schemas.microsoft.com/office/powerpoint/2010/main" val="3053786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6" name="Picture 2"/>
          <p:cNvPicPr/>
          <p:nvPr/>
        </p:nvPicPr>
        <p:blipFill>
          <a:blip r:embed="rId2"/>
          <a:stretch/>
        </p:blipFill>
        <p:spPr>
          <a:xfrm>
            <a:off x="-36360" y="-748080"/>
            <a:ext cx="10236600" cy="6397920"/>
          </a:xfrm>
          <a:prstGeom prst="rect">
            <a:avLst/>
          </a:prstGeom>
          <a:ln>
            <a:noFill/>
          </a:ln>
        </p:spPr>
      </p:pic>
      <p:pic>
        <p:nvPicPr>
          <p:cNvPr id="1747" name="Picture 2"/>
          <p:cNvPicPr/>
          <p:nvPr/>
        </p:nvPicPr>
        <p:blipFill>
          <a:blip r:embed="rId3"/>
          <a:stretch/>
        </p:blipFill>
        <p:spPr>
          <a:xfrm>
            <a:off x="217080" y="87480"/>
            <a:ext cx="682200" cy="584640"/>
          </a:xfrm>
          <a:prstGeom prst="rect">
            <a:avLst/>
          </a:prstGeom>
          <a:ln>
            <a:noFill/>
          </a:ln>
        </p:spPr>
      </p:pic>
      <p:sp>
        <p:nvSpPr>
          <p:cNvPr id="1748" name="CustomShape 1"/>
          <p:cNvSpPr/>
          <p:nvPr/>
        </p:nvSpPr>
        <p:spPr>
          <a:xfrm>
            <a:off x="1114920" y="160560"/>
            <a:ext cx="525744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jeffrey.hanson@uqconnect.edu.au</a:t>
            </a:r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749" name="Picture 4"/>
          <p:cNvPicPr/>
          <p:nvPr/>
        </p:nvPicPr>
        <p:blipFill>
          <a:blip r:embed="rId4"/>
          <a:stretch/>
        </p:blipFill>
        <p:spPr>
          <a:xfrm>
            <a:off x="217080" y="1527120"/>
            <a:ext cx="692640" cy="519480"/>
          </a:xfrm>
          <a:prstGeom prst="rect">
            <a:avLst/>
          </a:prstGeom>
          <a:ln>
            <a:noFill/>
          </a:ln>
        </p:spPr>
      </p:pic>
      <p:sp>
        <p:nvSpPr>
          <p:cNvPr id="1750" name="CustomShape 2"/>
          <p:cNvSpPr/>
          <p:nvPr/>
        </p:nvSpPr>
        <p:spPr>
          <a:xfrm>
            <a:off x="1109520" y="1567800"/>
            <a:ext cx="302652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jeffrey-hanson.com</a:t>
            </a:r>
            <a:endParaRPr lang="en-US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751" name="Picture 3"/>
          <p:cNvPicPr/>
          <p:nvPr/>
        </p:nvPicPr>
        <p:blipFill>
          <a:blip r:embed="rId5"/>
          <a:stretch/>
        </p:blipFill>
        <p:spPr>
          <a:xfrm>
            <a:off x="217080" y="804960"/>
            <a:ext cx="791640" cy="593640"/>
          </a:xfrm>
          <a:prstGeom prst="rect">
            <a:avLst/>
          </a:prstGeom>
          <a:ln>
            <a:noFill/>
          </a:ln>
        </p:spPr>
      </p:pic>
      <p:sp>
        <p:nvSpPr>
          <p:cNvPr id="1752" name="CustomShape 3"/>
          <p:cNvSpPr/>
          <p:nvPr/>
        </p:nvSpPr>
        <p:spPr>
          <a:xfrm>
            <a:off x="1160640" y="882720"/>
            <a:ext cx="402624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github.com/jeffreyhanson</a:t>
            </a:r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10005</TotalTime>
  <Words>506</Words>
  <Application>Microsoft Office PowerPoint</Application>
  <PresentationFormat>On-screen Show (16:9)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-apple-system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Presentation</vt:lpstr>
      <vt:lpstr>Conservation is actions in places</vt:lpstr>
      <vt:lpstr>Which threats to manage, and where?</vt:lpstr>
      <vt:lpstr>Which threats to manage, and where?</vt:lpstr>
      <vt:lpstr>Which threats to manage, and where?</vt:lpstr>
      <vt:lpstr>Which threats to manage, and where?</vt:lpstr>
      <vt:lpstr>Ensure each species has enough of “threat free” habitat</vt:lpstr>
      <vt:lpstr>European case study</vt:lpstr>
      <vt:lpstr>Threats to biodiversity</vt:lpstr>
      <vt:lpstr>Threats to biodiversity</vt:lpstr>
      <vt:lpstr>Mapping consequences</vt:lpstr>
      <vt:lpstr>Performance of existing protected areas</vt:lpstr>
      <vt:lpstr>Establishing protected areas to cover 30% of Europe</vt:lpstr>
      <vt:lpstr>Managing threats within existing protected areas</vt:lpstr>
      <vt:lpstr>Prioritizing threat management across 30% of Europe</vt:lpstr>
      <vt:lpstr>PowerPoint Presentation</vt:lpstr>
      <vt:lpstr>Restoration through threat management </vt:lpstr>
      <vt:lpstr>Take home messages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Conserving evolutionary processes</dc:title>
  <dc:subject/>
  <dc:creator>Jeff Hanson Local Admin</dc:creator>
  <dc:description/>
  <cp:lastModifiedBy>Johanna</cp:lastModifiedBy>
  <cp:revision>1879</cp:revision>
  <dcterms:created xsi:type="dcterms:W3CDTF">2006-08-16T00:00:00Z</dcterms:created>
  <dcterms:modified xsi:type="dcterms:W3CDTF">2025-06-13T09:47:25Z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6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68</vt:i4>
  </property>
  <property fmtid="{D5CDD505-2E9C-101B-9397-08002B2CF9AE}" pid="12" name="MSIP_Label_bd9e4d68-54d0-40a5-8c9a-85a36c87352c_Enabled">
    <vt:lpwstr>true</vt:lpwstr>
  </property>
  <property fmtid="{D5CDD505-2E9C-101B-9397-08002B2CF9AE}" pid="13" name="MSIP_Label_bd9e4d68-54d0-40a5-8c9a-85a36c87352c_SetDate">
    <vt:lpwstr>2022-04-10T09:06:59Z</vt:lpwstr>
  </property>
  <property fmtid="{D5CDD505-2E9C-101B-9397-08002B2CF9AE}" pid="14" name="MSIP_Label_bd9e4d68-54d0-40a5-8c9a-85a36c87352c_Method">
    <vt:lpwstr>Privileged</vt:lpwstr>
  </property>
  <property fmtid="{D5CDD505-2E9C-101B-9397-08002B2CF9AE}" pid="15" name="MSIP_Label_bd9e4d68-54d0-40a5-8c9a-85a36c87352c_Name">
    <vt:lpwstr>Unclassified</vt:lpwstr>
  </property>
  <property fmtid="{D5CDD505-2E9C-101B-9397-08002B2CF9AE}" pid="16" name="MSIP_Label_bd9e4d68-54d0-40a5-8c9a-85a36c87352c_SiteId">
    <vt:lpwstr>388728e1-bbd0-4378-98dc-f8682e644300</vt:lpwstr>
  </property>
  <property fmtid="{D5CDD505-2E9C-101B-9397-08002B2CF9AE}" pid="17" name="MSIP_Label_bd9e4d68-54d0-40a5-8c9a-85a36c87352c_ActionId">
    <vt:lpwstr>07725eff-5995-4054-bcae-f373cb8b6b8b</vt:lpwstr>
  </property>
  <property fmtid="{D5CDD505-2E9C-101B-9397-08002B2CF9AE}" pid="18" name="MSIP_Label_bd9e4d68-54d0-40a5-8c9a-85a36c87352c_ContentBits">
    <vt:lpwstr>0</vt:lpwstr>
  </property>
</Properties>
</file>